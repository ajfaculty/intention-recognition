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7" r:id="rId2"/>
    <p:sldId id="578" r:id="rId3"/>
    <p:sldId id="354" r:id="rId4"/>
    <p:sldId id="555" r:id="rId5"/>
    <p:sldId id="558" r:id="rId6"/>
    <p:sldId id="582" r:id="rId8"/>
    <p:sldId id="561" r:id="rId10"/>
    <p:sldId id="583" r:id="rId11"/>
    <p:sldId id="585" r:id="rId13"/>
    <p:sldId id="592" r:id="rId14"/>
    <p:sldId id="584" r:id="rId15"/>
    <p:sldId id="593" r:id="rId16"/>
    <p:sldId id="594" r:id="rId17"/>
    <p:sldId id="588" r:id="rId18"/>
    <p:sldId id="5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FBEE616-86D3-4099-A968-B4A6BDE18D0F}">
          <p14:sldIdLst>
            <p14:sldId id="257"/>
            <p14:sldId id="578"/>
            <p14:sldId id="354"/>
            <p14:sldId id="555"/>
            <p14:sldId id="558"/>
            <p14:sldId id="573"/>
            <p14:sldId id="582"/>
            <p14:sldId id="562"/>
            <p14:sldId id="561"/>
            <p14:sldId id="583"/>
            <p14:sldId id="590"/>
            <p14:sldId id="585"/>
            <p14:sldId id="592"/>
            <p14:sldId id="584"/>
            <p14:sldId id="593"/>
            <p14:sldId id="594"/>
            <p14:sldId id="588"/>
            <p14:sldId id="569"/>
            <p14:sldId id="591"/>
          </p14:sldIdLst>
        </p14:section>
        <p14:section name="Untitled Section" id="{D22B2DA1-3DFA-46D2-BA1D-DAD7CC7F72F2}">
          <p14:sldIdLst/>
        </p14:section>
        <p14:section name="Untitled Section" id="{5930E777-D3D8-4E75-983C-AF214C42B144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9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3DF9433-C4BD-03CD-4185-8F7C4220F16F}" name="Owusu Agyeman Antwi" initials="OA" userId="0c4d93facfc3ac5c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F9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673" autoAdjust="0"/>
    <p:restoredTop sz="95179" autoAdjust="0"/>
  </p:normalViewPr>
  <p:slideViewPr>
    <p:cSldViewPr snapToGrid="0">
      <p:cViewPr>
        <p:scale>
          <a:sx n="80" d="100"/>
          <a:sy n="80" d="100"/>
        </p:scale>
        <p:origin x="1075" y="168"/>
      </p:cViewPr>
      <p:guideLst>
        <p:guide orient="horz" pos="2199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5482A5-FD59-4225-A350-DA787E19AAD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0E7C8E-9966-49AA-A950-642A59F8B08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E7C8E-9966-49AA-A950-642A59F8B087}" type="slidenum">
              <a:rPr lang="en-US" smtClean="0"/>
              <a:t>1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D334C30-18F6-499E-B529-FBBBA5BA8601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6EBCE5-9DE5-46EE-9318-4795EB416EE9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/>
          </p:nvPr>
        </p:nvSpPr>
        <p:spPr>
          <a:xfrm>
            <a:off x="1712913" y="3832225"/>
            <a:ext cx="9186862" cy="17986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365C8B60-5CF0-444C-8758-FD6AA4E3BF27}" type="datetime1">
              <a:rPr lang="en-GB" smtClean="0"/>
              <a:t>15/09/2026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....Linking Learners Everywhere 2013 All Rights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DF291AF-424A-45FD-966C-A7A9D7595FC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CC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2334533"/>
            <a:ext cx="3309258" cy="318702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Rectangle 9"/>
          <p:cNvSpPr/>
          <p:nvPr userDrawn="1"/>
        </p:nvSpPr>
        <p:spPr>
          <a:xfrm>
            <a:off x="0" y="0"/>
            <a:ext cx="12192000" cy="6176963"/>
          </a:xfrm>
          <a:prstGeom prst="rect">
            <a:avLst/>
          </a:prstGeom>
          <a:solidFill>
            <a:srgbClr val="FFFFCC">
              <a:alpha val="8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0" y="0"/>
            <a:ext cx="9144000" cy="185738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9144000" y="0"/>
            <a:ext cx="3048000" cy="185738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0" y="6176963"/>
            <a:ext cx="12192000" cy="68103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8210550" y="6176963"/>
            <a:ext cx="3981450" cy="68490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5573486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573486" y="0"/>
            <a:ext cx="348343" cy="6858001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921829" y="1"/>
            <a:ext cx="6270171" cy="685799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 sz="1400" b="1"/>
            </a:pPr>
            <a:r>
              <a:t>FACULTY OF ENGINEERING</a:t>
            </a:r>
            <a:br/>
            <a:r>
              <a:t>DEPARTMENT OF COMPUTER ENGINEERING</a:t>
            </a:r>
          </a:p>
          <a:p>
            <a:br/>
            <a:pPr>
              <a:defRPr sz="1800" b="1"/>
            </a:pPr>
            <a:r>
              <a:t>DEVELOPMENT AND IMPLEMENTATION OF A ROBOTIC APPLICATION FOR HUMAN INTENTION RECOGNITION USING MOTION AND HAND GESTURE</a:t>
            </a:r>
          </a:p>
          <a:p>
            <a:br/>
            <a:pPr>
              <a:defRPr sz="1200" i="1"/>
            </a:pPr>
            <a:r>
              <a:t>A Final Project Report Submitted in Partial Fulfillment of the Requirements for the Degree of BSc. Computer Engineering</a:t>
            </a:r>
          </a:p>
          <a:p>
            <a:br/>
            <a:pPr>
              <a:defRPr sz="1200" b="1"/>
            </a:pPr>
            <a:r>
              <a:t>PRESENTED BY:</a:t>
            </a:r>
            <a:br/>
            <a:r>
              <a:t>ELEANA OSEI OWUSU — 4121230024</a:t>
            </a:r>
            <a:br/>
            <a:r>
              <a:t>JOEL NII ADJETEY AHULU — 4121230020</a:t>
            </a:r>
            <a:br/>
            <a:br/>
            <a:r>
              <a:t>SUPERVISOR: MR. MICHEAL XENYA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21829" y="5943600"/>
            <a:ext cx="6008913" cy="575187"/>
          </a:xfrm>
        </p:spPr>
        <p:txBody>
          <a:bodyPr>
            <a:normAutofit fontScale="90000"/>
          </a:bodyPr>
          <a:lstStyle/>
          <a:p>
            <a:pPr lvl="0" fontAlgn="base">
              <a:lnSpc>
                <a:spcPct val="200000"/>
              </a:lnSpc>
              <a:spcBef>
                <a:spcPts val="0"/>
              </a:spcBef>
              <a:buClr>
                <a:srgbClr val="000000"/>
              </a:buClr>
              <a:buSzPts val="1100"/>
            </a:pPr>
            <a:b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</a:br>
            <a:b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</a:br>
            <a:b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</a:b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  </a:t>
            </a:r>
            <a:endParaRPr lang="en-US" sz="3200" b="1" dirty="0">
              <a:solidFill>
                <a:schemeClr val="tx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060" y="2658358"/>
            <a:ext cx="3995365" cy="362931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414" y="210215"/>
            <a:ext cx="584641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2060"/>
                </a:solidFill>
                <a:latin typeface="Gill Sans MT" panose="020B0502020104020203" pitchFamily="34" charset="0"/>
                <a:ea typeface="Tahoma" panose="020B0604030504040204" pitchFamily="34" charset="0"/>
                <a:cs typeface="Arial" panose="020B0604020202020204" pitchFamily="34" charset="0"/>
              </a:rPr>
              <a:t>GHANA COMMUNICATION TECHNOLOGY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ea typeface="Tahoma" panose="020B0604030504040204" pitchFamily="34" charset="0"/>
                <a:cs typeface="Tahoma" panose="020B0604030504040204" pitchFamily="34" charset="0"/>
                <a:sym typeface="+mn-ea"/>
              </a:rPr>
              <a:t>PRESENTATION OUTLINE</a:t>
            </a:r>
            <a:endParaRPr lang="en-US" dirty="0">
              <a:solidFill>
                <a:srgbClr val="FF0000"/>
              </a:solidFill>
              <a:latin typeface="+mn-lt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3616658"/>
              </p:ext>
            </p:extLst>
          </p:nvPr>
        </p:nvGraphicFramePr>
        <p:xfrm>
          <a:off x="717494" y="1267274"/>
          <a:ext cx="10636306" cy="6590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18153">
                  <a:extLst>
                    <a:ext uri="{9D8B030D-6E8A-4147-A177-3AD203B41FA5}">
                      <a16:colId xmlns:a16="http://schemas.microsoft.com/office/drawing/2014/main" val="468815543"/>
                    </a:ext>
                  </a:extLst>
                </a:gridCol>
                <a:gridCol w="5318153">
                  <a:extLst>
                    <a:ext uri="{9D8B030D-6E8A-4147-A177-3AD203B41FA5}">
                      <a16:colId xmlns:a16="http://schemas.microsoft.com/office/drawing/2014/main" val="2656849321"/>
                    </a:ext>
                  </a:extLst>
                </a:gridCol>
              </a:tblGrid>
              <a:tr h="4122021"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2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latin typeface="Gill Sans MT" panose="020B0502020104020203" pitchFamily="34" charset="0"/>
                        </a:rPr>
                        <a:t>Introduction </a:t>
                      </a:r>
                    </a:p>
                    <a:p>
                      <a:pPr marL="342900" indent="-342900">
                        <a:lnSpc>
                          <a:spcPct val="2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latin typeface="Gill Sans MT" panose="020B0502020104020203" pitchFamily="34" charset="0"/>
                        </a:rPr>
                        <a:t>Problem Statement </a:t>
                      </a:r>
                    </a:p>
                    <a:p>
                      <a:pPr marL="342900" indent="-342900">
                        <a:lnSpc>
                          <a:spcPct val="2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latin typeface="Gill Sans MT" panose="020B0502020104020203" pitchFamily="34" charset="0"/>
                        </a:rPr>
                        <a:t>Objectives of Study </a:t>
                      </a:r>
                    </a:p>
                    <a:p>
                      <a:pPr marL="342900" indent="-342900">
                        <a:lnSpc>
                          <a:spcPct val="2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latin typeface="Gill Sans MT" panose="020B0502020104020203" pitchFamily="34" charset="0"/>
                        </a:rPr>
                        <a:t>Significance of Study </a:t>
                      </a:r>
                    </a:p>
                    <a:p>
                      <a:pPr marL="342900" indent="-342900">
                        <a:lnSpc>
                          <a:spcPct val="2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latin typeface="Gill Sans MT" panose="020B0502020104020203" pitchFamily="34" charset="0"/>
                        </a:rPr>
                        <a:t>Research</a:t>
                      </a:r>
                      <a:r>
                        <a:rPr lang="en-US" sz="2000" b="0" baseline="0" dirty="0">
                          <a:solidFill>
                            <a:schemeClr val="bg1"/>
                          </a:solidFill>
                          <a:latin typeface="Gill Sans MT" panose="020B0502020104020203" pitchFamily="34" charset="0"/>
                        </a:rPr>
                        <a:t> Gaps</a:t>
                      </a:r>
                      <a:endParaRPr lang="en-US" sz="2000" b="0" dirty="0">
                        <a:solidFill>
                          <a:schemeClr val="bg1"/>
                        </a:solidFill>
                        <a:latin typeface="Gill Sans MT" panose="020B0502020104020203" pitchFamily="34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latin typeface="Gill Sans MT" panose="020B0502020104020203" pitchFamily="34" charset="0"/>
                        </a:rPr>
                        <a:t>Literature</a:t>
                      </a:r>
                      <a:r>
                        <a:rPr lang="en-US" sz="2000" b="0" baseline="0" dirty="0">
                          <a:solidFill>
                            <a:schemeClr val="bg1"/>
                          </a:solidFill>
                          <a:latin typeface="Gill Sans MT" panose="020B0502020104020203" pitchFamily="34" charset="0"/>
                        </a:rPr>
                        <a:t> Review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latin typeface="Gill Sans MT" panose="020B0502020104020203" pitchFamily="34" charset="0"/>
                        </a:rPr>
                        <a:t>Methodology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latin typeface="Gill Sans MT" panose="020B0502020104020203" pitchFamily="34" charset="0"/>
                        </a:rPr>
                        <a:t>System  Architecture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Gill Sans MT" panose="020B0502020104020203" pitchFamily="34" charset="0"/>
                        </a:rPr>
                        <a:t> 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sz="1600" b="1" baseline="0" dirty="0">
                        <a:solidFill>
                          <a:schemeClr val="bg1"/>
                        </a:solidFill>
                        <a:latin typeface="Gill Sans MT" panose="020B0502020104020203" pitchFamily="34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sz="1600" b="1" dirty="0">
                        <a:solidFill>
                          <a:schemeClr val="bg1"/>
                        </a:solidFill>
                        <a:latin typeface="Gill Sans MT" panose="020B0502020104020203" pitchFamily="34" charset="0"/>
                      </a:endParaRPr>
                    </a:p>
                    <a:p>
                      <a:pPr marL="342900" indent="-342900">
                        <a:lnSpc>
                          <a:spcPct val="200000"/>
                        </a:lnSpc>
                        <a:buFont typeface="Wingdings" panose="05000000000000000000" pitchFamily="2" charset="2"/>
                        <a:buChar char="§"/>
                      </a:pPr>
                      <a:endParaRPr lang="en-US" sz="2500" dirty="0">
                        <a:solidFill>
                          <a:schemeClr val="bg1"/>
                        </a:solidFill>
                        <a:latin typeface="Gill Sans MT" panose="020B05020201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latin typeface="Gill Sans MT" panose="020B0502020104020203" pitchFamily="34" charset="0"/>
                        </a:rPr>
                        <a:t>Hardware</a:t>
                      </a:r>
                      <a:r>
                        <a:rPr lang="en-US" sz="2000" b="0" baseline="0" dirty="0">
                          <a:solidFill>
                            <a:schemeClr val="bg1"/>
                          </a:solidFill>
                          <a:latin typeface="Gill Sans MT" panose="020B0502020104020203" pitchFamily="34" charset="0"/>
                        </a:rPr>
                        <a:t> and Software Components</a:t>
                      </a:r>
                      <a:endParaRPr lang="en-US" sz="2000" b="0" dirty="0">
                        <a:solidFill>
                          <a:schemeClr val="bg1"/>
                        </a:solidFill>
                        <a:latin typeface="Gill Sans MT" panose="020B0502020104020203" pitchFamily="34" charset="0"/>
                      </a:endParaRPr>
                    </a:p>
                    <a:p>
                      <a:pPr marL="342900" indent="-342900">
                        <a:lnSpc>
                          <a:spcPct val="2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latin typeface="Gill Sans MT" panose="020B0502020104020203" pitchFamily="34" charset="0"/>
                        </a:rPr>
                        <a:t> Data</a:t>
                      </a:r>
                      <a:r>
                        <a:rPr lang="en-US" sz="2000" b="0" baseline="0" dirty="0">
                          <a:solidFill>
                            <a:schemeClr val="bg1"/>
                          </a:solidFill>
                          <a:latin typeface="Gill Sans MT" panose="020B0502020104020203" pitchFamily="34" charset="0"/>
                        </a:rPr>
                        <a:t>set Preparation and Gesture Recognition</a:t>
                      </a:r>
                    </a:p>
                    <a:p>
                      <a:pPr marL="342900" indent="-342900">
                        <a:lnSpc>
                          <a:spcPct val="2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2000" b="0" baseline="0" dirty="0">
                          <a:solidFill>
                            <a:schemeClr val="bg1"/>
                          </a:solidFill>
                          <a:latin typeface="Gill Sans MT" panose="020B0502020104020203" pitchFamily="34" charset="0"/>
                        </a:rPr>
                        <a:t>SLAM</a:t>
                      </a:r>
                    </a:p>
                    <a:p>
                      <a:pPr marL="342900" indent="-342900">
                        <a:lnSpc>
                          <a:spcPct val="2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latin typeface="Gill Sans MT" panose="020B0502020104020203" pitchFamily="34" charset="0"/>
                        </a:rPr>
                        <a:t>Testing and Results</a:t>
                      </a:r>
                    </a:p>
                    <a:p>
                      <a:pPr marL="342900" indent="-342900">
                        <a:lnSpc>
                          <a:spcPct val="2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latin typeface="Gill Sans MT" panose="020B0502020104020203" pitchFamily="34" charset="0"/>
                        </a:rPr>
                        <a:t> Conclusion</a:t>
                      </a:r>
                    </a:p>
                    <a:p>
                      <a:pPr marL="342900" indent="-342900">
                        <a:lnSpc>
                          <a:spcPct val="2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latin typeface="Gill Sans MT" panose="020B0502020104020203" pitchFamily="34" charset="0"/>
                        </a:rPr>
                        <a:t>Future</a:t>
                      </a:r>
                      <a:r>
                        <a:rPr lang="en-US" sz="2000" b="0" baseline="0" dirty="0">
                          <a:solidFill>
                            <a:schemeClr val="bg1"/>
                          </a:solidFill>
                          <a:latin typeface="Gill Sans MT" panose="020B0502020104020203" pitchFamily="34" charset="0"/>
                        </a:rPr>
                        <a:t> works</a:t>
                      </a:r>
                      <a:endParaRPr lang="en-US" sz="2000" b="0" dirty="0">
                        <a:solidFill>
                          <a:schemeClr val="bg1"/>
                        </a:solidFill>
                        <a:latin typeface="Gill Sans MT" panose="020B0502020104020203" pitchFamily="34" charset="0"/>
                      </a:endParaRPr>
                    </a:p>
                    <a:p>
                      <a:pPr marL="342900" indent="-342900">
                        <a:lnSpc>
                          <a:spcPct val="2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2000" b="0" dirty="0">
                          <a:solidFill>
                            <a:schemeClr val="bg1"/>
                          </a:solidFill>
                          <a:latin typeface="Gill Sans MT" panose="020B0502020104020203" pitchFamily="34" charset="0"/>
                        </a:rPr>
                        <a:t>References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4704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0923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401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sym typeface="+mn-ea"/>
              </a:rPr>
              <a:t>INTRODUCTION</a:t>
            </a:r>
            <a:endParaRPr lang="en-GB" b="1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49387" y="687250"/>
            <a:ext cx="6776404" cy="5712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GB" sz="2400" b="1" dirty="0">
                <a:latin typeface="Gill Sans MT" panose="020B0502020104020203" pitchFamily="34" charset="0"/>
              </a:rPr>
              <a:t>Human–Robot Interaction (HRI)</a:t>
            </a:r>
            <a:r>
              <a:rPr lang="en-GB" sz="2400" dirty="0">
                <a:latin typeface="Gill Sans MT" panose="020B0502020104020203" pitchFamily="34" charset="0"/>
              </a:rPr>
              <a:t> enables robots to understand and respond to human actions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Gill Sans MT" panose="020B0502020104020203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GB" sz="2400" b="1" dirty="0">
                <a:latin typeface="Gill Sans MT" panose="020B0502020104020203" pitchFamily="34" charset="0"/>
              </a:rPr>
              <a:t>Gestures and body movements</a:t>
            </a:r>
            <a:r>
              <a:rPr lang="en-GB" sz="2400" dirty="0">
                <a:latin typeface="Gill Sans MT" panose="020B0502020104020203" pitchFamily="34" charset="0"/>
              </a:rPr>
              <a:t> provide natural, contactless control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Gill Sans MT" panose="020B0502020104020203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GB" sz="2400" b="1" dirty="0">
                <a:latin typeface="Gill Sans MT" panose="020B0502020104020203" pitchFamily="34" charset="0"/>
              </a:rPr>
              <a:t>Vision-based systems</a:t>
            </a:r>
            <a:r>
              <a:rPr lang="en-GB" sz="2400" dirty="0">
                <a:latin typeface="Gill Sans MT" panose="020B0502020104020203" pitchFamily="34" charset="0"/>
              </a:rPr>
              <a:t> can require high computing power.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Gill Sans MT" panose="020B0502020104020203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GB" sz="2400" b="1" dirty="0">
                <a:latin typeface="Gill Sans MT" panose="020B0502020104020203" pitchFamily="34" charset="0"/>
              </a:rPr>
              <a:t>Edge computing</a:t>
            </a:r>
            <a:r>
              <a:rPr lang="en-GB" sz="2400" dirty="0">
                <a:latin typeface="Gill Sans MT" panose="020B0502020104020203" pitchFamily="34" charset="0"/>
              </a:rPr>
              <a:t> supports real-time processing on low-power robots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Gill Sans MT" panose="020B0502020104020203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GB" sz="2400" dirty="0">
                <a:latin typeface="Gill Sans MT" panose="020B0502020104020203" pitchFamily="34" charset="0"/>
              </a:rPr>
              <a:t>This project combines </a:t>
            </a:r>
            <a:r>
              <a:rPr lang="en-GB" sz="2400" b="1" dirty="0">
                <a:latin typeface="Gill Sans MT" panose="020B0502020104020203" pitchFamily="34" charset="0"/>
              </a:rPr>
              <a:t>intention recognition, environmental awareness, and navigation</a:t>
            </a:r>
            <a:r>
              <a:rPr lang="en-GB" sz="2400" dirty="0">
                <a:latin typeface="Gill Sans MT" panose="020B0502020104020203" pitchFamily="34" charset="0"/>
              </a:rPr>
              <a:t>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Gill Sans MT" panose="020B0502020104020203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8950" y="1084332"/>
            <a:ext cx="2840304" cy="16912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68950" y="2880764"/>
            <a:ext cx="27512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+mj-lt"/>
              </a:rPr>
              <a:t>Figure 1: Autonomous Mobile Robot Performing Navigation Tasks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8950" y="3736037"/>
            <a:ext cx="2840304" cy="182631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96120" y="5562354"/>
            <a:ext cx="31732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+mj-lt"/>
              </a:rPr>
              <a:t>Figure 2: Human Interaction with an Autonomous Mobile Robot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6557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Gill Sans MT" panose="020B0502020104020203" pitchFamily="34" charset="0"/>
              </a:rPr>
              <a:t>Problem Statement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313440" y="1162691"/>
            <a:ext cx="11475148" cy="4386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Wingdings" panose="05000000000000000000" pitchFamily="2" charset="2"/>
              <a:buChar char="§"/>
              <a:defRPr sz="1300"/>
            </a:pPr>
            <a:r>
              <a:t>• High-Power Compute &amp; Cloud Latency: Offboard cloud vision introduces unpredictable latency (&gt;200 ms) and connection dropouts, violating real-time robotic safety thresholds (Tsitos et al., 2022).</a:t>
            </a:r>
          </a:p>
          <a:p>
            <a:pPr>
              <a:defRPr sz="1300"/>
            </a:pPr>
            <a:r>
              <a:t>• Spatial Domain Shift Across Distances: Models evaluating raw anatomical pixel coordinates suffer severe classification degradation as operator distance varies (1.0m to 2.5m) due to optical perspective scaling.</a:t>
            </a:r>
          </a:p>
          <a:p>
            <a:pPr>
              <a:defRPr sz="1300"/>
            </a:pPr>
            <a:r>
              <a:t>• Ungrounded &amp; Spatial-Blind Execution: Executing recognized gestures blindly without continuous 360° laser mapping presents acute collision hazards in populated indoor workspaces.</a:t>
            </a:r>
          </a:p>
          <a:p>
            <a:pPr>
              <a:defRPr sz="1300"/>
            </a:pPr>
            <a:r>
              <a:t>• Collaborative Safety Requirements: International standards (ISO 15066:2016) mandate speed and separation monitoring, requiring guaranteed deterministic halting distances (&lt;0.45m).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2043"/>
            <a:ext cx="10515600" cy="819863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Times New Roman" panose="02020603050405020304" pitchFamily="18" charset="0"/>
              </a:rPr>
              <a:t>OBJECTIVES</a:t>
            </a:r>
            <a:endParaRPr lang="en-US" sz="4000" b="1" u="sng" dirty="0">
              <a:solidFill>
                <a:srgbClr val="C00000"/>
              </a:solidFill>
              <a:latin typeface="Gill Sans MT" panose="020B05020201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665" y="760902"/>
            <a:ext cx="11420670" cy="4833355"/>
          </a:xfrm>
        </p:spPr>
        <p:txBody>
          <a:bodyPr>
            <a:noAutofit/>
          </a:bodyPr>
          <a:lstStyle/>
          <a:p>
            <a:pPr marL="0" indent="0">
              <a:lnSpc>
                <a:spcPct val="170000"/>
              </a:lnSpc>
              <a:buNone/>
              <a:defRPr b="1" sz="1400"/>
            </a:pPr>
            <a:r>
              <a:t>General Objective:</a:t>
            </a:r>
          </a:p>
          <a:p>
            <a:pPr>
              <a:defRPr sz="1200"/>
            </a:pPr>
            <a:r>
              <a:t>To design, implement and evaluate an edge-based real-time human intention recognition system integrating hand gestures and autonomous navigation using ROS 2.</a:t>
            </a:r>
            <a:br/>
          </a:p>
          <a:p>
            <a:pPr>
              <a:defRPr b="1" sz="1400"/>
            </a:pPr>
            <a:r>
              <a:t>Specific Objectives:</a:t>
            </a:r>
          </a:p>
          <a:p>
            <a:pPr>
              <a:defRPr sz="1100"/>
            </a:pPr>
            <a:r>
              <a:t>• To design and implement an edge-optimized vision pipeline using 19 scale-invariant geometric hand features.</a:t>
            </a:r>
          </a:p>
          <a:p>
            <a:pPr>
              <a:defRPr sz="1100"/>
            </a:pPr>
            <a:r>
              <a:t>• To construct and balance a custom 6,000-sample gesture dataset captured directly through the robot camera.</a:t>
            </a:r>
          </a:p>
          <a:p>
            <a:pPr>
              <a:defRPr sz="1100"/>
            </a:pPr>
            <a:r>
              <a:t>• To develop an LSTM recurrent model for short-horizon human trajectory prediction.</a:t>
            </a:r>
          </a:p>
          <a:p>
            <a:pPr>
              <a:defRPr sz="1100"/>
            </a:pPr>
            <a:r>
              <a:t>• To implement a deterministic supervisory decision node (brain_node) with rolling consensus and visual servoing.</a:t>
            </a:r>
          </a:p>
          <a:p>
            <a:pPr>
              <a:defRPr sz="1100"/>
            </a:pPr>
            <a:r>
              <a:t>• To configure and validate LiDAR SLAM and Nav2 autonomous navigation for collision-free trajectory execution.</a:t>
            </a:r>
          </a:p>
          <a:p>
            <a:pPr>
              <a:defRPr sz="1100"/>
            </a:pPr>
            <a:r>
              <a:t>• To quantitatively evaluate latency budgets (&lt;150 ms), classification accuracy, and real-time physical throughput.</a:t>
            </a: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0" y="-323165"/>
            <a:ext cx="3930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8990"/>
            <a:ext cx="10515600" cy="35639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Times New Roman" panose="02020603050405020304" pitchFamily="18" charset="0"/>
              </a:rPr>
              <a:t>LITERATURE REVIEW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8" name="Content Placeholder 9">
            <a:extLst>
              <a:ext uri="{FF2B5EF4-FFF2-40B4-BE49-F238E27FC236}">
                <a16:creationId xmlns:a16="http://schemas.microsoft.com/office/drawing/2014/main" id="{74CCF805-37EF-E112-FBAC-310846B1C16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27100974"/>
              </p:ext>
            </p:extLst>
          </p:nvPr>
        </p:nvGraphicFramePr>
        <p:xfrm>
          <a:off x="0" y="798232"/>
          <a:ext cx="12192000" cy="6837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91469835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923337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24415733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753198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18219144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99741698"/>
                    </a:ext>
                  </a:extLst>
                </a:gridCol>
              </a:tblGrid>
              <a:tr h="1016279"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Ref / Year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Author(s)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Topic 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Objectives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Identified Gaps</a:t>
                      </a: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3023142071"/>
                  </a:ext>
                </a:extLst>
              </a:tr>
              <a:tr h="1015439">
                <a:tc>
                  <a:txBody>
                    <a:bodyPr/>
                    <a:lstStyle/>
                    <a:p>
                      <a:pPr algn="l"/>
                      <a:r>
                        <a:rPr lang="en-GH" sz="1600" b="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600" b="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1]</a:t>
                      </a:r>
                      <a:r>
                        <a:rPr lang="en-GH" sz="1600" b="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 202</a:t>
                      </a:r>
                      <a:r>
                        <a:rPr lang="en-US" sz="1600" b="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GH" sz="1600" b="0" dirty="0"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Gill Sans MT" panose="020B05020201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 err="1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Tsitos</a:t>
                      </a:r>
                      <a:r>
                        <a:rPr lang="en-US" sz="1600" b="0" baseline="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 et al.</a:t>
                      </a:r>
                      <a:endParaRPr lang="en-US" sz="1600" b="0" dirty="0"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Gill Sans MT" panose="020B05020201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latin typeface="Gill Sans MT" panose="020B0502020104020203" pitchFamily="34" charset="0"/>
                        </a:rPr>
                        <a:t>Real-time Feasibility of a Human Intention Method Evaluated Through a Competitive Human-Robot Reaching Game </a:t>
                      </a:r>
                      <a:endParaRPr lang="en-US" sz="1600" b="0" i="0" dirty="0"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Gill Sans MT" panose="020B05020201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t>Predict human intention in real time using a single RGB-D camera.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 err="1">
                          <a:latin typeface="Gill Sans MT" panose="020B0502020104020203" pitchFamily="34" charset="0"/>
                        </a:rPr>
                        <a:t>OpenPose</a:t>
                      </a:r>
                      <a:r>
                        <a:rPr lang="en-US" sz="1600" b="0" dirty="0">
                          <a:latin typeface="Gill Sans MT" panose="020B0502020104020203" pitchFamily="34" charset="0"/>
                        </a:rPr>
                        <a:t>, RGB-D camera, ML models, ROS, UR3 robot.</a:t>
                      </a:r>
                      <a:endParaRPr lang="en-US" sz="1600" b="0" dirty="0"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Gill Sans MT" panose="020B05020201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t>Stationary UR3 manipulator arm without mobile base navigation or explicit touchless gesture command channel.</a:t>
                      </a: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3751888764"/>
                  </a:ext>
                </a:extLst>
              </a:tr>
              <a:tr h="1721169">
                <a:tc>
                  <a:txBody>
                    <a:bodyPr/>
                    <a:lstStyle/>
                    <a:p>
                      <a:pPr algn="l"/>
                      <a:r>
                        <a:rPr lang="en-GH" sz="1600" b="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600" b="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GH" sz="1600" b="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] 2022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t>Mahmud et al.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latin typeface="Gill Sans MT" panose="020B0502020104020203" pitchFamily="34" charset="0"/>
                        </a:rPr>
                        <a:t>3D Gesture Recognition and Adaptation for Human–Robot Interaction</a:t>
                      </a:r>
                      <a:endParaRPr lang="en-US" sz="1600" b="0" dirty="0"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Gill Sans MT" panose="020B05020201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latin typeface="Gill Sans MT" panose="020B0502020104020203" pitchFamily="34" charset="0"/>
                        </a:rPr>
                        <a:t>Recognize 3D gestures for robot control.</a:t>
                      </a:r>
                      <a:endParaRPr lang="en-US" sz="1600" b="0" dirty="0"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Gill Sans MT" panose="020B05020201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latin typeface="Gill Sans MT" panose="020B0502020104020203" pitchFamily="34" charset="0"/>
                        </a:rPr>
                        <a:t>Kinect, HMM, SVM, CNN, robot navigation.</a:t>
                      </a:r>
                      <a:endParaRPr lang="en-US" sz="1600" b="0" dirty="0"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Gill Sans MT" panose="020B05020201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t>Restricted to proprietary high-power Kinect sensor; navigation evaluated only in simulation without physical latency or wheel slip.</a:t>
                      </a: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437792960"/>
                  </a:ext>
                </a:extLst>
              </a:tr>
              <a:tr h="1721169">
                <a:tc>
                  <a:txBody>
                    <a:bodyPr/>
                    <a:lstStyle/>
                    <a:p>
                      <a:pPr algn="l"/>
                      <a:r>
                        <a:rPr lang="en-GH" sz="1600" b="0" dirty="0">
                          <a:solidFill>
                            <a:schemeClr val="bg1"/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1600" b="0" dirty="0">
                          <a:solidFill>
                            <a:schemeClr val="bg1"/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GH" sz="1600" b="0" dirty="0">
                          <a:solidFill>
                            <a:schemeClr val="bg1"/>
                          </a:solidFill>
                          <a:effectLst/>
                          <a:latin typeface="Gill Sans MT" panose="020B0502020104020203" pitchFamily="34" charset="0"/>
                          <a:cs typeface="Times New Roman" panose="02020603050405020304" pitchFamily="18" charset="0"/>
                        </a:rPr>
                        <a:t>] 2023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t>Yang et al. / Li et al.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latin typeface="Gill Sans MT" panose="020B0502020104020203" pitchFamily="34" charset="0"/>
                        </a:rPr>
                        <a:t>Safe and Efficient Motion Planning for Material Transportation Robots Considering Intention Prediction of Obstacles</a:t>
                      </a:r>
                      <a:endParaRPr lang="en-US" sz="1600" b="0" dirty="0">
                        <a:solidFill>
                          <a:schemeClr val="bg1"/>
                        </a:solidFill>
                        <a:effectLst/>
                        <a:latin typeface="Gill Sans MT" panose="020B05020201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latin typeface="Gill Sans MT" panose="020B0502020104020203" pitchFamily="34" charset="0"/>
                        </a:rPr>
                        <a:t>Predict obstacle intentions for safe navigation.</a:t>
                      </a:r>
                      <a:endParaRPr lang="en-US" sz="1600" b="0" dirty="0">
                        <a:solidFill>
                          <a:schemeClr val="bg1"/>
                        </a:solidFill>
                        <a:effectLst/>
                        <a:latin typeface="Gill Sans MT" panose="020B05020201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latin typeface="Gill Sans MT" panose="020B0502020104020203" pitchFamily="34" charset="0"/>
                        </a:rPr>
                        <a:t>Object detection, </a:t>
                      </a:r>
                      <a:r>
                        <a:rPr lang="en-US" sz="1600" b="0" dirty="0" err="1">
                          <a:latin typeface="Gill Sans MT" panose="020B0502020104020203" pitchFamily="34" charset="0"/>
                        </a:rPr>
                        <a:t>ReLU</a:t>
                      </a:r>
                      <a:r>
                        <a:rPr lang="en-US" sz="1600" b="0" dirty="0">
                          <a:latin typeface="Gill Sans MT" panose="020B0502020104020203" pitchFamily="34" charset="0"/>
                        </a:rPr>
                        <a:t> intention model, Nav2, ROS2.</a:t>
                      </a:r>
                      <a:endParaRPr lang="it-IT" sz="1600" b="0" dirty="0">
                        <a:solidFill>
                          <a:schemeClr val="bg1"/>
                        </a:solidFill>
                        <a:effectLst/>
                        <a:latin typeface="Gill Sans MT" panose="020B0502020104020203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t>Tested in simulation (Isaac Sim) for obstacle yielding; lacks touchless human supervisory gesture directives.</a:t>
                      </a: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3596178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6233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5D8E2-4F8C-64A5-14D0-AC29A3DF1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9822"/>
          </a:xfrm>
        </p:spPr>
        <p:txBody>
          <a:bodyPr>
            <a:normAutofit/>
          </a:bodyPr>
          <a:lstStyle/>
          <a:p>
            <a:pPr algn="ctr"/>
            <a:r>
              <a:rPr lang="en-US" sz="4000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Times New Roman" panose="02020603050405020304" pitchFamily="18" charset="0"/>
              </a:rPr>
              <a:t>SYSTEM ARCHITECTURE</a:t>
            </a:r>
            <a:endParaRPr lang="en-US" sz="4000" b="1" u="sng" dirty="0">
              <a:solidFill>
                <a:srgbClr val="C00000"/>
              </a:solidFill>
              <a:latin typeface="Gill Sans MT" panose="020B05020201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36607" y="1347570"/>
            <a:ext cx="41106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Figure 3: Hardware Architecture and Signal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75633" y="1324948"/>
            <a:ext cx="4672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+mj-lt"/>
              </a:rPr>
              <a:t>Figure 4: System Architecture</a:t>
            </a:r>
            <a:r>
              <a:rPr lang="en-US" sz="1600" b="1" dirty="0">
                <a:solidFill>
                  <a:schemeClr val="bg1"/>
                </a:solidFill>
                <a:latin typeface="Gill Sans MT" panose="020B0502020104020203" pitchFamily="34" charset="0"/>
              </a:rPr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0D439D8-3DD7-A512-4F51-A5E2EF81A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1D7432A-6B93-6BEF-EC0C-DACEA3FFF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9" y="1719054"/>
            <a:ext cx="4849962" cy="42447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68C4A33-BC46-51C1-A37B-47FF211A83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3127" y="1700511"/>
            <a:ext cx="4446919" cy="4391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807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9C196-7822-1619-511D-B2A65A254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Times New Roman" panose="02020603050405020304" pitchFamily="18" charset="0"/>
              </a:rPr>
              <a:t>HARDWARE COMPONENTS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CE927E-D13E-2096-04CB-807BAECCF4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40989" y="930615"/>
            <a:ext cx="2748148" cy="31048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9D6DFF-D01C-6DD9-58FF-4B963D7059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0922" y="1665572"/>
            <a:ext cx="3308410" cy="20540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A77C19-7558-1A87-1DF0-51C58595C9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433" y="1197549"/>
            <a:ext cx="3446092" cy="27655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0251" y="3966684"/>
            <a:ext cx="30044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Figure 5: Raspberry Pi 5 (8GB RAM)</a:t>
            </a:r>
          </a:p>
          <a:p>
            <a:r>
              <a:t>Main edge SBC processing YOLOv8, MediaPipe, 19-D MLP, and SLAM/Nav2 directly onboard at 28.4 FPS.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51222" y="3963084"/>
            <a:ext cx="31595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Figure 6: USB Monocular Camera</a:t>
            </a:r>
          </a:p>
          <a:p>
            <a:r>
              <a:t>Captures 640x480 RGB frames at 30 FPS for gesture classification and active gimbal tracking.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97314" y="3843573"/>
            <a:ext cx="28248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Figure 7: MS200 2D Planar LiDAR</a:t>
            </a:r>
          </a:p>
          <a:p>
            <a:r>
              <a:t>Provides 360° laser scans at 10 Hz up to 12m for SLAM Toolbox and triggers the 0.36m ISO 15066 safety halt.</a:t>
            </a:r>
          </a:p>
        </p:txBody>
      </p:sp>
    </p:spTree>
    <p:extLst>
      <p:ext uri="{BB962C8B-B14F-4D97-AF65-F5344CB8AC3E}">
        <p14:creationId xmlns:p14="http://schemas.microsoft.com/office/powerpoint/2010/main" val="39233746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Times New Roman" panose="02020603050405020304" pitchFamily="18" charset="0"/>
              </a:rPr>
              <a:t>DATASET PREPARATION AND GESTURE RECOGNITION PIPELINE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56130" y="1978255"/>
            <a:ext cx="762725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bg1"/>
                </a:solidFill>
                <a:latin typeface="Gill Sans MT" panose="020B0502020104020203" pitchFamily="34" charset="0"/>
              </a:rPr>
              <a:t>6,000 samples</a:t>
            </a: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 collected from the robot’s own camera</a:t>
            </a:r>
            <a:r>
              <a:rPr lang="en-US" sz="2400" dirty="0">
                <a:solidFill>
                  <a:schemeClr val="bg1"/>
                </a:solidFill>
                <a:latin typeface="Gill Sans MT" panose="020B0502020104020203" pitchFamily="34" charset="0"/>
              </a:rPr>
              <a:t>.</a:t>
            </a:r>
          </a:p>
          <a:p>
            <a:endParaRPr lang="en-US" sz="2400" dirty="0">
              <a:solidFill>
                <a:schemeClr val="bg1"/>
              </a:solidFill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bg1"/>
                </a:solidFill>
                <a:latin typeface="Gill Sans MT" panose="020B0502020104020203" pitchFamily="34" charset="0"/>
              </a:rPr>
              <a:t>6 gesture classes:</a:t>
            </a: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 Stop, Go, Left, Right, Back, Follow</a:t>
            </a:r>
            <a:r>
              <a:rPr lang="en-US" sz="2400" dirty="0">
                <a:solidFill>
                  <a:schemeClr val="bg1"/>
                </a:solidFill>
                <a:latin typeface="Gill Sans MT" panose="020B0502020104020203" pitchFamily="34" charset="0"/>
              </a:rPr>
              <a:t>.</a:t>
            </a:r>
          </a:p>
          <a:p>
            <a:endParaRPr lang="en-US" sz="2400" dirty="0">
              <a:solidFill>
                <a:schemeClr val="bg1"/>
              </a:solidFill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bg1"/>
                </a:solidFill>
                <a:latin typeface="Gill Sans MT" panose="020B0502020104020203" pitchFamily="34" charset="0"/>
              </a:rPr>
              <a:t>Balanced dataset:</a:t>
            </a: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 1,000 samples per gesture</a:t>
            </a:r>
            <a:r>
              <a:rPr lang="en-US" sz="2400" dirty="0">
                <a:solidFill>
                  <a:schemeClr val="bg1"/>
                </a:solidFill>
                <a:latin typeface="Gill Sans MT" panose="020B0502020104020203" pitchFamily="34" charset="0"/>
              </a:rPr>
              <a:t>.</a:t>
            </a:r>
          </a:p>
          <a:p>
            <a:endParaRPr lang="en-US" sz="2400" dirty="0">
              <a:solidFill>
                <a:schemeClr val="bg1"/>
              </a:solidFill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 err="1">
                <a:solidFill>
                  <a:schemeClr val="bg1"/>
                </a:solidFill>
                <a:latin typeface="Gill Sans MT" panose="020B0502020104020203" pitchFamily="34" charset="0"/>
              </a:rPr>
              <a:t>MediaPipe</a:t>
            </a: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 extracts 21 hand landmarks</a:t>
            </a:r>
            <a:endParaRPr lang="en-US" sz="2400" dirty="0">
              <a:solidFill>
                <a:schemeClr val="bg1"/>
              </a:solidFill>
              <a:latin typeface="Gill Sans MT" panose="020B0502020104020203" pitchFamily="34" charset="0"/>
            </a:endParaRPr>
          </a:p>
          <a:p>
            <a:endParaRPr lang="en-US" sz="2400" dirty="0">
              <a:solidFill>
                <a:schemeClr val="bg1"/>
              </a:solidFill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Landmarks are converted into </a:t>
            </a:r>
            <a:r>
              <a:rPr lang="en-GB" sz="2400" b="1" dirty="0">
                <a:solidFill>
                  <a:schemeClr val="bg1"/>
                </a:solidFill>
                <a:latin typeface="Gill Sans MT" panose="020B0502020104020203" pitchFamily="34" charset="0"/>
              </a:rPr>
              <a:t>19 normalized geometric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bg1"/>
                </a:solidFill>
                <a:latin typeface="Gill Sans MT" panose="020B0502020104020203" pitchFamily="34" charset="0"/>
              </a:rPr>
              <a:t>MLP classifier</a:t>
            </a: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 recognizes the six gestures</a:t>
            </a:r>
            <a:r>
              <a:rPr lang="en-GB" sz="2400" dirty="0">
                <a:solidFill>
                  <a:schemeClr val="bg1"/>
                </a:solidFill>
              </a:rPr>
              <a:t>.</a:t>
            </a:r>
            <a:r>
              <a:rPr lang="en-US" sz="2400" dirty="0">
                <a:solidFill>
                  <a:schemeClr val="bg1"/>
                </a:solidFill>
                <a:latin typeface="Gill Sans MT" panose="020B0502020104020203" pitchFamily="34" charset="0"/>
              </a:rPr>
              <a:t>. 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86808" y="1849772"/>
            <a:ext cx="3566992" cy="213392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86808" y="4112184"/>
            <a:ext cx="37923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ill Sans MT" panose="020B0502020104020203" pitchFamily="34" charset="0"/>
              </a:rPr>
              <a:t>Figure 11:Live System Demonstration: </a:t>
            </a:r>
            <a:r>
              <a:rPr lang="en-US" sz="1200" dirty="0">
                <a:solidFill>
                  <a:schemeClr val="bg1"/>
                </a:solidFill>
                <a:latin typeface="Gill Sans MT" panose="020B0502020104020203" pitchFamily="34" charset="0"/>
              </a:rPr>
              <a:t>The detected gesture is classified and displayed in real time</a:t>
            </a:r>
            <a:r>
              <a:rPr lang="en-US" dirty="0"/>
              <a:t>.</a:t>
            </a:r>
            <a:endParaRPr lang="en-US" b="1" dirty="0">
              <a:solidFill>
                <a:schemeClr val="bg1"/>
              </a:solidFill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61370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Times New Roman" panose="02020603050405020304" pitchFamily="18" charset="0"/>
              </a:rPr>
              <a:t>HUMAN MOVEMENT PREDICTION(LSTM)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1706" y="1822450"/>
            <a:ext cx="6943165" cy="4351338"/>
          </a:xfrm>
        </p:spPr>
        <p:txBody>
          <a:bodyPr>
            <a:noAutofit/>
          </a:bodyPr>
          <a:lstStyle/>
          <a:p>
            <a:r>
              <a:rPr lang="en-GB" sz="2400" dirty="0">
                <a:latin typeface="Gill Sans MT" panose="020B0502020104020203" pitchFamily="34" charset="0"/>
              </a:rPr>
              <a:t>Uses </a:t>
            </a:r>
            <a:r>
              <a:rPr lang="en-GB" sz="2400" b="1" dirty="0" err="1">
                <a:latin typeface="Gill Sans MT" panose="020B0502020104020203" pitchFamily="34" charset="0"/>
              </a:rPr>
              <a:t>MediaPipe</a:t>
            </a:r>
            <a:r>
              <a:rPr lang="en-GB" sz="2400" b="1" dirty="0">
                <a:latin typeface="Gill Sans MT" panose="020B0502020104020203" pitchFamily="34" charset="0"/>
              </a:rPr>
              <a:t> Pose landmarks</a:t>
            </a:r>
            <a:r>
              <a:rPr lang="en-GB" sz="2400" dirty="0">
                <a:latin typeface="Gill Sans MT" panose="020B0502020104020203" pitchFamily="34" charset="0"/>
              </a:rPr>
              <a:t> to track human movement</a:t>
            </a:r>
            <a:r>
              <a:rPr lang="en-US" sz="2400" dirty="0">
                <a:latin typeface="Gill Sans MT" panose="020B0502020104020203" pitchFamily="34" charset="0"/>
              </a:rPr>
              <a:t>.</a:t>
            </a:r>
          </a:p>
          <a:p>
            <a:r>
              <a:rPr lang="en-GB" sz="2400" dirty="0">
                <a:latin typeface="Gill Sans MT" panose="020B0502020104020203" pitchFamily="34" charset="0"/>
              </a:rPr>
              <a:t>LSTM predicts the operator’s next movement direction</a:t>
            </a:r>
            <a:r>
              <a:rPr lang="en-US" sz="2400" dirty="0">
                <a:latin typeface="Gill Sans MT" panose="020B0502020104020203" pitchFamily="34" charset="0"/>
              </a:rPr>
              <a:t>.</a:t>
            </a:r>
          </a:p>
          <a:p>
            <a:r>
              <a:rPr lang="en-GB" sz="2400" dirty="0">
                <a:latin typeface="Gill Sans MT" panose="020B0502020104020203" pitchFamily="34" charset="0"/>
              </a:rPr>
              <a:t>Uses </a:t>
            </a:r>
            <a:r>
              <a:rPr lang="en-GB" sz="2400" b="1" dirty="0">
                <a:latin typeface="Gill Sans MT" panose="020B0502020104020203" pitchFamily="34" charset="0"/>
              </a:rPr>
              <a:t>past movement patterns</a:t>
            </a:r>
            <a:r>
              <a:rPr lang="en-GB" sz="2400" dirty="0">
                <a:latin typeface="Gill Sans MT" panose="020B0502020104020203" pitchFamily="34" charset="0"/>
              </a:rPr>
              <a:t> to anticipate future motion</a:t>
            </a:r>
            <a:r>
              <a:rPr lang="en-US" sz="2400" dirty="0">
                <a:latin typeface="Gill Sans MT" panose="020B0502020104020203" pitchFamily="34" charset="0"/>
              </a:rPr>
              <a:t>.</a:t>
            </a:r>
          </a:p>
          <a:p>
            <a:r>
              <a:rPr lang="en-GB" sz="2400" dirty="0">
                <a:latin typeface="Gill Sans MT" panose="020B0502020104020203" pitchFamily="34" charset="0"/>
              </a:rPr>
              <a:t>Helps the robot </a:t>
            </a:r>
            <a:r>
              <a:rPr lang="en-GB" sz="2400" b="1" dirty="0">
                <a:latin typeface="Gill Sans MT" panose="020B0502020104020203" pitchFamily="34" charset="0"/>
              </a:rPr>
              <a:t>respond proactively instead of reactively</a:t>
            </a:r>
            <a:r>
              <a:rPr lang="en-US" sz="2400" dirty="0">
                <a:latin typeface="Gill Sans MT" panose="020B0502020104020203" pitchFamily="34" charset="0"/>
              </a:rPr>
              <a:t>.</a:t>
            </a:r>
          </a:p>
          <a:p>
            <a:r>
              <a:rPr lang="en-GB" sz="2400" dirty="0">
                <a:latin typeface="Gill Sans MT" panose="020B0502020104020203" pitchFamily="34" charset="0"/>
              </a:rPr>
              <a:t>Achieved </a:t>
            </a:r>
            <a:r>
              <a:rPr lang="en-GB" sz="2400" b="1" dirty="0">
                <a:latin typeface="Gill Sans MT" panose="020B0502020104020203" pitchFamily="34" charset="0"/>
              </a:rPr>
              <a:t>25.8 </a:t>
            </a:r>
            <a:r>
              <a:rPr lang="en-GB" sz="2400" b="1" dirty="0" err="1">
                <a:latin typeface="Gill Sans MT" panose="020B0502020104020203" pitchFamily="34" charset="0"/>
              </a:rPr>
              <a:t>px</a:t>
            </a:r>
            <a:r>
              <a:rPr lang="en-GB" sz="2400" b="1" dirty="0">
                <a:latin typeface="Gill Sans MT" panose="020B0502020104020203" pitchFamily="34" charset="0"/>
              </a:rPr>
              <a:t> ADE</a:t>
            </a:r>
            <a:r>
              <a:rPr lang="en-GB" sz="2400" dirty="0">
                <a:latin typeface="Gill Sans MT" panose="020B0502020104020203" pitchFamily="34" charset="0"/>
              </a:rPr>
              <a:t> and </a:t>
            </a:r>
            <a:r>
              <a:rPr lang="en-GB" sz="2400" b="1" dirty="0">
                <a:latin typeface="Gill Sans MT" panose="020B0502020104020203" pitchFamily="34" charset="0"/>
              </a:rPr>
              <a:t>32.4 </a:t>
            </a:r>
            <a:r>
              <a:rPr lang="en-GB" sz="2400" b="1" dirty="0" err="1">
                <a:latin typeface="Gill Sans MT" panose="020B0502020104020203" pitchFamily="34" charset="0"/>
              </a:rPr>
              <a:t>px</a:t>
            </a:r>
            <a:r>
              <a:rPr lang="en-GB" sz="2400" b="1" dirty="0">
                <a:latin typeface="Gill Sans MT" panose="020B0502020104020203" pitchFamily="34" charset="0"/>
              </a:rPr>
              <a:t> FDE</a:t>
            </a:r>
            <a:r>
              <a:rPr lang="en-US" sz="2400" dirty="0">
                <a:latin typeface="Gill Sans MT" panose="020B0502020104020203" pitchFamily="34" charset="0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B444A4-688C-D9FD-D00B-FAF5DDEC1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1825" y="1206606"/>
            <a:ext cx="4517717" cy="42643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ED977A-B8FE-2045-ABC4-D638DCAD98C7}"/>
              </a:ext>
            </a:extLst>
          </p:cNvPr>
          <p:cNvSpPr txBox="1"/>
          <p:nvPr/>
        </p:nvSpPr>
        <p:spPr>
          <a:xfrm>
            <a:off x="7682742" y="5503059"/>
            <a:ext cx="3278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Figure 13: LSTM Path Predictor Training Loss &amp; Validation Convergence (ADE: 25.8 px, FDE: 32.4 px)</a:t>
            </a:r>
          </a:p>
        </p:txBody>
      </p:sp>
    </p:spTree>
    <p:extLst>
      <p:ext uri="{BB962C8B-B14F-4D97-AF65-F5344CB8AC3E}">
        <p14:creationId xmlns:p14="http://schemas.microsoft.com/office/powerpoint/2010/main" val="41130676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Times New Roman" panose="02020603050405020304" pitchFamily="18" charset="0"/>
              </a:rPr>
              <a:t>SLAM MAPPING AND LOCALISATION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61682" y="1436534"/>
            <a:ext cx="6763871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2400" b="1" dirty="0">
                <a:latin typeface="Gill Sans MT" panose="020B0502020104020203" pitchFamily="34" charset="0"/>
              </a:rPr>
              <a:t>SLAM Toolbox</a:t>
            </a:r>
            <a:r>
              <a:rPr lang="en-GB" sz="2400" dirty="0">
                <a:latin typeface="Gill Sans MT" panose="020B0502020104020203" pitchFamily="34" charset="0"/>
              </a:rPr>
              <a:t> creates a 2D map using LiDAR and wheel odometry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Gill Sans MT" panose="020B0502020104020203" pitchFamily="34" charset="0"/>
              </a:rPr>
              <a:t>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40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2400" dirty="0">
                <a:latin typeface="Gill Sans MT" panose="020B0502020104020203" pitchFamily="34" charset="0"/>
              </a:rPr>
              <a:t>The environment is represented as an </a:t>
            </a:r>
            <a:r>
              <a:rPr lang="en-GB" sz="2400" b="1" dirty="0">
                <a:latin typeface="Gill Sans MT" panose="020B0502020104020203" pitchFamily="34" charset="0"/>
              </a:rPr>
              <a:t>occupancy grid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Gill Sans MT" panose="020B0502020104020203" pitchFamily="34" charset="0"/>
              </a:rPr>
              <a:t>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40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2400" b="1" dirty="0">
                <a:latin typeface="Gill Sans MT" panose="020B0502020104020203" pitchFamily="34" charset="0"/>
              </a:rPr>
              <a:t>Nav2</a:t>
            </a:r>
            <a:r>
              <a:rPr lang="en-GB" sz="2400" dirty="0">
                <a:latin typeface="Gill Sans MT" panose="020B0502020104020203" pitchFamily="34" charset="0"/>
              </a:rPr>
              <a:t> enables point-to-point autonomous navigation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Gill Sans MT" panose="020B0502020104020203" pitchFamily="34" charset="0"/>
              </a:rPr>
              <a:t>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40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2400" b="1" dirty="0">
                <a:latin typeface="Gill Sans MT" panose="020B0502020104020203" pitchFamily="34" charset="0"/>
              </a:rPr>
              <a:t>AMCL</a:t>
            </a:r>
            <a:r>
              <a:rPr lang="en-GB" sz="2400" dirty="0">
                <a:latin typeface="Gill Sans MT" panose="020B0502020104020203" pitchFamily="34" charset="0"/>
              </a:rPr>
              <a:t> localizes the robot on the generated map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Gill Sans MT" panose="020B0502020104020203" pitchFamily="34" charset="0"/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400" i="0" u="none" strike="noStrike" cap="none" normalizeH="0" baseline="0" dirty="0">
              <a:ln>
                <a:noFill/>
              </a:ln>
              <a:effectLst/>
              <a:latin typeface="Gill Sans MT" panose="020B0502020104020203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2400" b="1" dirty="0" err="1">
                <a:latin typeface="Gill Sans MT" panose="020B0502020104020203" pitchFamily="34" charset="0"/>
              </a:rPr>
              <a:t>Costmaps</a:t>
            </a:r>
            <a:r>
              <a:rPr lang="en-GB" sz="2400" dirty="0">
                <a:latin typeface="Gill Sans MT" panose="020B0502020104020203" pitchFamily="34" charset="0"/>
              </a:rPr>
              <a:t> help the robot avoid unexpected obstacles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Gill Sans MT" panose="020B0502020104020203" pitchFamily="34" charset="0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5553" y="3429000"/>
            <a:ext cx="2489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Figure 14: Initial SLAM Run — Hourglass Rotational Drift Defect (Unsynchronized IMU Yaw)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74B96C-FB51-62BC-884F-1989BCE13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2712" y="1785271"/>
            <a:ext cx="2362274" cy="15497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ABBC5A1-5692-6BAC-6715-9F1909492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9132" y="3984622"/>
            <a:ext cx="2489433" cy="16893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909F1F4-7722-CEFE-096E-A86679F7084C}"/>
              </a:ext>
            </a:extLst>
          </p:cNvPr>
          <p:cNvSpPr txBox="1"/>
          <p:nvPr/>
        </p:nvSpPr>
        <p:spPr>
          <a:xfrm>
            <a:off x="7257342" y="5741034"/>
            <a:ext cx="25530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Figure 15: Final SLAM Run — Clean 5cm Metric Occupancy Grid Map (EKF Restamping Fix)</a:t>
            </a:r>
          </a:p>
        </p:txBody>
      </p:sp>
    </p:spTree>
    <p:extLst>
      <p:ext uri="{BB962C8B-B14F-4D97-AF65-F5344CB8AC3E}">
        <p14:creationId xmlns:p14="http://schemas.microsoft.com/office/powerpoint/2010/main" val="33920464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7B265-11D7-4AA7-CA1C-3A07DA914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Times New Roman" panose="02020603050405020304" pitchFamily="18" charset="0"/>
              </a:rPr>
              <a:t>TESTING AND RESULTS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59F344F-97BD-1962-7822-B57F57C365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4135398"/>
              </p:ext>
            </p:extLst>
          </p:nvPr>
        </p:nvGraphicFramePr>
        <p:xfrm>
          <a:off x="461682" y="1777266"/>
          <a:ext cx="4500843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7824">
                  <a:extLst>
                    <a:ext uri="{9D8B030D-6E8A-4147-A177-3AD203B41FA5}">
                      <a16:colId xmlns:a16="http://schemas.microsoft.com/office/drawing/2014/main" val="590012054"/>
                    </a:ext>
                  </a:extLst>
                </a:gridCol>
                <a:gridCol w="826994">
                  <a:extLst>
                    <a:ext uri="{9D8B030D-6E8A-4147-A177-3AD203B41FA5}">
                      <a16:colId xmlns:a16="http://schemas.microsoft.com/office/drawing/2014/main" val="3546891273"/>
                    </a:ext>
                  </a:extLst>
                </a:gridCol>
                <a:gridCol w="1247775">
                  <a:extLst>
                    <a:ext uri="{9D8B030D-6E8A-4147-A177-3AD203B41FA5}">
                      <a16:colId xmlns:a16="http://schemas.microsoft.com/office/drawing/2014/main" val="2424577642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3664176472"/>
                    </a:ext>
                  </a:extLst>
                </a:gridCol>
              </a:tblGrid>
              <a:tr h="295605">
                <a:tc>
                  <a:txBody>
                    <a:bodyPr/>
                    <a:lstStyle/>
                    <a:p>
                      <a:r>
                        <a:rPr lang="en-GB" dirty="0"/>
                        <a:t>Gesture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Total Trials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Successful Trials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Observed Accuracy (%)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905568"/>
                  </a:ext>
                </a:extLst>
              </a:tr>
              <a:tr h="295605">
                <a:tc>
                  <a:txBody>
                    <a:bodyPr/>
                    <a:lstStyle/>
                    <a:p>
                      <a:r>
                        <a:rPr lang="en-GB" dirty="0"/>
                        <a:t>Stop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90.0%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1216696"/>
                  </a:ext>
                </a:extLst>
              </a:tr>
              <a:tr h="295605">
                <a:tc>
                  <a:txBody>
                    <a:bodyPr/>
                    <a:lstStyle/>
                    <a:p>
                      <a:r>
                        <a:rPr lang="en-GB" dirty="0"/>
                        <a:t>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96.7%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1894223"/>
                  </a:ext>
                </a:extLst>
              </a:tr>
              <a:tr h="295605">
                <a:tc>
                  <a:txBody>
                    <a:bodyPr/>
                    <a:lstStyle/>
                    <a:p>
                      <a:r>
                        <a:t>Follow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93.3%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3006833"/>
                  </a:ext>
                </a:extLst>
              </a:tr>
              <a:tr h="295605">
                <a:tc>
                  <a:txBody>
                    <a:bodyPr/>
                    <a:lstStyle/>
                    <a:p>
                      <a:r>
                        <a:rPr lang="en-GB" dirty="0"/>
                        <a:t>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7512093"/>
                  </a:ext>
                </a:extLst>
              </a:tr>
              <a:tr h="295605">
                <a:tc>
                  <a:txBody>
                    <a:bodyPr/>
                    <a:lstStyle/>
                    <a:p>
                      <a:r>
                        <a:t>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6313600"/>
                  </a:ext>
                </a:extLst>
              </a:tr>
              <a:tr h="295605">
                <a:tc>
                  <a:txBody>
                    <a:bodyPr/>
                    <a:lstStyle/>
                    <a:p>
                      <a:r>
                        <a:rPr lang="en-GB" dirty="0"/>
                        <a:t>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881687"/>
                  </a:ext>
                </a:extLst>
              </a:tr>
              <a:tr h="295605">
                <a:tc>
                  <a:txBody>
                    <a:bodyPr/>
                    <a:lstStyle/>
                    <a:p>
                      <a:r>
                        <a:rPr lang="en-GB" dirty="0"/>
                        <a:t>Aggregate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96.67%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43322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ECCC717-1D5A-A376-9EA2-24F12135A061}"/>
              </a:ext>
            </a:extLst>
          </p:cNvPr>
          <p:cNvSpPr txBox="1"/>
          <p:nvPr/>
        </p:nvSpPr>
        <p:spPr>
          <a:xfrm>
            <a:off x="541244" y="1500267"/>
            <a:ext cx="39355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chemeClr val="bg1"/>
                </a:solidFill>
                <a:latin typeface="Gill Sans MT" panose="020B0502020104020203" pitchFamily="34" charset="0"/>
              </a:rPr>
              <a:t>Gesture Recognition Physical Trial Results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5D1798-C6BA-5585-35DD-92A1DD407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8141" y="1777266"/>
            <a:ext cx="5559778" cy="3429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C7D2ED6-F1C7-7DB9-791D-696EDA712216}"/>
              </a:ext>
            </a:extLst>
          </p:cNvPr>
          <p:cNvSpPr txBox="1"/>
          <p:nvPr/>
        </p:nvSpPr>
        <p:spPr>
          <a:xfrm>
            <a:off x="5943600" y="5295473"/>
            <a:ext cx="41416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Figure 16: Per-Class Classification Accuracy of the Trained MLP Gesture Model</a:t>
            </a:r>
          </a:p>
        </p:txBody>
      </p:sp>
    </p:spTree>
    <p:extLst>
      <p:ext uri="{BB962C8B-B14F-4D97-AF65-F5344CB8AC3E}">
        <p14:creationId xmlns:p14="http://schemas.microsoft.com/office/powerpoint/2010/main" val="13014656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99CE6-A9EB-13AB-FEF8-665CD98CF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Times New Roman" panose="02020603050405020304" pitchFamily="18" charset="0"/>
              </a:rPr>
              <a:t>TESTING AND RESULTS</a:t>
            </a:r>
            <a:endParaRPr lang="en-GB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98C9944-00BA-9C10-23EB-46B3C2F92A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2267839"/>
              </p:ext>
            </p:extLst>
          </p:nvPr>
        </p:nvGraphicFramePr>
        <p:xfrm>
          <a:off x="838200" y="1825625"/>
          <a:ext cx="10515597" cy="384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996106054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46381938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1772335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Movement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Observed Kinematic </a:t>
                      </a:r>
                      <a:r>
                        <a:rPr lang="en-GB" dirty="0" err="1"/>
                        <a:t>Behavior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361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Approaching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Rapid expansion of bounding box area with stable </a:t>
                      </a:r>
                      <a:r>
                        <a:rPr lang="en-GB" dirty="0" err="1"/>
                        <a:t>center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Successfully Recognized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0053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Moving Away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Continuous contraction of bounding box area with stable </a:t>
                      </a:r>
                      <a:r>
                        <a:rPr lang="en-GB" dirty="0" err="1"/>
                        <a:t>center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Successfully Recognized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7558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Moving 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Persistent leftward centroid translation across frames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Successfully Recognized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13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Moving 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Persistent rightward centroid translation across frames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Successfully Recognized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2304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Stationary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Centroid displacement within noise threshold (±4 </a:t>
                      </a:r>
                      <a:r>
                        <a:rPr lang="en-GB" dirty="0" err="1"/>
                        <a:t>px</a:t>
                      </a:r>
                      <a:r>
                        <a:rPr lang="en-GB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Successfully Recognized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951479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69AF537-6481-D1EE-0DC2-4BF5269361AE}"/>
              </a:ext>
            </a:extLst>
          </p:cNvPr>
          <p:cNvSpPr txBox="1"/>
          <p:nvPr/>
        </p:nvSpPr>
        <p:spPr>
          <a:xfrm>
            <a:off x="990600" y="1481157"/>
            <a:ext cx="5629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Gill Sans MT" panose="020B0502020104020203" pitchFamily="34" charset="0"/>
              </a:rPr>
              <a:t>Movement Recognition Test Results</a:t>
            </a:r>
          </a:p>
        </p:txBody>
      </p:sp>
    </p:spTree>
    <p:extLst>
      <p:ext uri="{BB962C8B-B14F-4D97-AF65-F5344CB8AC3E}">
        <p14:creationId xmlns:p14="http://schemas.microsoft.com/office/powerpoint/2010/main" val="19940155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Times New Roman" panose="02020603050405020304" pitchFamily="18" charset="0"/>
              </a:rPr>
              <a:t>CONCLUSION AND FUTURE WORKS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1334" y="2127766"/>
            <a:ext cx="5319839" cy="3345117"/>
          </a:xfrm>
        </p:spPr>
        <p:txBody>
          <a:bodyPr>
            <a:noAutofit/>
          </a:bodyPr>
          <a:lstStyle/>
          <a:p>
            <a:r>
              <a:rPr lang="en-GB" sz="2400" dirty="0">
                <a:latin typeface="Gill Sans MT" panose="020B0502020104020203" pitchFamily="34" charset="0"/>
              </a:rPr>
              <a:t>99.38% gesture recognition accuracy</a:t>
            </a:r>
            <a:r>
              <a:rPr lang="en-US" sz="2400" dirty="0">
                <a:latin typeface="Gill Sans MT" panose="020B0502020104020203" pitchFamily="34" charset="0"/>
              </a:rPr>
              <a:t>.</a:t>
            </a:r>
          </a:p>
          <a:p>
            <a:r>
              <a:rPr lang="en-GB" sz="2400" dirty="0">
                <a:latin typeface="Gill Sans MT" panose="020B0502020104020203" pitchFamily="34" charset="0"/>
              </a:rPr>
              <a:t>96.67% physical trial accuracy</a:t>
            </a:r>
            <a:r>
              <a:rPr lang="en-US" sz="2400" dirty="0">
                <a:latin typeface="Gill Sans MT" panose="020B0502020104020203" pitchFamily="34" charset="0"/>
              </a:rPr>
              <a:t>.</a:t>
            </a:r>
          </a:p>
          <a:p>
            <a:r>
              <a:rPr lang="en-GB" sz="2400" dirty="0">
                <a:latin typeface="Gill Sans MT" panose="020B0502020104020203" pitchFamily="34" charset="0"/>
              </a:rPr>
              <a:t>Successful human movement prediction</a:t>
            </a:r>
            <a:r>
              <a:rPr lang="en-US" sz="2400" dirty="0">
                <a:latin typeface="Gill Sans MT" panose="020B0502020104020203" pitchFamily="34" charset="0"/>
              </a:rPr>
              <a:t>.</a:t>
            </a:r>
          </a:p>
          <a:p>
            <a:r>
              <a:rPr lang="en-GB" sz="2400" dirty="0">
                <a:latin typeface="Gill Sans MT" panose="020B0502020104020203" pitchFamily="34" charset="0"/>
              </a:rPr>
              <a:t>ROS 2 integration achieved</a:t>
            </a:r>
            <a:r>
              <a:rPr lang="en-US" sz="2400" dirty="0">
                <a:latin typeface="Gill Sans MT" panose="020B0502020104020203" pitchFamily="34" charset="0"/>
              </a:rPr>
              <a:t>.</a:t>
            </a:r>
          </a:p>
          <a:p>
            <a:r>
              <a:rPr lang="en-GB" sz="2400" dirty="0">
                <a:latin typeface="Gill Sans MT" panose="020B0502020104020203" pitchFamily="34" charset="0"/>
              </a:rPr>
              <a:t>SLAM and Nav2 validated</a:t>
            </a:r>
          </a:p>
          <a:p>
            <a:r>
              <a:rPr lang="en-GB" sz="2400" dirty="0">
                <a:latin typeface="Gill Sans MT" panose="020B0502020104020203" pitchFamily="34" charset="0"/>
              </a:rPr>
              <a:t>Real-time edge operation achieved</a:t>
            </a:r>
          </a:p>
          <a:p>
            <a:r>
              <a:rPr lang="en-GB" sz="2400" dirty="0">
                <a:latin typeface="Gill Sans MT" panose="020B0502020104020203" pitchFamily="34" charset="0"/>
              </a:rPr>
              <a:t>Safe obstacle detection implemented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7686" y="1943100"/>
            <a:ext cx="4727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04207" y="1527601"/>
            <a:ext cx="44332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Gill Sans MT" panose="020B0502020104020203" pitchFamily="34" charset="0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8385" y="2127766"/>
            <a:ext cx="519088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Multi-waypoint autonomous navigation</a:t>
            </a:r>
            <a:r>
              <a:rPr lang="en-US" sz="2400" dirty="0">
                <a:solidFill>
                  <a:schemeClr val="bg1"/>
                </a:solidFill>
                <a:latin typeface="Gill Sans MT" panose="020B0502020104020203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Proactive human-aware navigation</a:t>
            </a:r>
            <a:r>
              <a:rPr lang="en-US" sz="2400" dirty="0">
                <a:solidFill>
                  <a:schemeClr val="bg1"/>
                </a:solidFill>
                <a:latin typeface="Gill Sans MT" panose="020B0502020104020203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Follow-to-Map exploration</a:t>
            </a:r>
            <a:r>
              <a:rPr lang="en-US" sz="2400" dirty="0">
                <a:solidFill>
                  <a:schemeClr val="bg1"/>
                </a:solidFill>
                <a:latin typeface="Gill Sans MT" panose="020B0502020104020203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NPU acceleration for AI tasks</a:t>
            </a:r>
            <a:r>
              <a:rPr lang="en-US" sz="2400" dirty="0">
                <a:solidFill>
                  <a:schemeClr val="bg1"/>
                </a:solidFill>
                <a:latin typeface="Gill Sans MT" panose="020B0502020104020203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Improved gimbal–chassis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Multi-sensor safety detection</a:t>
            </a:r>
            <a:endParaRPr lang="en-US" sz="2400" dirty="0">
              <a:solidFill>
                <a:schemeClr val="bg1"/>
              </a:solidFill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  <a:latin typeface="Gill Sans MT" panose="020B0502020104020203" pitchFamily="34" charset="0"/>
              </a:rPr>
              <a:t>Larger and more diverse testing</a:t>
            </a:r>
            <a:r>
              <a:rPr lang="en-US" sz="2400" dirty="0">
                <a:solidFill>
                  <a:schemeClr val="bg1"/>
                </a:solidFill>
                <a:latin typeface="Gill Sans MT" panose="020B0502020104020203" pitchFamily="34" charset="0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19232" y="1527601"/>
            <a:ext cx="3829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Gill Sans MT" panose="020B0502020104020203" pitchFamily="34" charset="0"/>
              </a:rPr>
              <a:t>Future</a:t>
            </a:r>
            <a:r>
              <a:rPr lang="en-US" sz="2400" b="1" dirty="0">
                <a:solidFill>
                  <a:schemeClr val="bg1"/>
                </a:solidFill>
              </a:rPr>
              <a:t> works</a:t>
            </a:r>
          </a:p>
        </p:txBody>
      </p:sp>
    </p:spTree>
    <p:extLst>
      <p:ext uri="{BB962C8B-B14F-4D97-AF65-F5344CB8AC3E}">
        <p14:creationId xmlns:p14="http://schemas.microsoft.com/office/powerpoint/2010/main" val="23251719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latin typeface="Gill Sans MT" panose="020B0502020104020203" pitchFamily="34" charset="0"/>
                <a:cs typeface="Times New Roman" panose="02020603050405020304" pitchFamily="18" charset="0"/>
              </a:rPr>
              <a:t>REFERENCES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latin typeface="Gill Sans MT" panose="020B0502020104020203" pitchFamily="34" charset="0"/>
              </a:rPr>
              <a:t>[1]</a:t>
            </a:r>
            <a:r>
              <a:rPr lang="en-US" sz="2000" dirty="0">
                <a:latin typeface="Gill Sans MT" panose="020B0502020104020203" pitchFamily="34" charset="0"/>
              </a:rPr>
              <a:t> D. </a:t>
            </a:r>
            <a:r>
              <a:rPr lang="en-US" sz="2000" dirty="0" err="1">
                <a:latin typeface="Gill Sans MT" panose="020B0502020104020203" pitchFamily="34" charset="0"/>
              </a:rPr>
              <a:t>Tsitos</a:t>
            </a:r>
            <a:r>
              <a:rPr lang="en-US" sz="2000" dirty="0">
                <a:latin typeface="Gill Sans MT" panose="020B0502020104020203" pitchFamily="34" charset="0"/>
              </a:rPr>
              <a:t> </a:t>
            </a:r>
            <a:r>
              <a:rPr lang="en-US" sz="2000" i="1" dirty="0">
                <a:latin typeface="Gill Sans MT" panose="020B0502020104020203" pitchFamily="34" charset="0"/>
              </a:rPr>
              <a:t>et al</a:t>
            </a:r>
            <a:r>
              <a:rPr lang="en-US" sz="2000" dirty="0">
                <a:latin typeface="Gill Sans MT" panose="020B0502020104020203" pitchFamily="34" charset="0"/>
              </a:rPr>
              <a:t>., “Real-Time Feasibility of a Human Intention Prediction Method Evaluated Through a Competitive Human–Robot Reaching Game,” </a:t>
            </a:r>
            <a:r>
              <a:rPr lang="en-US" sz="2000" i="1" dirty="0">
                <a:latin typeface="Gill Sans MT" panose="020B0502020104020203" pitchFamily="34" charset="0"/>
              </a:rPr>
              <a:t>IEEE Robotics and Automation Letters</a:t>
            </a:r>
            <a:r>
              <a:rPr lang="en-US" sz="2000" dirty="0">
                <a:latin typeface="Gill Sans MT" panose="020B0502020104020203" pitchFamily="34" charset="0"/>
              </a:rPr>
              <a:t>, vol. 7, no. 4, pp. 10034–10041, Oct. 2022.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latin typeface="Gill Sans MT" panose="020B0502020104020203" pitchFamily="34" charset="0"/>
              </a:rPr>
              <a:t>[2]</a:t>
            </a:r>
            <a:r>
              <a:rPr lang="en-US" sz="2000" dirty="0">
                <a:latin typeface="Gill Sans MT" panose="020B0502020104020203" pitchFamily="34" charset="0"/>
              </a:rPr>
              <a:t> J. A. Mahmud, B. C. Das, J. Shin, K. M. </a:t>
            </a:r>
            <a:r>
              <a:rPr lang="en-US" sz="2000" dirty="0" err="1">
                <a:latin typeface="Gill Sans MT" panose="020B0502020104020203" pitchFamily="34" charset="0"/>
              </a:rPr>
              <a:t>Hasib</a:t>
            </a:r>
            <a:r>
              <a:rPr lang="en-US" sz="2000" dirty="0">
                <a:latin typeface="Gill Sans MT" panose="020B0502020104020203" pitchFamily="34" charset="0"/>
              </a:rPr>
              <a:t>, R. </a:t>
            </a:r>
            <a:r>
              <a:rPr lang="en-US" sz="2000" dirty="0" err="1">
                <a:latin typeface="Gill Sans MT" panose="020B0502020104020203" pitchFamily="34" charset="0"/>
              </a:rPr>
              <a:t>Sadik</a:t>
            </a:r>
            <a:r>
              <a:rPr lang="en-US" sz="2000" dirty="0">
                <a:latin typeface="Gill Sans MT" panose="020B0502020104020203" pitchFamily="34" charset="0"/>
              </a:rPr>
              <a:t>, and M. F. </a:t>
            </a:r>
            <a:r>
              <a:rPr lang="en-US" sz="2000" dirty="0" err="1">
                <a:latin typeface="Gill Sans MT" panose="020B0502020104020203" pitchFamily="34" charset="0"/>
              </a:rPr>
              <a:t>Mridha</a:t>
            </a:r>
            <a:r>
              <a:rPr lang="en-US" sz="2000" dirty="0">
                <a:latin typeface="Gill Sans MT" panose="020B0502020104020203" pitchFamily="34" charset="0"/>
              </a:rPr>
              <a:t>, “3D Gesture Recognition and Adaptation for Human–Robot Interaction,” </a:t>
            </a:r>
            <a:r>
              <a:rPr lang="en-US" sz="2000" i="1" dirty="0">
                <a:latin typeface="Gill Sans MT" panose="020B0502020104020203" pitchFamily="34" charset="0"/>
              </a:rPr>
              <a:t>IEEE Access</a:t>
            </a:r>
            <a:r>
              <a:rPr lang="en-US" sz="2000" dirty="0">
                <a:latin typeface="Gill Sans MT" panose="020B0502020104020203" pitchFamily="34" charset="0"/>
              </a:rPr>
              <a:t>, vol. 10, pp. 116485–116507, 2022.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latin typeface="Gill Sans MT" panose="020B0502020104020203" pitchFamily="34" charset="0"/>
              </a:rPr>
              <a:t>[3]</a:t>
            </a:r>
            <a:r>
              <a:rPr lang="en-US" sz="2000" dirty="0">
                <a:latin typeface="Gill Sans MT" panose="020B0502020104020203" pitchFamily="34" charset="0"/>
              </a:rPr>
              <a:t> G. Yang, S. Wang, H. Okamura, Y. Ueda, T. </a:t>
            </a:r>
            <a:r>
              <a:rPr lang="en-US" sz="2000" dirty="0" err="1">
                <a:latin typeface="Gill Sans MT" panose="020B0502020104020203" pitchFamily="34" charset="0"/>
              </a:rPr>
              <a:t>Yasui</a:t>
            </a:r>
            <a:r>
              <a:rPr lang="en-US" sz="2000" dirty="0">
                <a:latin typeface="Gill Sans MT" panose="020B0502020104020203" pitchFamily="34" charset="0"/>
              </a:rPr>
              <a:t>, T. Yamada, Y. Miyazawa, S. Yoshida, Y. Inada, S. </a:t>
            </a:r>
            <a:r>
              <a:rPr lang="en-US" sz="2000" dirty="0" err="1">
                <a:latin typeface="Gill Sans MT" panose="020B0502020104020203" pitchFamily="34" charset="0"/>
              </a:rPr>
              <a:t>Ino</a:t>
            </a:r>
            <a:r>
              <a:rPr lang="en-US" sz="2000" dirty="0">
                <a:latin typeface="Gill Sans MT" panose="020B0502020104020203" pitchFamily="34" charset="0"/>
              </a:rPr>
              <a:t>, K. </a:t>
            </a:r>
            <a:r>
              <a:rPr lang="en-US" sz="2000" dirty="0" err="1">
                <a:latin typeface="Gill Sans MT" panose="020B0502020104020203" pitchFamily="34" charset="0"/>
              </a:rPr>
              <a:t>Okuhata</a:t>
            </a:r>
            <a:r>
              <a:rPr lang="en-US" sz="2000" dirty="0">
                <a:latin typeface="Gill Sans MT" panose="020B0502020104020203" pitchFamily="34" charset="0"/>
              </a:rPr>
              <a:t>, and Y. </a:t>
            </a:r>
            <a:r>
              <a:rPr lang="en-US" sz="2000" dirty="0" err="1">
                <a:latin typeface="Gill Sans MT" panose="020B0502020104020203" pitchFamily="34" charset="0"/>
              </a:rPr>
              <a:t>Mizobuchi</a:t>
            </a:r>
            <a:r>
              <a:rPr lang="en-US" sz="2000" dirty="0">
                <a:latin typeface="Gill Sans MT" panose="020B0502020104020203" pitchFamily="34" charset="0"/>
              </a:rPr>
              <a:t>, “Safe and Efficient Motion Planning for Material Transportation Robots Considering Intention Prediction of Obstacles,” in </a:t>
            </a:r>
            <a:r>
              <a:rPr lang="en-US" sz="2000" i="1" dirty="0">
                <a:latin typeface="Gill Sans MT" panose="020B0502020104020203" pitchFamily="34" charset="0"/>
              </a:rPr>
              <a:t>Proc. IEEE Int. Conf. Mechatronics </a:t>
            </a:r>
            <a:r>
              <a:rPr lang="en-US" sz="2000" i="1" dirty="0" err="1">
                <a:latin typeface="Gill Sans MT" panose="020B0502020104020203" pitchFamily="34" charset="0"/>
              </a:rPr>
              <a:t>Autom</a:t>
            </a:r>
            <a:r>
              <a:rPr lang="en-US" sz="2000" i="1" dirty="0">
                <a:latin typeface="Gill Sans MT" panose="020B0502020104020203" pitchFamily="34" charset="0"/>
              </a:rPr>
              <a:t>. (ICMA)</a:t>
            </a:r>
            <a:r>
              <a:rPr lang="en-US" sz="2000" dirty="0">
                <a:latin typeface="Gill Sans MT" panose="020B0502020104020203" pitchFamily="34" charset="0"/>
              </a:rPr>
              <a:t>, Harbin, China, Aug. 2023, pp. 1179–1184.</a:t>
            </a:r>
          </a:p>
          <a:p>
            <a:br/>
            <a:pPr>
              <a:defRPr sz="1600" b="1">
                <a:solidFill>
                  <a:srgbClr val="0096B4"/>
                </a:solidFill>
              </a:defRPr>
            </a:pPr>
            <a:r>
              <a:t>Thank You — Questions &amp; Discussion</a:t>
            </a:r>
            <a:br/>
            <a:r>
              <a:t>[ Transition to Live Physical Hardware Demonstration ]</a:t>
            </a:r>
          </a:p>
        </p:txBody>
      </p:sp>
    </p:spTree>
    <p:extLst>
      <p:ext uri="{BB962C8B-B14F-4D97-AF65-F5344CB8AC3E}">
        <p14:creationId xmlns:p14="http://schemas.microsoft.com/office/powerpoint/2010/main" val="1085223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3570</TotalTime>
  <Words>1359</Words>
  <Application>Microsoft Office PowerPoint</Application>
  <PresentationFormat>Widescreen</PresentationFormat>
  <Paragraphs>249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Calisto MT</vt:lpstr>
      <vt:lpstr>Gill Sans MT</vt:lpstr>
      <vt:lpstr>Wingdings</vt:lpstr>
      <vt:lpstr>Office Theme</vt:lpstr>
      <vt:lpstr>     </vt:lpstr>
      <vt:lpstr>PRESENTATION OUTLINE</vt:lpstr>
      <vt:lpstr>INTRODUCTION</vt:lpstr>
      <vt:lpstr>Problem Statement</vt:lpstr>
      <vt:lpstr>OBJECTIVES</vt:lpstr>
      <vt:lpstr>SIGNIFICANCE OF THE STUDY</vt:lpstr>
      <vt:lpstr>LITERATURE REVIEW</vt:lpstr>
      <vt:lpstr>METHODOLOGY</vt:lpstr>
      <vt:lpstr>SYSTEM ARCHITECTURE</vt:lpstr>
      <vt:lpstr>HARDWARE COMPONENTS</vt:lpstr>
      <vt:lpstr>HARDWARE COMPONENTS</vt:lpstr>
      <vt:lpstr>DATASET PREPARATION AND GESTURE RECOGNITION PIPELINE</vt:lpstr>
      <vt:lpstr>HUMAN MOVEMENT PREDICTION(LSTM)</vt:lpstr>
      <vt:lpstr>SLAM MAPPING AND LOCALISATION</vt:lpstr>
      <vt:lpstr>TESTING AND RESULTS</vt:lpstr>
      <vt:lpstr>TESTING AND RESULTS</vt:lpstr>
      <vt:lpstr>CONCLUSION AND FUTURE WORKS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</dc:creator>
  <cp:lastModifiedBy>eleana osei owusu</cp:lastModifiedBy>
  <cp:revision>291</cp:revision>
  <dcterms:created xsi:type="dcterms:W3CDTF">2020-12-21T23:45:00Z</dcterms:created>
  <dcterms:modified xsi:type="dcterms:W3CDTF">2026-09-15T16:57:16Z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6E3DABCEAFBD474A891E53D5B3EEA2E6</vt:lpwstr>
  </property>
  <property fmtid="{D5CDD505-2E9C-101B-9397-08002B2CF9AE}" pid="3" name="KSOProductBuildVer">
    <vt:lpwstr>1033-11.2.0.11486</vt:lpwstr>
  </property>
</Properties>
</file>