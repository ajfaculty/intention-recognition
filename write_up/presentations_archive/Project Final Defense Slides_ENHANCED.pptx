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578" r:id="rId3"/>
    <p:sldId id="354" r:id="rId4"/>
    <p:sldId id="555" r:id="rId5"/>
    <p:sldId id="558" r:id="rId6"/>
    <p:sldId id="573" r:id="rId7"/>
    <p:sldId id="582" r:id="rId8"/>
    <p:sldId id="562" r:id="rId9"/>
    <p:sldId id="561" r:id="rId10"/>
    <p:sldId id="583" r:id="rId11"/>
    <p:sldId id="590" r:id="rId12"/>
    <p:sldId id="585" r:id="rId13"/>
    <p:sldId id="592" r:id="rId14"/>
    <p:sldId id="584" r:id="rId15"/>
    <p:sldId id="593" r:id="rId16"/>
    <p:sldId id="594" r:id="rId17"/>
    <p:sldId id="588" r:id="rId18"/>
    <p:sldId id="569" r:id="rId19"/>
    <p:sldId id="5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EE616-86D3-4099-A968-B4A6BDE18D0F}">
          <p14:sldIdLst>
            <p14:sldId id="257"/>
            <p14:sldId id="578"/>
            <p14:sldId id="354"/>
            <p14:sldId id="555"/>
            <p14:sldId id="558"/>
            <p14:sldId id="573"/>
            <p14:sldId id="582"/>
            <p14:sldId id="562"/>
            <p14:sldId id="561"/>
            <p14:sldId id="583"/>
            <p14:sldId id="590"/>
            <p14:sldId id="585"/>
            <p14:sldId id="592"/>
            <p14:sldId id="584"/>
            <p14:sldId id="593"/>
            <p14:sldId id="594"/>
            <p14:sldId id="588"/>
            <p14:sldId id="569"/>
            <p14:sldId id="591"/>
          </p14:sldIdLst>
        </p14:section>
        <p14:section name="Untitled Section" id="{D22B2DA1-3DFA-46D2-BA1D-DAD7CC7F72F2}">
          <p14:sldIdLst/>
        </p14:section>
        <p14:section name="Untitled Section" id="{5930E777-D3D8-4E75-983C-AF214C42B1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9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DF9433-C4BD-03CD-4185-8F7C4220F16F}" name="Owusu Agyeman Antwi" initials="OA" userId="0c4d93facfc3ac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73" autoAdjust="0"/>
    <p:restoredTop sz="95179" autoAdjust="0"/>
  </p:normalViewPr>
  <p:slideViewPr>
    <p:cSldViewPr snapToGrid="0">
      <p:cViewPr>
        <p:scale>
          <a:sx n="80" d="100"/>
          <a:sy n="80" d="100"/>
        </p:scale>
        <p:origin x="1075" y="168"/>
      </p:cViewPr>
      <p:guideLst>
        <p:guide orient="horz" pos="219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482A5-FD59-4225-A350-DA787E19AAD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E7C8E-9966-49AA-A950-642A59F8B08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E7C8E-9966-49AA-A950-642A59F8B08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334C30-18F6-499E-B529-FBBBA5BA860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6EBCE5-9DE5-46EE-9318-4795EB416EE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1712913" y="3832225"/>
            <a:ext cx="9186862" cy="17986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65C8B60-5CF0-444C-8758-FD6AA4E3BF27}" type="datetime1">
              <a:rPr lang="en-GB" smtClean="0"/>
              <a:t>15/09/2026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....Linking Learners Everywhere 2013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DF291AF-424A-45FD-966C-A7A9D7595FC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334533"/>
            <a:ext cx="3309258" cy="31870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12192000" cy="6176963"/>
          </a:xfrm>
          <a:prstGeom prst="rect">
            <a:avLst/>
          </a:prstGeom>
          <a:solidFill>
            <a:srgbClr val="FFFFCC">
              <a:alpha val="8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9144000" cy="1857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9144000" y="0"/>
            <a:ext cx="3048000" cy="18573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10550" y="6176963"/>
            <a:ext cx="3981450" cy="6849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57348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73486" y="0"/>
            <a:ext cx="348343" cy="685800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897880" y="365760"/>
            <a:ext cx="5852160" cy="612648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 lIns="182880" rIns="182880"/>
          <a:lstStyle/>
          <a:p>
            <a:pPr algn="ctr">
              <a:lnSpc>
                <a:spcPct val="150000"/>
              </a:lnSpc>
              <a:spcAft>
                <a:spcPts val="100"/>
              </a:spcAft>
              <a:defRPr sz="1200" b="1" i="0"/>
            </a:pPr>
            <a:r>
              <a:t>FACULTY OF ENGINEERING</a:t>
            </a:r>
          </a:p>
          <a:p>
            <a:pPr>
              <a:spcAft>
                <a:spcPts val="1000"/>
              </a:spcAft>
              <a:defRPr sz="1200" b="1" i="0"/>
            </a:pPr>
            <a:r>
              <a:t>DEPARTMENT OF COMPUTER ENGINEERING</a:t>
            </a:r>
          </a:p>
          <a:p>
            <a:pPr>
              <a:spcAft>
                <a:spcPts val="1000"/>
              </a:spcAft>
              <a:defRPr sz="1400" b="1" i="0"/>
            </a:pPr>
            <a:r>
              <a:t>DEVELOPMENT AND IMPLEMENTATION OF A ROBOTIC APPLICATION FOR HUMAN INTENTION RECOGNITION USING MOTION AND HAND GESTURE</a:t>
            </a:r>
          </a:p>
          <a:p>
            <a:pPr>
              <a:spcAft>
                <a:spcPts val="1400"/>
              </a:spcAft>
              <a:defRPr sz="1050" b="0" i="1"/>
            </a:pPr>
            <a:r>
              <a:t>A Final Project Report Submitted in Partial Fulfillment of the Requirements for the Degree of BSc. Computer Engineering</a:t>
            </a:r>
          </a:p>
          <a:p>
            <a:pPr>
              <a:spcAft>
                <a:spcPts val="100"/>
              </a:spcAft>
              <a:defRPr sz="1100" b="1" i="0"/>
            </a:pPr>
            <a:r>
              <a:t>PRESENTED BY:</a:t>
            </a:r>
          </a:p>
          <a:p>
            <a:pPr>
              <a:spcAft>
                <a:spcPts val="100"/>
              </a:spcAft>
              <a:defRPr sz="1100" b="0" i="0"/>
            </a:pPr>
            <a:r>
              <a:t>ELEANA OSEI OWUSU — 4121230024</a:t>
            </a:r>
          </a:p>
          <a:p>
            <a:pPr>
              <a:spcAft>
                <a:spcPts val="1000"/>
              </a:spcAft>
              <a:defRPr sz="1100" b="0" i="0"/>
            </a:pPr>
            <a:r>
              <a:t>JOEL NII ADJETEY AHULU — 4121230020</a:t>
            </a:r>
          </a:p>
          <a:p>
            <a:pPr>
              <a:spcAft>
                <a:spcPts val="0"/>
              </a:spcAft>
              <a:defRPr sz="1100" b="1" i="0"/>
            </a:pPr>
            <a:r>
              <a:t>SUPERVISOR: MR. MICHEAL XENYA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829" y="5943600"/>
            <a:ext cx="6008913" cy="575187"/>
          </a:xfrm>
        </p:spPr>
        <p:txBody>
          <a:bodyPr>
            <a:normAutofit fontScale="90000"/>
          </a:bodyPr>
          <a:lstStyle/>
          <a:p>
            <a:pPr lvl="0" fontAlgn="base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1100"/>
            </a:pP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 </a:t>
            </a:r>
            <a:endParaRPr lang="en-US" sz="32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60" y="2658358"/>
            <a:ext cx="3995365" cy="36293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14" y="210215"/>
            <a:ext cx="5846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Gill Sans MT" panose="020B0502020104020203" pitchFamily="34" charset="0"/>
                <a:ea typeface="Tahoma" panose="020B0604030504040204" pitchFamily="34" charset="0"/>
                <a:cs typeface="Arial" panose="020B0604020202020204" pitchFamily="34" charset="0"/>
              </a:rPr>
              <a:t>GHANA COMMUNICATION TECHNOLOGY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PRESENTATION OUTLINE</a:t>
            </a:r>
            <a:endParaRPr lang="en-US" dirty="0">
              <a:solidFill>
                <a:srgbClr val="FF0000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601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 i="0"/>
            </a:pPr>
            <a:r>
              <a:t>01. INTRODUCTION &amp; PROBLEM CONTEXT</a:t>
            </a:r>
          </a:p>
          <a:p>
            <a:pPr>
              <a:spcAft>
                <a:spcPts val="500"/>
              </a:spcAft>
              <a:defRPr sz="1000" b="0" i="1"/>
            </a:pPr>
            <a:r>
              <a:t>     • Motivation, Problem Statement, Objectives &amp; ERQs</a:t>
            </a:r>
          </a:p>
          <a:p>
            <a:pPr>
              <a:spcAft>
                <a:spcPts val="100"/>
              </a:spcAft>
              <a:defRPr sz="1200" b="1" i="0"/>
            </a:pPr>
            <a:r>
              <a:t>02. LITERATURE REVIEW &amp; RESEARCH GAPS</a:t>
            </a:r>
          </a:p>
          <a:p>
            <a:pPr>
              <a:spcAft>
                <a:spcPts val="500"/>
              </a:spcAft>
              <a:defRPr sz="1000" b="0" i="1"/>
            </a:pPr>
            <a:r>
              <a:t>     • Benchmark Studies (Tsitos, Mahmud, Li) &amp; The Central Gap</a:t>
            </a:r>
          </a:p>
          <a:p>
            <a:pPr>
              <a:spcAft>
                <a:spcPts val="100"/>
              </a:spcAft>
              <a:defRPr sz="1200" b="1" i="0"/>
            </a:pPr>
            <a:r>
              <a:t>03. SYSTEM ARCHITECTURE &amp; METHODOLOGY</a:t>
            </a:r>
          </a:p>
          <a:p>
            <a:pPr>
              <a:spcAft>
                <a:spcPts val="500"/>
              </a:spcAft>
              <a:defRPr sz="1000" b="0" i="1"/>
            </a:pPr>
            <a:r>
              <a:t>     • Mechatronic Hardware, 19-D Feature MLP, LSTM, Nav2/SLAM</a:t>
            </a:r>
          </a:p>
          <a:p>
            <a:pPr>
              <a:spcAft>
                <a:spcPts val="100"/>
              </a:spcAft>
              <a:defRPr sz="1200" b="1" i="0"/>
            </a:pPr>
            <a:r>
              <a:t>04. EXPERIMENTAL VALIDATION &amp; RESULTS</a:t>
            </a:r>
          </a:p>
          <a:p>
            <a:pPr>
              <a:spcAft>
                <a:spcPts val="500"/>
              </a:spcAft>
              <a:defRPr sz="1000" b="0" i="1"/>
            </a:pPr>
            <a:r>
              <a:t>     • Latency Budget (&lt;75 ms), Confusion Matrix &amp; Locomotion Trials</a:t>
            </a:r>
          </a:p>
          <a:p>
            <a:pPr>
              <a:spcAft>
                <a:spcPts val="100"/>
              </a:spcAft>
              <a:defRPr sz="1200" b="1" i="0"/>
            </a:pPr>
            <a:r>
              <a:t>05. CONCLUSION &amp; RECOMMENDATIONS</a:t>
            </a:r>
          </a:p>
          <a:p>
            <a:pPr>
              <a:spcAft>
                <a:spcPts val="500"/>
              </a:spcAft>
              <a:defRPr sz="1000" b="0" i="1"/>
            </a:pPr>
            <a:r>
              <a:t>     • Summary of Contributions, ISO 15066 Compliance &amp;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68092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0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sym typeface="+mn-ea"/>
              </a:rPr>
              <a:t>INTRODUCTION</a:t>
            </a:r>
            <a:endParaRPr lang="en-GB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49387" y="687250"/>
            <a:ext cx="6776404" cy="571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Human–Robot Interaction (HRI)</a:t>
            </a:r>
            <a:r>
              <a:rPr lang="en-GB" sz="2400" dirty="0">
                <a:latin typeface="Gill Sans MT" panose="020B0502020104020203" pitchFamily="34" charset="0"/>
              </a:rPr>
              <a:t> enables robots to understand and respond to human actions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Gestures and body movements</a:t>
            </a:r>
            <a:r>
              <a:rPr lang="en-GB" sz="2400" dirty="0">
                <a:latin typeface="Gill Sans MT" panose="020B0502020104020203" pitchFamily="34" charset="0"/>
              </a:rPr>
              <a:t> provide natural, contactless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Vision-based systems</a:t>
            </a:r>
            <a:r>
              <a:rPr lang="en-GB" sz="2400" dirty="0">
                <a:latin typeface="Gill Sans MT" panose="020B0502020104020203" pitchFamily="34" charset="0"/>
              </a:rPr>
              <a:t> can require high computing power.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Edge computing</a:t>
            </a:r>
            <a:r>
              <a:rPr lang="en-GB" sz="2400" dirty="0">
                <a:latin typeface="Gill Sans MT" panose="020B0502020104020203" pitchFamily="34" charset="0"/>
              </a:rPr>
              <a:t> supports real-time processing on low-power robots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This project combines </a:t>
            </a:r>
            <a:r>
              <a:rPr lang="en-GB" sz="2400" b="1" dirty="0">
                <a:latin typeface="Gill Sans MT" panose="020B0502020104020203" pitchFamily="34" charset="0"/>
              </a:rPr>
              <a:t>intention recognition, environmental awareness, and navigation</a:t>
            </a:r>
            <a:r>
              <a:rPr lang="en-GB" sz="2400" dirty="0">
                <a:latin typeface="Gill Sans MT" panose="020B0502020104020203" pitchFamily="34" charset="0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50" y="1084332"/>
            <a:ext cx="2840304" cy="16912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68950" y="2880764"/>
            <a:ext cx="2751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1: Autonomous Mobile Robot Performing Navigation Tasks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50" y="3736037"/>
            <a:ext cx="2840304" cy="18263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96120" y="5562354"/>
            <a:ext cx="3173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2: Human Interaction with an Autonomous Mobile Robot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557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Gill Sans MT" panose="020B0502020104020203" pitchFamily="34" charset="0"/>
              </a:rPr>
              <a:t>Problem Statement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13440" y="1162691"/>
            <a:ext cx="11475148" cy="438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  <a:buFont typeface="Wingdings" panose="05000000000000000000" pitchFamily="2" charset="2"/>
              <a:buChar char="§"/>
              <a:defRPr sz="1050" b="0" i="0"/>
            </a:pPr>
            <a:r>
              <a:t>• High-Power Hardware &amp; Cloud Latency: Offboard cloud vision introduces unpredictable latency (&gt;200 ms) and connection drops, violating real-time robotic safety reaction limits (Tsitos et al., 2022).</a:t>
            </a:r>
          </a:p>
          <a:p>
            <a:pPr>
              <a:spcAft>
                <a:spcPts val="500"/>
              </a:spcAft>
              <a:defRPr sz="1050" b="0" i="0"/>
            </a:pPr>
            <a:r>
              <a:t>• Spatial Distance Domain Shift: Classifiers evaluating raw pixel coordinates degrade as operator distance varies (1.0m to 2.5m) due to optical perspective scaling.</a:t>
            </a:r>
          </a:p>
          <a:p>
            <a:pPr>
              <a:spcAft>
                <a:spcPts val="500"/>
              </a:spcAft>
              <a:defRPr sz="1050" b="0" i="0"/>
            </a:pPr>
            <a:r>
              <a:t>• Ungrounded Spatial Command Execution: Executing recognized gestures blindly without continuous 360° laser mapping and obstacle verification presents severe collision hazards in shared indoor workspaces.</a:t>
            </a:r>
          </a:p>
          <a:p>
            <a:pPr>
              <a:spcAft>
                <a:spcPts val="500"/>
              </a:spcAft>
              <a:defRPr sz="1050" b="0" i="0"/>
            </a:pPr>
            <a:r>
              <a:t>• Collaborative Safety Compliance: International standards (ISO 15066:2016) mandate speed and separation monitoring, requiring guaranteed deterministic halting distances (&lt;0.45m).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043"/>
            <a:ext cx="10515600" cy="819863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OBJECTIVES</a:t>
            </a:r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665" y="760902"/>
            <a:ext cx="11420670" cy="4833355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70000"/>
              </a:lnSpc>
              <a:spcAft>
                <a:spcPts val="100"/>
              </a:spcAft>
              <a:buNone/>
              <a:defRPr sz="1200" b="1" i="0"/>
            </a:pPr>
            <a:r>
              <a:t>General Objective:</a:t>
            </a:r>
          </a:p>
          <a:p>
            <a:pPr>
              <a:spcAft>
                <a:spcPts val="500"/>
              </a:spcAft>
              <a:defRPr sz="1000" b="0" i="0"/>
            </a:pPr>
            <a:r>
              <a:t>To design, implement and evaluate an edge-based real-time human intention recognition system integrating hand gestures and autonomous navigation using ROS 2.</a:t>
            </a:r>
          </a:p>
          <a:p>
            <a:pPr>
              <a:spcAft>
                <a:spcPts val="100"/>
              </a:spcAft>
              <a:defRPr sz="1200" b="1" i="0"/>
            </a:pPr>
            <a:r>
              <a:t>Specific Objectives: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design and implement an edge-optimized vision pipeline using 19 scale-invariant geometric hand features.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construct and balance a custom 6,000-sample gesture dataset captured directly through the onboard camera.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develop an LSTM sequential recurrent model for short-horizon human trajectory prediction.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implement a deterministic supervisory decision node (brain_node) with rolling consensus and visual servoing.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configure and validate LiDAR SLAM and Nav2 autonomous navigation for collision-free trajectory execution.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quantitatively evaluate latency budgets (&lt;150 ms), classification accuracy, and real-time physical throughput.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17077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SIGNIFICANCE OF THE STUDY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92504" y="1607587"/>
            <a:ext cx="5489732" cy="413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Reduces dependence on cloud computing.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Enables contactless robot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Supports industrial and healthcare applications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Improves human–robot interaction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Enables AI processing on edge devices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172915" y="365124"/>
            <a:ext cx="41707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RESEARCH GAPS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024283" y="1275188"/>
            <a:ext cx="56589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Existing systems often treat recognition and navigation separately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Some systems depend on cloud or powerful GPUs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Some lack environmental awareness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Few combine intention recognition with navigation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his study integrates these functions on an edge robot</a:t>
            </a: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28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990"/>
            <a:ext cx="10515600" cy="3563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LITERATURE REVIEW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9">
            <a:extLst>
              <a:ext uri="{FF2B5EF4-FFF2-40B4-BE49-F238E27FC236}">
                <a16:creationId xmlns:a16="http://schemas.microsoft.com/office/drawing/2014/main" id="{74CCF805-37EF-E112-FBAC-310846B1C1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100974"/>
              </p:ext>
            </p:extLst>
          </p:nvPr>
        </p:nvGraphicFramePr>
        <p:xfrm>
          <a:off x="0" y="798232"/>
          <a:ext cx="12192000" cy="683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146983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3337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41573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75319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821914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99741698"/>
                    </a:ext>
                  </a:extLst>
                </a:gridCol>
              </a:tblGrid>
              <a:tr h="1016279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Ref / Year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Topic 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Identified Gaps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3023142071"/>
                  </a:ext>
                </a:extLst>
              </a:tr>
              <a:tr h="1015439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202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H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 err="1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Tsitos</a:t>
                      </a:r>
                      <a:r>
                        <a:rPr lang="en-US" sz="1600" b="0" baseline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i="0" dirty="0">
                          <a:latin typeface="Gill Sans MT" panose="020B0502020104020203" pitchFamily="34" charset="0"/>
                        </a:rPr>
                        <a:t>Real-time Feasibility of a Human Intention Method Evaluated Through a Competitive Human-Robot Reaching Game </a:t>
                      </a:r>
                      <a:endParaRPr lang="en-US" sz="1600" b="0" i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Predict human intention in real time using a single RGB-D camera.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 err="1">
                          <a:latin typeface="Gill Sans MT" panose="020B0502020104020203" pitchFamily="34" charset="0"/>
                        </a:rPr>
                        <a:t>OpenPose</a:t>
                      </a: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, RGB-D camera, ML models, ROS, UR3 robot.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Stationary UR3 arm without mobile base navigation or explicit gesture command channel.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3751888764"/>
                  </a:ext>
                </a:extLst>
              </a:tr>
              <a:tr h="1721169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] 2022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Mahmud et al.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3D Gesture Recognition and Adaptation for Human–Robot Interaction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Recognize 3D gestures for robot control.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Kinect, HMM, SVM, CNN, robot navigation.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Restricted to proprietary Kinect sensor; navigation evaluated only in simulation without physical latency or wheel slip.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437792960"/>
                  </a:ext>
                </a:extLst>
              </a:tr>
              <a:tr h="1721169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GH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GH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] 2023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Yang et al. / Li et al.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Safe and Efficient Motion Planning for Material Transportation Robots Considering Intention Prediction of Obstacles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Predict obstacle intentions for safe navigation.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Object detection, </a:t>
                      </a:r>
                      <a:r>
                        <a:rPr lang="en-US" sz="1600" b="0" dirty="0" err="1">
                          <a:latin typeface="Gill Sans MT" panose="020B0502020104020203" pitchFamily="34" charset="0"/>
                        </a:rPr>
                        <a:t>ReLU</a:t>
                      </a: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 intention model, Nav2, ROS2.</a:t>
                      </a:r>
                      <a:endParaRPr lang="it-IT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Simulation only (Isaac Sim); predicts obstacle clearance but lacks touchless human supervisory control.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3596178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233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SYSTEM DESIGN &amp; ENGINEERING METHODOLOGY</a:t>
            </a:r>
          </a:p>
        </p:txBody>
      </p:sp>
      <p:pic>
        <p:nvPicPr>
          <p:cNvPr id="3" name="Picture 2" descr="fig_accepted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5912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58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D8E2-4F8C-64A5-14D0-AC29A3DF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822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SYSTEM ARCHITECTURE</a:t>
            </a:r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6607" y="1347570"/>
            <a:ext cx="4110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50"/>
            </a:pPr>
            <a:r>
              <a:t>Figure 3: Hardware Architecture and Signal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5633" y="1324948"/>
            <a:ext cx="4672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4: System Architecture</a:t>
            </a:r>
            <a:r>
              <a:rPr lang="en-US" sz="1600" b="1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0D439D8-3DD7-A512-4F51-A5E2EF81A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7432A-6B93-6BEF-EC0C-DACEA3FFF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9" y="1719054"/>
            <a:ext cx="4849962" cy="4244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8C4A33-BC46-51C1-A37B-47FF211A8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127" y="1700511"/>
            <a:ext cx="4446919" cy="439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0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C196-7822-1619-511D-B2A65A25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HARDWARE COMPONENTS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E927E-D13E-2096-04CB-807BAECCF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0989" y="930615"/>
            <a:ext cx="2748148" cy="3104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9D6DFF-D01C-6DD9-58FF-4B963D70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922" y="1665572"/>
            <a:ext cx="3308410" cy="2054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A77C19-7558-1A87-1DF0-51C58595C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33" y="1197549"/>
            <a:ext cx="3446092" cy="2765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251" y="3966684"/>
            <a:ext cx="3004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  <a:defRPr sz="950" b="1" i="0"/>
            </a:pPr>
            <a:r>
              <a:t>Figure 5: Raspberry Pi 5 (8GB RAM)</a:t>
            </a:r>
          </a:p>
          <a:p>
            <a:pPr>
              <a:spcAft>
                <a:spcPts val="0"/>
              </a:spcAft>
              <a:defRPr sz="850" b="0" i="0"/>
            </a:pPr>
            <a:r>
              <a:t>Edge SBC running ROS 2 Humble, MediaPipe, 19-D MLP, and SLAM/Nav2 directly onboard at 28.4 FPS on CPU.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1222" y="3963084"/>
            <a:ext cx="315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  <a:defRPr sz="950" b="1" i="0"/>
            </a:pPr>
            <a:r>
              <a:t>Figure 6: USB Monocular Camera</a:t>
            </a:r>
          </a:p>
          <a:p>
            <a:pPr>
              <a:spcAft>
                <a:spcPts val="0"/>
              </a:spcAft>
              <a:defRPr sz="850" b="0" i="0"/>
            </a:pPr>
            <a:r>
              <a:t>Captures 640x480 RGB frames at 30 FPS for gesture classification and active gimbal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7314" y="3843573"/>
            <a:ext cx="2824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  <a:defRPr sz="950" b="1" i="0"/>
            </a:pPr>
            <a:r>
              <a:t>Figure 7: MS200 2D Planar LiDAR</a:t>
            </a:r>
          </a:p>
          <a:p>
            <a:pPr>
              <a:spcAft>
                <a:spcPts val="0"/>
              </a:spcAft>
              <a:defRPr sz="850" b="0" i="0"/>
            </a:pPr>
            <a:r>
              <a:t>Provides 360° laser scans at 10 Hz up to 12m for SLAM and triggers the 0.36m ISO 15066 safety halt.</a:t>
            </a:r>
          </a:p>
        </p:txBody>
      </p:sp>
    </p:spTree>
    <p:extLst>
      <p:ext uri="{BB962C8B-B14F-4D97-AF65-F5344CB8AC3E}">
        <p14:creationId xmlns:p14="http://schemas.microsoft.com/office/powerpoint/2010/main" val="3923374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HARDWARE COMPONENTS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8F9334-CA17-7C1E-5C7F-80FB4D292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5185" y="1594847"/>
            <a:ext cx="2387799" cy="2460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0038" y="3783435"/>
            <a:ext cx="2978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  <a:defRPr sz="950" b="1" i="0"/>
            </a:pPr>
            <a:r>
              <a:t>Figure 8: Dual-Bus Power Regulation</a:t>
            </a:r>
          </a:p>
          <a:p>
            <a:pPr>
              <a:spcAft>
                <a:spcPts val="0"/>
              </a:spcAft>
              <a:defRPr sz="850" b="0" i="0"/>
            </a:pPr>
            <a:r>
              <a:t>7.4V 2S Li-ion battery pack with decoupled DC regulation isolating Pi 5 logic from motor current spikes.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3277" y="3783435"/>
            <a:ext cx="3271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  <a:defRPr sz="950" b="1" i="0"/>
            </a:pPr>
            <a:r>
              <a:t>Figure 9: Yahboom 4WD Mobile Chassis</a:t>
            </a:r>
          </a:p>
          <a:p>
            <a:pPr>
              <a:spcAft>
                <a:spcPts val="0"/>
              </a:spcAft>
              <a:defRPr sz="850" b="0" i="0"/>
            </a:pPr>
            <a:r>
              <a:t>Differential-drive chassis with four geared DC motors and optical quadrature encoders.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5BC267-0746-F9FF-FAA0-95FDE574A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983" y="1085092"/>
            <a:ext cx="3384883" cy="3384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59386E-ECF3-BB3F-4F1E-CA90D9A6DCB5}"/>
              </a:ext>
            </a:extLst>
          </p:cNvPr>
          <p:cNvSpPr txBox="1"/>
          <p:nvPr/>
        </p:nvSpPr>
        <p:spPr>
          <a:xfrm>
            <a:off x="8068235" y="4356847"/>
            <a:ext cx="2752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  <a:defRPr sz="950" b="1" i="0"/>
            </a:pPr>
            <a:r>
              <a:t>Figure 10: ESP32-S3 Micro-ROS Co-Processor</a:t>
            </a:r>
          </a:p>
          <a:p>
            <a:pPr>
              <a:spcAft>
                <a:spcPts val="0"/>
              </a:spcAft>
              <a:defRPr sz="850" b="0" i="0"/>
            </a:pPr>
            <a:r>
              <a:t>Dedicated hard real-time co-processor regulating motor PWM and reading encoders over 921,600 baud UART.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B3ADB6-8046-2D5F-5840-7EEB52BD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671" y="1582801"/>
            <a:ext cx="2457019" cy="220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2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DATASET PREPARATION AND GESTURE RECOGNITION PIPELINE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6130" y="1978255"/>
            <a:ext cx="76272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6,000 samples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collected from the robot’s own camera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6 gesture classes: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Stop, Go, Left, Right, Back, Follow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Balanced dataset: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1,000 samples per gesture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bg1"/>
                </a:solidFill>
                <a:latin typeface="Gill Sans MT" panose="020B0502020104020203" pitchFamily="34" charset="0"/>
              </a:rPr>
              <a:t>MediaPipe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extracts 21 hand landmarks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Landmarks are converted into </a:t>
            </a: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19 normalized geometric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MLP classifier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recognizes the six gestures</a:t>
            </a:r>
            <a:r>
              <a:rPr lang="en-GB" sz="2400" dirty="0">
                <a:solidFill>
                  <a:schemeClr val="bg1"/>
                </a:solidFill>
              </a:rPr>
              <a:t>.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86808" y="1849772"/>
            <a:ext cx="3566992" cy="2133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86808" y="4112184"/>
            <a:ext cx="37923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Figure 11:Live System Demonstration: </a:t>
            </a:r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The detected gesture is classified and displayed in real time</a:t>
            </a:r>
            <a:r>
              <a:rPr lang="en-US" dirty="0"/>
              <a:t>.</a:t>
            </a:r>
            <a:endParaRPr lang="en-US" b="1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3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HUMAN MOVEMENT PREDICTION(LSTM)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6" y="1822450"/>
            <a:ext cx="6943165" cy="4351338"/>
          </a:xfrm>
        </p:spPr>
        <p:txBody>
          <a:bodyPr>
            <a:no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Uses </a:t>
            </a:r>
            <a:r>
              <a:rPr lang="en-GB" sz="2400" b="1" dirty="0" err="1">
                <a:latin typeface="Gill Sans MT" panose="020B0502020104020203" pitchFamily="34" charset="0"/>
              </a:rPr>
              <a:t>MediaPipe</a:t>
            </a:r>
            <a:r>
              <a:rPr lang="en-GB" sz="2400" b="1" dirty="0">
                <a:latin typeface="Gill Sans MT" panose="020B0502020104020203" pitchFamily="34" charset="0"/>
              </a:rPr>
              <a:t> Pose landmarks</a:t>
            </a:r>
            <a:r>
              <a:rPr lang="en-GB" sz="2400" dirty="0">
                <a:latin typeface="Gill Sans MT" panose="020B0502020104020203" pitchFamily="34" charset="0"/>
              </a:rPr>
              <a:t> to track human movement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LSTM predicts the operator’s next movement direction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Uses </a:t>
            </a:r>
            <a:r>
              <a:rPr lang="en-GB" sz="2400" b="1" dirty="0">
                <a:latin typeface="Gill Sans MT" panose="020B0502020104020203" pitchFamily="34" charset="0"/>
              </a:rPr>
              <a:t>past movement patterns</a:t>
            </a:r>
            <a:r>
              <a:rPr lang="en-GB" sz="2400" dirty="0">
                <a:latin typeface="Gill Sans MT" panose="020B0502020104020203" pitchFamily="34" charset="0"/>
              </a:rPr>
              <a:t> to anticipate future motion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Helps the robot </a:t>
            </a:r>
            <a:r>
              <a:rPr lang="en-GB" sz="2400" b="1" dirty="0">
                <a:latin typeface="Gill Sans MT" panose="020B0502020104020203" pitchFamily="34" charset="0"/>
              </a:rPr>
              <a:t>respond proactively instead of reactively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Achieved </a:t>
            </a:r>
            <a:r>
              <a:rPr lang="en-GB" sz="2400" b="1" dirty="0">
                <a:latin typeface="Gill Sans MT" panose="020B0502020104020203" pitchFamily="34" charset="0"/>
              </a:rPr>
              <a:t>25.8 </a:t>
            </a:r>
            <a:r>
              <a:rPr lang="en-GB" sz="2400" b="1" dirty="0" err="1">
                <a:latin typeface="Gill Sans MT" panose="020B0502020104020203" pitchFamily="34" charset="0"/>
              </a:rPr>
              <a:t>px</a:t>
            </a:r>
            <a:r>
              <a:rPr lang="en-GB" sz="2400" b="1" dirty="0">
                <a:latin typeface="Gill Sans MT" panose="020B0502020104020203" pitchFamily="34" charset="0"/>
              </a:rPr>
              <a:t> ADE</a:t>
            </a:r>
            <a:r>
              <a:rPr lang="en-GB" sz="2400" dirty="0">
                <a:latin typeface="Gill Sans MT" panose="020B0502020104020203" pitchFamily="34" charset="0"/>
              </a:rPr>
              <a:t> and </a:t>
            </a:r>
            <a:r>
              <a:rPr lang="en-GB" sz="2400" b="1" dirty="0">
                <a:latin typeface="Gill Sans MT" panose="020B0502020104020203" pitchFamily="34" charset="0"/>
              </a:rPr>
              <a:t>32.4 </a:t>
            </a:r>
            <a:r>
              <a:rPr lang="en-GB" sz="2400" b="1" dirty="0" err="1">
                <a:latin typeface="Gill Sans MT" panose="020B0502020104020203" pitchFamily="34" charset="0"/>
              </a:rPr>
              <a:t>px</a:t>
            </a:r>
            <a:r>
              <a:rPr lang="en-GB" sz="2400" b="1" dirty="0">
                <a:latin typeface="Gill Sans MT" panose="020B0502020104020203" pitchFamily="34" charset="0"/>
              </a:rPr>
              <a:t> FDE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444A4-688C-D9FD-D00B-FAF5DDEC1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25" y="1206606"/>
            <a:ext cx="4517717" cy="4264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ED977A-B8FE-2045-ABC4-D638DCAD98C7}"/>
              </a:ext>
            </a:extLst>
          </p:cNvPr>
          <p:cNvSpPr txBox="1"/>
          <p:nvPr/>
        </p:nvSpPr>
        <p:spPr>
          <a:xfrm>
            <a:off x="7682742" y="5503059"/>
            <a:ext cx="3278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50"/>
            </a:pPr>
            <a:r>
              <a:t>Figure 13: LSTM Path Predictor Training Loss &amp; Convergence (ADE: 25.8 px, FDE: 32.4 px)</a:t>
            </a:r>
          </a:p>
        </p:txBody>
      </p:sp>
    </p:spTree>
    <p:extLst>
      <p:ext uri="{BB962C8B-B14F-4D97-AF65-F5344CB8AC3E}">
        <p14:creationId xmlns:p14="http://schemas.microsoft.com/office/powerpoint/2010/main" val="4113067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SLAM MAPPING AND LOCALISATION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1682" y="1436534"/>
            <a:ext cx="676387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SLAM Toolbox</a:t>
            </a:r>
            <a:r>
              <a:rPr lang="en-GB" sz="2400" dirty="0">
                <a:latin typeface="Gill Sans MT" panose="020B0502020104020203" pitchFamily="34" charset="0"/>
              </a:rPr>
              <a:t> creates a 2D map using LiDAR and wheel odometry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latin typeface="Gill Sans MT" panose="020B0502020104020203" pitchFamily="34" charset="0"/>
              </a:rPr>
              <a:t>The environment is represented as an </a:t>
            </a:r>
            <a:r>
              <a:rPr lang="en-GB" sz="2400" b="1" dirty="0">
                <a:latin typeface="Gill Sans MT" panose="020B0502020104020203" pitchFamily="34" charset="0"/>
              </a:rPr>
              <a:t>occupancy grid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Nav2</a:t>
            </a:r>
            <a:r>
              <a:rPr lang="en-GB" sz="2400" dirty="0">
                <a:latin typeface="Gill Sans MT" panose="020B0502020104020203" pitchFamily="34" charset="0"/>
              </a:rPr>
              <a:t> enables point-to-point autonomous navigation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AMCL</a:t>
            </a:r>
            <a:r>
              <a:rPr lang="en-GB" sz="2400" dirty="0">
                <a:latin typeface="Gill Sans MT" panose="020B0502020104020203" pitchFamily="34" charset="0"/>
              </a:rPr>
              <a:t> localizes the robot on the generated map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 err="1">
                <a:latin typeface="Gill Sans MT" panose="020B0502020104020203" pitchFamily="34" charset="0"/>
              </a:rPr>
              <a:t>Costmaps</a:t>
            </a:r>
            <a:r>
              <a:rPr lang="en-GB" sz="2400" dirty="0">
                <a:latin typeface="Gill Sans MT" panose="020B0502020104020203" pitchFamily="34" charset="0"/>
              </a:rPr>
              <a:t> help the robot avoid unexpected obstacles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553" y="3429000"/>
            <a:ext cx="2489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50"/>
            </a:pPr>
            <a:r>
              <a:t>Figure 14: Initial SLAM Run — Hourglass Rotational Drift Defect (Unsynchronized IMU Yaw)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74B96C-FB51-62BC-884F-1989BCE1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712" y="1785271"/>
            <a:ext cx="2362274" cy="1549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BBC5A1-5692-6BAC-6715-9F1909492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132" y="3984622"/>
            <a:ext cx="2489433" cy="16893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09F1F4-7722-CEFE-096E-A86679F7084C}"/>
              </a:ext>
            </a:extLst>
          </p:cNvPr>
          <p:cNvSpPr txBox="1"/>
          <p:nvPr/>
        </p:nvSpPr>
        <p:spPr>
          <a:xfrm>
            <a:off x="7257342" y="5741034"/>
            <a:ext cx="2553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50"/>
            </a:pPr>
            <a:r>
              <a:t>Figure 15: Final SLAM Run — Clean 5cm Metric Occupancy Grid Map (EKF Restamping Fix)</a:t>
            </a:r>
          </a:p>
        </p:txBody>
      </p:sp>
    </p:spTree>
    <p:extLst>
      <p:ext uri="{BB962C8B-B14F-4D97-AF65-F5344CB8AC3E}">
        <p14:creationId xmlns:p14="http://schemas.microsoft.com/office/powerpoint/2010/main" val="3392046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B265-11D7-4AA7-CA1C-3A07DA91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TESTING AND RESULTS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9F344F-97BD-1962-7822-B57F57C365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135398"/>
              </p:ext>
            </p:extLst>
          </p:nvPr>
        </p:nvGraphicFramePr>
        <p:xfrm>
          <a:off x="461682" y="1777266"/>
          <a:ext cx="450084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824">
                  <a:extLst>
                    <a:ext uri="{9D8B030D-6E8A-4147-A177-3AD203B41FA5}">
                      <a16:colId xmlns:a16="http://schemas.microsoft.com/office/drawing/2014/main" val="590012054"/>
                    </a:ext>
                  </a:extLst>
                </a:gridCol>
                <a:gridCol w="826994">
                  <a:extLst>
                    <a:ext uri="{9D8B030D-6E8A-4147-A177-3AD203B41FA5}">
                      <a16:colId xmlns:a16="http://schemas.microsoft.com/office/drawing/2014/main" val="354689127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42457764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664176472"/>
                    </a:ext>
                  </a:extLst>
                </a:gridCol>
              </a:tblGrid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Total Trials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sz="1600" dirty="0"/>
                        <a:t>Successful Trials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Observed Accuracy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05568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90.0%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216696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96.7%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89422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93.3%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683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1209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313600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881687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96.67%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433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CCC717-1D5A-A376-9EA2-24F12135A061}"/>
              </a:ext>
            </a:extLst>
          </p:cNvPr>
          <p:cNvSpPr txBox="1"/>
          <p:nvPr/>
        </p:nvSpPr>
        <p:spPr>
          <a:xfrm>
            <a:off x="541244" y="1500267"/>
            <a:ext cx="3935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Gill Sans MT" panose="020B0502020104020203" pitchFamily="34" charset="0"/>
              </a:rPr>
              <a:t>Gesture Recognition Physical Trial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5D1798-C6BA-5585-35DD-92A1DD40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141" y="1777266"/>
            <a:ext cx="5559778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7D2ED6-F1C7-7DB9-791D-696EDA712216}"/>
              </a:ext>
            </a:extLst>
          </p:cNvPr>
          <p:cNvSpPr txBox="1"/>
          <p:nvPr/>
        </p:nvSpPr>
        <p:spPr>
          <a:xfrm>
            <a:off x="5943600" y="5295473"/>
            <a:ext cx="414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50"/>
            </a:pPr>
            <a:r>
              <a:t>Figure 16: Per-Class Classification Accuracy of the Trained MLP Gesture Model</a:t>
            </a:r>
          </a:p>
        </p:txBody>
      </p:sp>
    </p:spTree>
    <p:extLst>
      <p:ext uri="{BB962C8B-B14F-4D97-AF65-F5344CB8AC3E}">
        <p14:creationId xmlns:p14="http://schemas.microsoft.com/office/powerpoint/2010/main" val="1301465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9CE6-A9EB-13AB-FEF8-665CD98C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TESTING AND RESULTS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8C9944-00BA-9C10-23EB-46B3C2F92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267839"/>
              </p:ext>
            </p:extLst>
          </p:nvPr>
        </p:nvGraphicFramePr>
        <p:xfrm>
          <a:off x="838200" y="1825625"/>
          <a:ext cx="10515597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961060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6381938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77233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Movement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Observed Kinematic </a:t>
                      </a:r>
                      <a:r>
                        <a:rPr lang="en-GB" dirty="0" err="1"/>
                        <a:t>Behavior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36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Approaching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Rapid expansion of bounding box area with stable </a:t>
                      </a:r>
                      <a:r>
                        <a:rPr lang="en-GB" dirty="0" err="1"/>
                        <a:t>center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05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Continuous contraction of bounding box area with stable </a:t>
                      </a:r>
                      <a:r>
                        <a:rPr lang="en-GB" dirty="0" err="1"/>
                        <a:t>center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558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Persistent leftward centroid translation across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Persistent rightward centroid translation across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30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Centroid displacement within noise threshold (±4 </a:t>
                      </a:r>
                      <a:r>
                        <a:rPr lang="en-GB" dirty="0" err="1"/>
                        <a:t>px</a:t>
                      </a:r>
                      <a:r>
                        <a:rPr lang="en-GB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5147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69AF537-6481-D1EE-0DC2-4BF5269361AE}"/>
              </a:ext>
            </a:extLst>
          </p:cNvPr>
          <p:cNvSpPr txBox="1"/>
          <p:nvPr/>
        </p:nvSpPr>
        <p:spPr>
          <a:xfrm>
            <a:off x="990600" y="1481157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ill Sans MT" panose="020B0502020104020203" pitchFamily="34" charset="0"/>
              </a:rPr>
              <a:t>Movement Recognition Test Results</a:t>
            </a:r>
          </a:p>
        </p:txBody>
      </p:sp>
    </p:spTree>
    <p:extLst>
      <p:ext uri="{BB962C8B-B14F-4D97-AF65-F5344CB8AC3E}">
        <p14:creationId xmlns:p14="http://schemas.microsoft.com/office/powerpoint/2010/main" val="1994015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CONCLUSION AND FUTURE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334" y="2127766"/>
            <a:ext cx="5319839" cy="3345117"/>
          </a:xfrm>
        </p:spPr>
        <p:txBody>
          <a:bodyPr>
            <a:noAutofit/>
          </a:bodyPr>
          <a:lstStyle/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99.38% gesture recognition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96.67% physical trial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Successful human movement prediction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ROS 2 integration achieved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SLAM and Nav2 validated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Real-time edge operation achieved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Safe obstacle detection implemented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7686" y="1943100"/>
            <a:ext cx="472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04207" y="1527601"/>
            <a:ext cx="4433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8385" y="2127766"/>
            <a:ext cx="51908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Multi-waypoint autonomous navigation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Proactive human-aware navigation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Follow-to-Map exploration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NPU acceleration for AI tasks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Improved gimbal–chassis control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Multi-sensor safety detection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Larger and more diverse testing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9232" y="1527601"/>
            <a:ext cx="382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Future</a:t>
            </a:r>
            <a:r>
              <a:rPr lang="en-US" sz="2400" b="1" dirty="0">
                <a:solidFill>
                  <a:schemeClr val="bg1"/>
                </a:solidFill>
              </a:rPr>
              <a:t> works</a:t>
            </a:r>
          </a:p>
        </p:txBody>
      </p:sp>
    </p:spTree>
    <p:extLst>
      <p:ext uri="{BB962C8B-B14F-4D97-AF65-F5344CB8AC3E}">
        <p14:creationId xmlns:p14="http://schemas.microsoft.com/office/powerpoint/2010/main" val="232517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REFERENCES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900" b="0" i="0"/>
            </a:pPr>
            <a:r>
              <a:t>[1] D. Tsitos et al., “Real-Time Feasibility of a Human Intention Prediction Method Evaluated Through a Competitive Human–Robot Reaching Game,” IEEE Robotics and Automation Letters, vol. 7, no. 4, pp. 10034–10041, Oct. 2022.</a:t>
            </a:r>
          </a:p>
          <a:p>
            <a:pPr>
              <a:spcAft>
                <a:spcPts val="400"/>
              </a:spcAft>
              <a:defRPr sz="900" b="0" i="0"/>
            </a:pPr>
            <a:r>
              <a:t>[2] J. A. Mahmud, B. C. Das, J. Shin, K. M. Hasib, R. Sadik, and M. F. Mridha, “3D Gesture Recognition and Adaptation for Human–Robot Interaction,” IEEE Access, vol. 10, pp. 116485–116507, 2022.</a:t>
            </a:r>
          </a:p>
          <a:p>
            <a:pPr>
              <a:spcAft>
                <a:spcPts val="400"/>
              </a:spcAft>
              <a:defRPr sz="900" b="0" i="0"/>
            </a:pPr>
            <a:r>
              <a:t>[3] G. Yang et al., “Safe and Efficient Motion Planning for Material Transportation Robots Considering Intention Prediction of Obstacles,” in Proc. IEEE Int. Conf. Mechatronics Autom. (ICMA), Harbin, China, 2023, pp. 1179–1184.</a:t>
            </a:r>
          </a:p>
        </p:txBody>
      </p:sp>
    </p:spTree>
    <p:extLst>
      <p:ext uri="{BB962C8B-B14F-4D97-AF65-F5344CB8AC3E}">
        <p14:creationId xmlns:p14="http://schemas.microsoft.com/office/powerpoint/2010/main" val="1085223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spcAft>
                <a:spcPts val="1000"/>
              </a:spcAft>
              <a:buNone/>
              <a:defRPr sz="2600" b="1" i="0"/>
            </a:pPr>
            <a:r>
              <a:t>Questions &amp; Discussion</a:t>
            </a:r>
            <a:br/>
            <a:br/>
            <a:r>
              <a:t>Thank You</a:t>
            </a:r>
            <a:endParaRPr lang="en-US" sz="48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200"/>
              </a:spcAft>
              <a:defRPr sz="1500" b="0" i="1">
                <a:solidFill>
                  <a:srgbClr val="0096B4"/>
                </a:solidFill>
              </a:defRPr>
            </a:pPr>
            <a:r>
              <a:t>[ Transition to Live Physical Hardware Demonstration ]</a:t>
            </a:r>
          </a:p>
        </p:txBody>
      </p:sp>
    </p:spTree>
    <p:extLst>
      <p:ext uri="{BB962C8B-B14F-4D97-AF65-F5344CB8AC3E}">
        <p14:creationId xmlns:p14="http://schemas.microsoft.com/office/powerpoint/2010/main" val="3493271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1359</Words>
  <Application>Microsoft Office PowerPoint</Application>
  <PresentationFormat>Widescreen</PresentationFormat>
  <Paragraphs>249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Calisto MT</vt:lpstr>
      <vt:lpstr>Gill Sans MT</vt:lpstr>
      <vt:lpstr>Wingdings</vt:lpstr>
      <vt:lpstr>Office Theme</vt:lpstr>
      <vt:lpstr>     </vt:lpstr>
      <vt:lpstr>PRESENTATION OUTLINE</vt:lpstr>
      <vt:lpstr>INTRODUCTION</vt:lpstr>
      <vt:lpstr>Problem Statement</vt:lpstr>
      <vt:lpstr>OBJECTIVES</vt:lpstr>
      <vt:lpstr>SIGNIFICANCE OF THE STUDY</vt:lpstr>
      <vt:lpstr>LITERATURE REVIEW</vt:lpstr>
      <vt:lpstr>METHODOLOGY</vt:lpstr>
      <vt:lpstr>SYSTEM ARCHITECTURE</vt:lpstr>
      <vt:lpstr>HARDWARE COMPONENTS</vt:lpstr>
      <vt:lpstr>HARDWARE COMPONENTS</vt:lpstr>
      <vt:lpstr>DATASET PREPARATION AND GESTURE RECOGNITION PIPELINE</vt:lpstr>
      <vt:lpstr>HUMAN MOVEMENT PREDICTION(LSTM)</vt:lpstr>
      <vt:lpstr>SLAM MAPPING AND LOCALISATION</vt:lpstr>
      <vt:lpstr>TESTING AND RESULTS</vt:lpstr>
      <vt:lpstr>TESTING AND RESULTS</vt:lpstr>
      <vt:lpstr>CONCLUSION AND FUTURE WORKS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</dc:creator>
  <cp:lastModifiedBy>eleana osei owusu</cp:lastModifiedBy>
  <cp:revision>291</cp:revision>
  <dcterms:created xsi:type="dcterms:W3CDTF">2020-12-21T23:45:00Z</dcterms:created>
  <dcterms:modified xsi:type="dcterms:W3CDTF">2026-09-15T16:57:16Z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6E3DABCEAFBD474A891E53D5B3EEA2E6</vt:lpwstr>
  </property>
  <property fmtid="{D5CDD505-2E9C-101B-9397-08002B2CF9AE}" pid="3" name="KSOProductBuildVer">
    <vt:lpwstr>1033-11.2.0.11486</vt:lpwstr>
  </property>
</Properties>
</file>