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578" r:id="rId3"/>
    <p:sldId id="354" r:id="rId4"/>
    <p:sldId id="555" r:id="rId5"/>
    <p:sldId id="558" r:id="rId6"/>
    <p:sldId id="573" r:id="rId7"/>
    <p:sldId id="582" r:id="rId8"/>
    <p:sldId id="562" r:id="rId9"/>
    <p:sldId id="561" r:id="rId10"/>
    <p:sldId id="583" r:id="rId11"/>
    <p:sldId id="590" r:id="rId12"/>
    <p:sldId id="585" r:id="rId13"/>
    <p:sldId id="592" r:id="rId14"/>
    <p:sldId id="584" r:id="rId15"/>
    <p:sldId id="593" r:id="rId16"/>
    <p:sldId id="594" r:id="rId17"/>
    <p:sldId id="588" r:id="rId18"/>
    <p:sldId id="569" r:id="rId19"/>
    <p:sldId id="5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EE616-86D3-4099-A968-B4A6BDE18D0F}">
          <p14:sldIdLst>
            <p14:sldId id="257"/>
            <p14:sldId id="578"/>
            <p14:sldId id="354"/>
            <p14:sldId id="555"/>
            <p14:sldId id="558"/>
            <p14:sldId id="573"/>
            <p14:sldId id="582"/>
            <p14:sldId id="562"/>
            <p14:sldId id="561"/>
            <p14:sldId id="583"/>
            <p14:sldId id="590"/>
            <p14:sldId id="585"/>
            <p14:sldId id="592"/>
            <p14:sldId id="584"/>
            <p14:sldId id="593"/>
            <p14:sldId id="594"/>
            <p14:sldId id="588"/>
            <p14:sldId id="569"/>
            <p14:sldId id="591"/>
          </p14:sldIdLst>
        </p14:section>
        <p14:section name="Untitled Section" id="{D22B2DA1-3DFA-46D2-BA1D-DAD7CC7F72F2}">
          <p14:sldIdLst/>
        </p14:section>
        <p14:section name="Untitled Section" id="{5930E777-D3D8-4E75-983C-AF214C42B1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DF9433-C4BD-03CD-4185-8F7C4220F16F}" name="Owusu Agyeman Antwi" initials="OA" userId="0c4d93facfc3ac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73" autoAdjust="0"/>
    <p:restoredTop sz="95179" autoAdjust="0"/>
  </p:normalViewPr>
  <p:slideViewPr>
    <p:cSldViewPr snapToGrid="0">
      <p:cViewPr>
        <p:scale>
          <a:sx n="80" d="100"/>
          <a:sy n="80" d="100"/>
        </p:scale>
        <p:origin x="1075" y="168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482A5-FD59-4225-A350-DA787E19AAD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7C8E-9966-49AA-A950-642A59F8B0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E7C8E-9966-49AA-A950-642A59F8B0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334C30-18F6-499E-B529-FBBBA5BA860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6EBCE5-9DE5-46EE-9318-4795EB416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1712913" y="3832225"/>
            <a:ext cx="9186862" cy="17986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65C8B60-5CF0-444C-8758-FD6AA4E3BF27}" type="datetime1">
              <a:rPr lang="en-GB" smtClean="0"/>
              <a:t>15/09/2026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....Linking Learners Everywhere 2013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DF291AF-424A-45FD-966C-A7A9D7595FC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34533"/>
            <a:ext cx="3309258" cy="31870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176963"/>
          </a:xfrm>
          <a:prstGeom prst="rect">
            <a:avLst/>
          </a:prstGeom>
          <a:solidFill>
            <a:srgbClr val="FFFFCC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1857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9144000" y="0"/>
            <a:ext cx="3048000" cy="1857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10550" y="6176963"/>
            <a:ext cx="3981450" cy="6849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57348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73486" y="0"/>
            <a:ext cx="348343" cy="685800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21829" y="1"/>
            <a:ext cx="6270171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Calisto MT" panose="02040603050505030304" pitchFamily="18" charset="0"/>
                <a:cs typeface="Gill Sans MT" panose="020B0502020104020203" pitchFamily="34" charset="0"/>
              </a:rPr>
              <a:t>FACULTY OF ENGINEERING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Calisto MT" panose="02040603050505030304" pitchFamily="18" charset="0"/>
                <a:cs typeface="Gill Sans MT" panose="020B0502020104020203" pitchFamily="34" charset="0"/>
              </a:rPr>
              <a:t>DEPARTMENT OF COMPUTER ENGINEERING</a:t>
            </a:r>
          </a:p>
          <a:p>
            <a:pPr algn="ctr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  <a:latin typeface="Calisto MT" panose="02040603050505030304" pitchFamily="18" charset="0"/>
              <a:cs typeface="Gill Sans MT" panose="020B05020201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Calisto MT" panose="02040603050505030304" pitchFamily="18" charset="0"/>
                <a:cs typeface="Gill Sans MT" panose="020B0502020104020203" pitchFamily="34" charset="0"/>
              </a:rPr>
              <a:t>TITLE:</a:t>
            </a:r>
          </a:p>
          <a:p>
            <a:pPr algn="ctr"/>
            <a:r>
              <a:rPr lang="en-US" b="1" dirty="0">
                <a:latin typeface="Calisto MT" panose="02040603050505030304" pitchFamily="18" charset="0"/>
              </a:rPr>
              <a:t>DEVELOPMENT AND IMPLEMENTATION OF A ROBOTIC APPLICATION FOR HUMAN INTENTION RECOGNITION USING MOTION AND HAND GESTURE</a:t>
            </a:r>
          </a:p>
          <a:p>
            <a:pPr algn="ctr"/>
            <a:endParaRPr lang="en-US" b="1" dirty="0">
              <a:latin typeface="Calisto MT" panose="020406030505050303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listo MT" panose="02040603050505030304" pitchFamily="18" charset="0"/>
                <a:cs typeface="Gill Sans MT" panose="020B0502020104020203" pitchFamily="34" charset="0"/>
              </a:rPr>
              <a:t>A Project Work Topic Proposal in Partial Fulfillment of the requirements for BSc. Computer Engineering</a:t>
            </a:r>
          </a:p>
          <a:p>
            <a:pPr algn="ctr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  <a:latin typeface="Calisto MT" panose="02040603050505030304" pitchFamily="18" charset="0"/>
              <a:cs typeface="Gill Sans MT" panose="020B05020201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PRESENTATION BY: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ELEANA OSEI OWUSU-4121230024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Calisto MT" panose="02040603050505030304" pitchFamily="18" charset="0"/>
                <a:cs typeface="Arial" panose="020B0604020202020204" pitchFamily="34" charset="0"/>
              </a:rPr>
              <a:t>JOEL NII ADJETEY AHULU- 4122530020</a:t>
            </a:r>
          </a:p>
          <a:p>
            <a:pPr algn="ctr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  <a:latin typeface="Calisto MT" panose="02040603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829" y="5943600"/>
            <a:ext cx="6008913" cy="575187"/>
          </a:xfrm>
        </p:spPr>
        <p:txBody>
          <a:bodyPr>
            <a:normAutofit fontScale="90000"/>
          </a:bodyPr>
          <a:lstStyle/>
          <a:p>
            <a:pPr lvl="0" fontAlgn="base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1100"/>
            </a:pP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 </a:t>
            </a:r>
            <a:endParaRPr lang="en-US" sz="32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0" y="2658358"/>
            <a:ext cx="3995365" cy="3629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4" y="210215"/>
            <a:ext cx="5846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ill Sans MT" panose="020B0502020104020203" pitchFamily="34" charset="0"/>
                <a:ea typeface="Tahoma" panose="020B0604030504040204" pitchFamily="34" charset="0"/>
                <a:cs typeface="Arial" panose="020B0604020202020204" pitchFamily="34" charset="0"/>
              </a:rPr>
              <a:t>GHANA COMMUNICATION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PRESENTATION OUTLINE</a:t>
            </a:r>
            <a:endParaRPr lang="en-US" dirty="0">
              <a:solidFill>
                <a:srgbClr val="FF0000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616658"/>
              </p:ext>
            </p:extLst>
          </p:nvPr>
        </p:nvGraphicFramePr>
        <p:xfrm>
          <a:off x="717494" y="1267274"/>
          <a:ext cx="10636306" cy="6590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153">
                  <a:extLst>
                    <a:ext uri="{9D8B030D-6E8A-4147-A177-3AD203B41FA5}">
                      <a16:colId xmlns:a16="http://schemas.microsoft.com/office/drawing/2014/main" val="468815543"/>
                    </a:ext>
                  </a:extLst>
                </a:gridCol>
                <a:gridCol w="5318153">
                  <a:extLst>
                    <a:ext uri="{9D8B030D-6E8A-4147-A177-3AD203B41FA5}">
                      <a16:colId xmlns:a16="http://schemas.microsoft.com/office/drawing/2014/main" val="2656849321"/>
                    </a:ext>
                  </a:extLst>
                </a:gridCol>
              </a:tblGrid>
              <a:tr h="4122021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Introduction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Problem Statement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Objectives of Study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Significance of Study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Research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Gaps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Literature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Review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Methodology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System  Architecture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600" b="1" baseline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sz="250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Hardware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and Software Components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Data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set Preparation and Gesture Recognition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SLAM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Testing and Results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Conclusion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Future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works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References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70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92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0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sym typeface="+mn-ea"/>
              </a:rPr>
              <a:t>INTRODUCTION</a:t>
            </a:r>
            <a:endParaRPr lang="en-GB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9387" y="687250"/>
            <a:ext cx="6776404" cy="571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Human–Robot Interaction (HRI)</a:t>
            </a:r>
            <a:r>
              <a:rPr lang="en-GB" sz="2400" dirty="0">
                <a:latin typeface="Gill Sans MT" panose="020B0502020104020203" pitchFamily="34" charset="0"/>
              </a:rPr>
              <a:t> enables robots to understand and respond to human actions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Gestures and body movements</a:t>
            </a:r>
            <a:r>
              <a:rPr lang="en-GB" sz="2400" dirty="0">
                <a:latin typeface="Gill Sans MT" panose="020B0502020104020203" pitchFamily="34" charset="0"/>
              </a:rPr>
              <a:t> provide natural, contactless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Vision-based systems</a:t>
            </a:r>
            <a:r>
              <a:rPr lang="en-GB" sz="2400" dirty="0">
                <a:latin typeface="Gill Sans MT" panose="020B0502020104020203" pitchFamily="34" charset="0"/>
              </a:rPr>
              <a:t> can require high computing power.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Edge computing</a:t>
            </a:r>
            <a:r>
              <a:rPr lang="en-GB" sz="2400" dirty="0">
                <a:latin typeface="Gill Sans MT" panose="020B0502020104020203" pitchFamily="34" charset="0"/>
              </a:rPr>
              <a:t> supports real-time processing on low-power robots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This project combines </a:t>
            </a:r>
            <a:r>
              <a:rPr lang="en-GB" sz="2400" b="1" dirty="0">
                <a:latin typeface="Gill Sans MT" panose="020B0502020104020203" pitchFamily="34" charset="0"/>
              </a:rPr>
              <a:t>intention recognition, environmental awareness, and navigation</a:t>
            </a:r>
            <a:r>
              <a:rPr lang="en-GB" sz="2400" dirty="0">
                <a:latin typeface="Gill Sans MT" panose="020B0502020104020203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1084332"/>
            <a:ext cx="2840304" cy="1691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8950" y="2880764"/>
            <a:ext cx="275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1: Autonomous Mobile Robot Performing Navigation Tasks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3736037"/>
            <a:ext cx="2840304" cy="18263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96120" y="5562354"/>
            <a:ext cx="3173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2: Human Interaction with an Autonomous Mobile Robot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Gill Sans MT" panose="020B0502020104020203" pitchFamily="34" charset="0"/>
              </a:rPr>
              <a:t>Problem Statement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3440" y="1162691"/>
            <a:ext cx="11475148" cy="438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Existing systems</a:t>
            </a:r>
            <a:r>
              <a:rPr lang="en-GB" sz="2400" dirty="0">
                <a:latin typeface="Gill Sans MT" panose="020B0502020104020203" pitchFamily="34" charset="0"/>
              </a:rPr>
              <a:t> often separate gesture recognition and navigation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High computing demands</a:t>
            </a:r>
            <a:r>
              <a:rPr lang="en-GB" sz="2400" dirty="0">
                <a:latin typeface="Gill Sans MT" panose="020B0502020104020203" pitchFamily="34" charset="0"/>
              </a:rPr>
              <a:t> limit edge deployment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Cloud dependence</a:t>
            </a:r>
            <a:r>
              <a:rPr lang="en-GB" sz="2400" dirty="0">
                <a:latin typeface="Gill Sans MT" panose="020B0502020104020203" pitchFamily="34" charset="0"/>
              </a:rPr>
              <a:t> affects real-time operation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Data mismatch</a:t>
            </a:r>
            <a:r>
              <a:rPr lang="en-GB" sz="2400" dirty="0">
                <a:latin typeface="Gill Sans MT" panose="020B0502020104020203" pitchFamily="34" charset="0"/>
              </a:rPr>
              <a:t> can reduce recognition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Limited environmental awareness</a:t>
            </a:r>
            <a:r>
              <a:rPr lang="en-GB" sz="2400" dirty="0">
                <a:latin typeface="Gill Sans MT" panose="020B0502020104020203" pitchFamily="34" charset="0"/>
              </a:rPr>
              <a:t> creates safety risks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043"/>
            <a:ext cx="10515600" cy="81986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OBJECTIVES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665" y="760902"/>
            <a:ext cx="11420670" cy="4833355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400" b="1" dirty="0">
                <a:latin typeface="Gill Sans MT" panose="020B0502020104020203" pitchFamily="34" charset="0"/>
              </a:rPr>
              <a:t>General Objective</a:t>
            </a:r>
          </a:p>
          <a:p>
            <a:pPr marL="0" indent="0">
              <a:buNone/>
            </a:pPr>
            <a:r>
              <a:rPr lang="en-GB" sz="2400" dirty="0">
                <a:latin typeface="Gill Sans MT" panose="020B0502020104020203" pitchFamily="34" charset="0"/>
              </a:rPr>
              <a:t>To design, implement and evaluate an edge-based real-time human intention recognition system integrating hand gestures and autonomous navigation using ROS 2.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b="1" dirty="0">
                <a:latin typeface="Gill Sans MT" panose="020B0502020104020203" pitchFamily="34" charset="0"/>
              </a:rPr>
              <a:t>Specific Objectives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Develop a real-time landmark-based MLP gesture classifier</a:t>
            </a:r>
            <a:r>
              <a:rPr lang="en-US" altLang="en-US" sz="2400" dirty="0">
                <a:latin typeface="Gill Sans MT" panose="020B0502020104020203" pitchFamily="34" charset="0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Train a reliable classifier using a balanced custom dataset</a:t>
            </a:r>
            <a:r>
              <a:rPr lang="en-US" altLang="en-US" sz="2400" dirty="0">
                <a:latin typeface="Gill Sans MT" panose="020B0502020104020203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Gill Sans MT" panose="020B0502020104020203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Implement multi-node communication and centralized decision-making</a:t>
            </a:r>
            <a:r>
              <a:rPr lang="en-US" altLang="en-US" sz="2400" dirty="0">
                <a:latin typeface="Gill Sans MT" panose="020B0502020104020203" pitchFamily="34" charset="0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Integrate SLAM and navigation for gesture-directed movement</a:t>
            </a:r>
            <a:r>
              <a:rPr lang="en-US" altLang="en-US" sz="2400" dirty="0">
                <a:latin typeface="Gill Sans MT" panose="020B0502020104020203" pitchFamily="34" charset="0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Measure accuracy, latency and hardware performance</a:t>
            </a:r>
            <a:r>
              <a:rPr lang="en-US" altLang="en-US" sz="2400" dirty="0">
                <a:latin typeface="Gill Sans MT" panose="020B0502020104020203" pitchFamily="34" charset="0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Gill Sans MT" panose="020B05020201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Develop an LSTM model for short-term human movement </a:t>
            </a:r>
            <a:r>
              <a:rPr lang="en-GB" sz="2400" dirty="0"/>
              <a:t>prediction</a:t>
            </a:r>
            <a:endParaRPr lang="en-US" sz="24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7077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SIGNIFICANCE OF THE STUDY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92504" y="1607587"/>
            <a:ext cx="5489732" cy="4136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Reduces dependence on cloud computing.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Enables contactless robot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Supports industrial and healthcare applications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Improves human–robot interaction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Enables AI processing on edge 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172915" y="365124"/>
            <a:ext cx="41707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RESEARCH GAPS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24283" y="1275188"/>
            <a:ext cx="56589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Existing systems often treat recognition and navigation separately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Some systems depend on cloud or powerful GPUs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Some lack environmental awareness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Few combine intention recognition with navigation</a:t>
            </a:r>
            <a:r>
              <a:rPr lang="en-US" alt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his study integrates these functions on an edge robot</a:t>
            </a:r>
            <a:endParaRPr lang="en-US" alt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28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990"/>
            <a:ext cx="10515600" cy="3563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LITERATURE REVIEW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74CCF805-37EF-E112-FBAC-310846B1C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100974"/>
              </p:ext>
            </p:extLst>
          </p:nvPr>
        </p:nvGraphicFramePr>
        <p:xfrm>
          <a:off x="0" y="798232"/>
          <a:ext cx="12192000" cy="683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46983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3337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41573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7531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821914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9741698"/>
                    </a:ext>
                  </a:extLst>
                </a:gridCol>
              </a:tblGrid>
              <a:tr h="1016279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Ref / Year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Topic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Identified Gaps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23142071"/>
                  </a:ext>
                </a:extLst>
              </a:tr>
              <a:tr h="101543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202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H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Tsitos</a:t>
                      </a:r>
                      <a:r>
                        <a:rPr lang="en-US" sz="1600" b="0" baseline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latin typeface="Gill Sans MT" panose="020B0502020104020203" pitchFamily="34" charset="0"/>
                        </a:rPr>
                        <a:t>Real-time Feasibility of a Human Intention Method Evaluated Through a Competitive Human-Robot Reaching Game </a:t>
                      </a:r>
                      <a:endParaRPr lang="en-US" sz="1600" b="0" i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Predict human intention in real time.</a:t>
                      </a:r>
                      <a:r>
                        <a:rPr lang="it-IT" sz="1600" b="0" dirty="0">
                          <a:latin typeface="Gill Sans MT" panose="020B0502020104020203" pitchFamily="34" charset="0"/>
                        </a:rPr>
                        <a:t> ing a single RGB-D camera 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OpenPose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, RGB-D camera, ML models, ROS, UR3 robot.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Limited integration of multimodal human intention recognition.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751888764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Mahmud et al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3D Gesture Recognition and Adaptation for Human–Robot Interaction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Recognize 3D gestures for robot control.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Kinect, HMM, SVM, CNN, robot navigation.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Depends on Kinect, reducing portability and affordability. Requires specialized 3D sensing hardware. Limited applicability to low-cost edge computing platforms.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37792960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Yang et al.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Safe and Efficient Motion Planning for Material Transportation Robots Considering Intention Prediction of Obstacles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Predict obstacle intentions for safe navigation.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Object detection, </a:t>
                      </a:r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ReLU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 intention model, Nav2, ROS2.</a:t>
                      </a:r>
                      <a:endParaRPr lang="it-IT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Focuses on obstacle intention prediction rather than direct human gesture recognition. 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96178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23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METHODOLOGY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14400" y="2836595"/>
            <a:ext cx="9987132" cy="114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862827"/>
              </p:ext>
            </p:extLst>
          </p:nvPr>
        </p:nvGraphicFramePr>
        <p:xfrm>
          <a:off x="2032000" y="1690688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260885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System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4" name="Down Arrow 3"/>
          <p:cNvSpPr/>
          <p:nvPr/>
        </p:nvSpPr>
        <p:spPr>
          <a:xfrm>
            <a:off x="5834358" y="2078221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812988"/>
              </p:ext>
            </p:extLst>
          </p:nvPr>
        </p:nvGraphicFramePr>
        <p:xfrm>
          <a:off x="2032000" y="233910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Hardware &amp; Software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572646"/>
              </p:ext>
            </p:extLst>
          </p:nvPr>
        </p:nvGraphicFramePr>
        <p:xfrm>
          <a:off x="2032000" y="303384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ill Sans MT" panose="020B0502020104020203" pitchFamily="34" charset="0"/>
                        </a:rPr>
                        <a:t>Dataset Collection and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0" name="Down Arrow 9"/>
          <p:cNvSpPr/>
          <p:nvPr/>
        </p:nvSpPr>
        <p:spPr>
          <a:xfrm>
            <a:off x="5834358" y="2756330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5834358" y="3438007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375454"/>
              </p:ext>
            </p:extLst>
          </p:nvPr>
        </p:nvGraphicFramePr>
        <p:xfrm>
          <a:off x="2032000" y="367043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Gill Sans MT" panose="020B0502020104020203" pitchFamily="34" charset="0"/>
                        </a:rPr>
                        <a:t>Gesture Recognition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3" name="Down Arrow 12"/>
          <p:cNvSpPr/>
          <p:nvPr/>
        </p:nvSpPr>
        <p:spPr>
          <a:xfrm>
            <a:off x="5834358" y="4123317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008672"/>
              </p:ext>
            </p:extLst>
          </p:nvPr>
        </p:nvGraphicFramePr>
        <p:xfrm>
          <a:off x="2032000" y="436751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Brain Node Decision Making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5" name="Down Arrow 14"/>
          <p:cNvSpPr/>
          <p:nvPr/>
        </p:nvSpPr>
        <p:spPr>
          <a:xfrm>
            <a:off x="5834358" y="4760437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024717"/>
              </p:ext>
            </p:extLst>
          </p:nvPr>
        </p:nvGraphicFramePr>
        <p:xfrm>
          <a:off x="2032000" y="502671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ROS2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  <p:sp>
        <p:nvSpPr>
          <p:cNvPr id="17" name="Down Arrow 16"/>
          <p:cNvSpPr/>
          <p:nvPr/>
        </p:nvSpPr>
        <p:spPr>
          <a:xfrm>
            <a:off x="5834358" y="5447672"/>
            <a:ext cx="261642" cy="244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69389"/>
              </p:ext>
            </p:extLst>
          </p:nvPr>
        </p:nvGraphicFramePr>
        <p:xfrm>
          <a:off x="2032000" y="574198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890807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Gill Sans MT" panose="020B0502020104020203" pitchFamily="34" charset="0"/>
                        </a:rPr>
                        <a:t>SLAM &amp; Navigation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8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75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D8E2-4F8C-64A5-14D0-AC29A3DF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SYSTEM ARCHITECTURE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6607" y="1347570"/>
            <a:ext cx="4110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3:Hardware Architecture and Signal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5633" y="1324948"/>
            <a:ext cx="4672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4: System Architecture</a:t>
            </a:r>
            <a:r>
              <a:rPr lang="en-US" sz="1600" b="1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D439D8-3DD7-A512-4F51-A5E2EF81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7432A-6B93-6BEF-EC0C-DACEA3FF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9" y="1719054"/>
            <a:ext cx="4849962" cy="4244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8C4A33-BC46-51C1-A37B-47FF211A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27" y="1700511"/>
            <a:ext cx="4446919" cy="439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0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C196-7822-1619-511D-B2A65A25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E927E-D13E-2096-04CB-807BAECCF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0989" y="930615"/>
            <a:ext cx="2748148" cy="3104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D6DFF-D01C-6DD9-58FF-4B963D70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922" y="1665572"/>
            <a:ext cx="3308410" cy="2054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77C19-7558-1A87-1DF0-51C58595C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33" y="1197549"/>
            <a:ext cx="3446092" cy="2765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251" y="3966684"/>
            <a:ext cx="3004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5: Raspberry Pi 5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 :</a:t>
            </a:r>
            <a:r>
              <a:rPr lang="en-GB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Raspberry Pi 5: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 Main computer that processes </a:t>
            </a:r>
            <a:r>
              <a:rPr lang="en-GB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AI, camera, LiDAR, and SLAM data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 directly on the robot</a:t>
            </a:r>
            <a:r>
              <a:rPr lang="en-GB" sz="1200" dirty="0">
                <a:solidFill>
                  <a:schemeClr val="bg1"/>
                </a:solidFill>
              </a:rPr>
              <a:t>.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222" y="3963084"/>
            <a:ext cx="315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6: USB Camera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 :</a:t>
            </a:r>
          </a:p>
          <a:p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Captures gestures and keeps the user </a:t>
            </a:r>
            <a:r>
              <a:rPr lang="en-GB" sz="1200" dirty="0" err="1">
                <a:solidFill>
                  <a:schemeClr val="bg1"/>
                </a:solidFill>
                <a:latin typeface="Gill Sans MT" panose="020B0502020104020203" pitchFamily="34" charset="0"/>
              </a:rPr>
              <a:t>centered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 for tracking</a:t>
            </a:r>
            <a:r>
              <a:rPr lang="en-GB" sz="1600" dirty="0">
                <a:latin typeface="Gill Sans MT" panose="020B0502020104020203" pitchFamily="34" charset="0"/>
              </a:rPr>
              <a:t>.</a:t>
            </a:r>
            <a:endParaRPr lang="en-US" sz="16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97314" y="3843573"/>
            <a:ext cx="2824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7: M200 LiDAR Sensor 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The LiDAR detects obstacles, supports SLAM mapping, and stops the robot within the </a:t>
            </a:r>
            <a:r>
              <a:rPr lang="en-GB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0.36 m safety zone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.”</a:t>
            </a:r>
          </a:p>
          <a:p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3374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8F9334-CA17-7C1E-5C7F-80FB4D292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185" y="1594847"/>
            <a:ext cx="2387799" cy="2460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0038" y="3783435"/>
            <a:ext cx="29780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Figure 8: Power Supply/Battery :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Uses a 7.4V rechargeable battery with separate power for the motors and Raspberry </a:t>
            </a:r>
            <a:r>
              <a:rPr lang="en-GB" sz="1600" dirty="0"/>
              <a:t>Pi.</a:t>
            </a:r>
            <a:r>
              <a:rPr lang="en-US" sz="1600" dirty="0">
                <a:latin typeface="Gill Sans MT" panose="020B0502020104020203" pitchFamily="34" charset="0"/>
              </a:rPr>
              <a:t>.</a:t>
            </a:r>
          </a:p>
          <a:p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513277" y="3783435"/>
            <a:ext cx="3271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Figure 9:Uses a </a:t>
            </a:r>
            <a:r>
              <a:rPr lang="en-GB" sz="1200" dirty="0" err="1">
                <a:solidFill>
                  <a:schemeClr val="bg1"/>
                </a:solidFill>
                <a:latin typeface="Gill Sans MT" panose="020B0502020104020203" pitchFamily="34" charset="0"/>
              </a:rPr>
              <a:t>Yahboom</a:t>
            </a:r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 MicroROS-Pi5 differential-drive robot with four geared motors and wheel encoders</a:t>
            </a:r>
            <a:r>
              <a:rPr lang="en-GB" sz="1600" dirty="0"/>
              <a:t>.</a:t>
            </a:r>
            <a:r>
              <a:rPr lang="en-US" sz="1600" i="1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5BC267-0746-F9FF-FAA0-95FDE574A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983" y="1085092"/>
            <a:ext cx="3384883" cy="3384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59386E-ECF3-BB3F-4F1E-CA90D9A6DCB5}"/>
              </a:ext>
            </a:extLst>
          </p:cNvPr>
          <p:cNvSpPr txBox="1"/>
          <p:nvPr/>
        </p:nvSpPr>
        <p:spPr>
          <a:xfrm>
            <a:off x="8068235" y="4356847"/>
            <a:ext cx="2752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Gill Sans MT" panose="020B0502020104020203" pitchFamily="34" charset="0"/>
              </a:rPr>
              <a:t>Figure 10: The Micro-ROS board controls the motors and sensors. It uses an ESP32-S3 and communicates with the Raspberry Pi</a:t>
            </a:r>
            <a:r>
              <a:rPr lang="en-GB" sz="1200" dirty="0">
                <a:solidFill>
                  <a:schemeClr val="bg1"/>
                </a:solidFill>
              </a:rPr>
              <a:t>.”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B3ADB6-8046-2D5F-5840-7EEB52BD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671" y="1582801"/>
            <a:ext cx="2457019" cy="220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2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DATASET PREPARATION AND GESTURE RECOGNITION PIPELINE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6130" y="1978255"/>
            <a:ext cx="76272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6,000 samples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collected from the robot’s own camera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 gesture classes: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Stop, Go, Left, Right, Back, Follow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Balanced dataset: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1,000 samples per gesture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bg1"/>
                </a:solidFill>
                <a:latin typeface="Gill Sans MT" panose="020B0502020104020203" pitchFamily="34" charset="0"/>
              </a:rPr>
              <a:t>MediaPipe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extracts 21 hand landmarks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Landmarks are converted into </a:t>
            </a: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19 normalized geometric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MLP classifier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recognizes the six gestures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6808" y="1849772"/>
            <a:ext cx="3566992" cy="2133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86808" y="4112184"/>
            <a:ext cx="37923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11:Live System Demonstration: 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The detected gesture is classified and displayed in real time</a:t>
            </a:r>
            <a:r>
              <a:rPr lang="en-US" dirty="0"/>
              <a:t>.</a:t>
            </a:r>
            <a:endParaRPr lang="en-US" b="1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3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HUMAN MOVEMENT PREDICTION(LSTM)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1822450"/>
            <a:ext cx="6943165" cy="4351338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 err="1">
                <a:latin typeface="Gill Sans MT" panose="020B0502020104020203" pitchFamily="34" charset="0"/>
              </a:rPr>
              <a:t>MediaPipe</a:t>
            </a:r>
            <a:r>
              <a:rPr lang="en-GB" sz="2400" b="1" dirty="0">
                <a:latin typeface="Gill Sans MT" panose="020B0502020104020203" pitchFamily="34" charset="0"/>
              </a:rPr>
              <a:t> Pose landmarks</a:t>
            </a:r>
            <a:r>
              <a:rPr lang="en-GB" sz="2400" dirty="0">
                <a:latin typeface="Gill Sans MT" panose="020B0502020104020203" pitchFamily="34" charset="0"/>
              </a:rPr>
              <a:t> to track human movement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LSTM predicts the operator’s next movement direction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>
                <a:latin typeface="Gill Sans MT" panose="020B0502020104020203" pitchFamily="34" charset="0"/>
              </a:rPr>
              <a:t>past movement patterns</a:t>
            </a:r>
            <a:r>
              <a:rPr lang="en-GB" sz="2400" dirty="0">
                <a:latin typeface="Gill Sans MT" panose="020B0502020104020203" pitchFamily="34" charset="0"/>
              </a:rPr>
              <a:t> to anticipate future motion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Helps the robot </a:t>
            </a:r>
            <a:r>
              <a:rPr lang="en-GB" sz="2400" b="1" dirty="0">
                <a:latin typeface="Gill Sans MT" panose="020B0502020104020203" pitchFamily="34" charset="0"/>
              </a:rPr>
              <a:t>respond proactively instead of reactively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Achieved </a:t>
            </a:r>
            <a:r>
              <a:rPr lang="en-GB" sz="2400" b="1" dirty="0">
                <a:latin typeface="Gill Sans MT" panose="020B0502020104020203" pitchFamily="34" charset="0"/>
              </a:rPr>
              <a:t>25.8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ADE</a:t>
            </a:r>
            <a:r>
              <a:rPr lang="en-GB" sz="2400" dirty="0">
                <a:latin typeface="Gill Sans MT" panose="020B0502020104020203" pitchFamily="34" charset="0"/>
              </a:rPr>
              <a:t> and </a:t>
            </a:r>
            <a:r>
              <a:rPr lang="en-GB" sz="2400" b="1" dirty="0">
                <a:latin typeface="Gill Sans MT" panose="020B0502020104020203" pitchFamily="34" charset="0"/>
              </a:rPr>
              <a:t>32.4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FDE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444A4-688C-D9FD-D00B-FAF5DDEC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5" y="1206606"/>
            <a:ext cx="4517717" cy="4264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D977A-B8FE-2045-ABC4-D638DCAD98C7}"/>
              </a:ext>
            </a:extLst>
          </p:cNvPr>
          <p:cNvSpPr txBox="1"/>
          <p:nvPr/>
        </p:nvSpPr>
        <p:spPr>
          <a:xfrm>
            <a:off x="7682742" y="5503059"/>
            <a:ext cx="327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Figure 13: LSTM Path Predictor Training and Validation Loss Convergence</a:t>
            </a:r>
          </a:p>
        </p:txBody>
      </p:sp>
    </p:spTree>
    <p:extLst>
      <p:ext uri="{BB962C8B-B14F-4D97-AF65-F5344CB8AC3E}">
        <p14:creationId xmlns:p14="http://schemas.microsoft.com/office/powerpoint/2010/main" val="41130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SLAM MAPPING AND LOCALISATION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1682" y="1436534"/>
            <a:ext cx="676387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SLAM Toolbox</a:t>
            </a:r>
            <a:r>
              <a:rPr lang="en-GB" sz="2400" dirty="0">
                <a:latin typeface="Gill Sans MT" panose="020B0502020104020203" pitchFamily="34" charset="0"/>
              </a:rPr>
              <a:t> creates a 2D map using LiDAR and wheel odometry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latin typeface="Gill Sans MT" panose="020B0502020104020203" pitchFamily="34" charset="0"/>
              </a:rPr>
              <a:t>The environment is represented as an </a:t>
            </a:r>
            <a:r>
              <a:rPr lang="en-GB" sz="2400" b="1" dirty="0">
                <a:latin typeface="Gill Sans MT" panose="020B0502020104020203" pitchFamily="34" charset="0"/>
              </a:rPr>
              <a:t>occupancy grid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Nav2</a:t>
            </a:r>
            <a:r>
              <a:rPr lang="en-GB" sz="2400" dirty="0">
                <a:latin typeface="Gill Sans MT" panose="020B0502020104020203" pitchFamily="34" charset="0"/>
              </a:rPr>
              <a:t> enables point-to-point autonomous navigation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AMCL</a:t>
            </a:r>
            <a:r>
              <a:rPr lang="en-GB" sz="2400" dirty="0">
                <a:latin typeface="Gill Sans MT" panose="020B0502020104020203" pitchFamily="34" charset="0"/>
              </a:rPr>
              <a:t> localizes the robot on the generated map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>
                <a:latin typeface="Gill Sans MT" panose="020B0502020104020203" pitchFamily="34" charset="0"/>
              </a:rPr>
              <a:t>Costmaps</a:t>
            </a:r>
            <a:r>
              <a:rPr lang="en-GB" sz="2400" dirty="0">
                <a:latin typeface="Gill Sans MT" panose="020B0502020104020203" pitchFamily="34" charset="0"/>
              </a:rPr>
              <a:t> help the robot avoid unexpected obstacles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553" y="3429000"/>
            <a:ext cx="2489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Figure 13:Initial Run: “Hourglass” Rotational Drift Defect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4B96C-FB51-62BC-884F-1989BCE1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12" y="1785271"/>
            <a:ext cx="2362274" cy="1549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BC5A1-5692-6BAC-6715-9F190949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32" y="3984622"/>
            <a:ext cx="2489433" cy="1689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09F1F4-7722-CEFE-096E-A86679F7084C}"/>
              </a:ext>
            </a:extLst>
          </p:cNvPr>
          <p:cNvSpPr txBox="1"/>
          <p:nvPr/>
        </p:nvSpPr>
        <p:spPr>
          <a:xfrm>
            <a:off x="7257342" y="5741034"/>
            <a:ext cx="255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 Figure 14:F </a:t>
            </a:r>
            <a:r>
              <a:rPr lang="en-GB" sz="1200" dirty="0" err="1">
                <a:solidFill>
                  <a:schemeClr val="bg1"/>
                </a:solidFill>
              </a:rPr>
              <a:t>inal</a:t>
            </a:r>
            <a:r>
              <a:rPr lang="en-GB" sz="1200" dirty="0">
                <a:solidFill>
                  <a:schemeClr val="bg1"/>
                </a:solidFill>
              </a:rPr>
              <a:t> Run (3rd Attempt): Clean Metric Map</a:t>
            </a:r>
          </a:p>
        </p:txBody>
      </p:sp>
    </p:spTree>
    <p:extLst>
      <p:ext uri="{BB962C8B-B14F-4D97-AF65-F5344CB8AC3E}">
        <p14:creationId xmlns:p14="http://schemas.microsoft.com/office/powerpoint/2010/main" val="339204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B265-11D7-4AA7-CA1C-3A07DA91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9F344F-97BD-1962-7822-B57F57C36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135398"/>
              </p:ext>
            </p:extLst>
          </p:nvPr>
        </p:nvGraphicFramePr>
        <p:xfrm>
          <a:off x="461682" y="1777266"/>
          <a:ext cx="450084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824">
                  <a:extLst>
                    <a:ext uri="{9D8B030D-6E8A-4147-A177-3AD203B41FA5}">
                      <a16:colId xmlns:a16="http://schemas.microsoft.com/office/drawing/2014/main" val="590012054"/>
                    </a:ext>
                  </a:extLst>
                </a:gridCol>
                <a:gridCol w="826994">
                  <a:extLst>
                    <a:ext uri="{9D8B030D-6E8A-4147-A177-3AD203B41FA5}">
                      <a16:colId xmlns:a16="http://schemas.microsoft.com/office/drawing/2014/main" val="354689127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42457764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664176472"/>
                    </a:ext>
                  </a:extLst>
                </a:gridCol>
              </a:tblGrid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Successful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Accuracy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05568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216696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9422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 err="1"/>
                        <a:t>Folow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683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1209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 err="1"/>
                        <a:t>Righ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313600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881687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96.67%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433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CCC717-1D5A-A376-9EA2-24F12135A061}"/>
              </a:ext>
            </a:extLst>
          </p:cNvPr>
          <p:cNvSpPr txBox="1"/>
          <p:nvPr/>
        </p:nvSpPr>
        <p:spPr>
          <a:xfrm>
            <a:off x="541244" y="1500267"/>
            <a:ext cx="3935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Gill Sans MT" panose="020B0502020104020203" pitchFamily="34" charset="0"/>
              </a:rPr>
              <a:t>Gesture Recognition Physical Trial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5D1798-C6BA-5585-35DD-92A1DD40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1" y="1777266"/>
            <a:ext cx="5559778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7D2ED6-F1C7-7DB9-791D-696EDA712216}"/>
              </a:ext>
            </a:extLst>
          </p:cNvPr>
          <p:cNvSpPr txBox="1"/>
          <p:nvPr/>
        </p:nvSpPr>
        <p:spPr>
          <a:xfrm>
            <a:off x="5943600" y="5295473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</a:rPr>
              <a:t>Figure 15:Per-Class Classification Accuracy of the Trained MLP Gesture Model</a:t>
            </a:r>
          </a:p>
        </p:txBody>
      </p:sp>
    </p:spTree>
    <p:extLst>
      <p:ext uri="{BB962C8B-B14F-4D97-AF65-F5344CB8AC3E}">
        <p14:creationId xmlns:p14="http://schemas.microsoft.com/office/powerpoint/2010/main" val="130146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9CE6-A9EB-13AB-FEF8-665CD98C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8C9944-00BA-9C10-23EB-46B3C2F92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267839"/>
              </p:ext>
            </p:extLst>
          </p:nvPr>
        </p:nvGraphicFramePr>
        <p:xfrm>
          <a:off x="838200" y="1825625"/>
          <a:ext cx="1051559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961060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38193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77233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Movement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Kinematic </a:t>
                      </a:r>
                      <a:r>
                        <a:rPr lang="en-GB" dirty="0" err="1"/>
                        <a:t>Behavior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36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Approaching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Rapid expansion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5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Continuous contraction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5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leftward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rightward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0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Centroid displacement within noise threshold (±4 </a:t>
                      </a:r>
                      <a:r>
                        <a:rPr lang="en-GB" dirty="0" err="1"/>
                        <a:t>px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147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9AF537-6481-D1EE-0DC2-4BF5269361AE}"/>
              </a:ext>
            </a:extLst>
          </p:cNvPr>
          <p:cNvSpPr txBox="1"/>
          <p:nvPr/>
        </p:nvSpPr>
        <p:spPr>
          <a:xfrm>
            <a:off x="990600" y="1481157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  <a:t>Movement Recognition Test Results</a:t>
            </a:r>
          </a:p>
        </p:txBody>
      </p:sp>
    </p:spTree>
    <p:extLst>
      <p:ext uri="{BB962C8B-B14F-4D97-AF65-F5344CB8AC3E}">
        <p14:creationId xmlns:p14="http://schemas.microsoft.com/office/powerpoint/2010/main" val="199401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CONCLUSION AND FUTURE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334" y="2127766"/>
            <a:ext cx="5319839" cy="3345117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99.38% gesture recognition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96.67% physical trial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Successful human movement prediction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ROS 2 integration achieved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SLAM and Nav2 validated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Real-time edge operation achieved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Safe obstacle detection implemented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7686" y="1943100"/>
            <a:ext cx="472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04207" y="1527601"/>
            <a:ext cx="443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8385" y="2127766"/>
            <a:ext cx="51908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Multi-waypoint autonomous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Proactive human-aware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Follow-to-Map exploration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NPU acceleration for AI tasks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Improved gimbal–chassis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Multi-sensor safety detection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Larger and more diverse testing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9232" y="1527601"/>
            <a:ext cx="382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Future</a:t>
            </a:r>
            <a:r>
              <a:rPr lang="en-US" sz="2400" b="1" dirty="0">
                <a:solidFill>
                  <a:schemeClr val="bg1"/>
                </a:solidFill>
              </a:rPr>
              <a:t> works</a:t>
            </a:r>
          </a:p>
        </p:txBody>
      </p:sp>
    </p:spTree>
    <p:extLst>
      <p:ext uri="{BB962C8B-B14F-4D97-AF65-F5344CB8AC3E}">
        <p14:creationId xmlns:p14="http://schemas.microsoft.com/office/powerpoint/2010/main" val="232517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[1]</a:t>
            </a:r>
            <a:r>
              <a:rPr lang="en-US" sz="2000" dirty="0">
                <a:latin typeface="Gill Sans MT" panose="020B0502020104020203" pitchFamily="34" charset="0"/>
              </a:rPr>
              <a:t> D. </a:t>
            </a:r>
            <a:r>
              <a:rPr lang="en-US" sz="2000" dirty="0" err="1">
                <a:latin typeface="Gill Sans MT" panose="020B0502020104020203" pitchFamily="34" charset="0"/>
              </a:rPr>
              <a:t>Tsitos</a:t>
            </a:r>
            <a:r>
              <a:rPr lang="en-US" sz="2000" dirty="0">
                <a:latin typeface="Gill Sans MT" panose="020B0502020104020203" pitchFamily="34" charset="0"/>
              </a:rPr>
              <a:t> </a:t>
            </a:r>
            <a:r>
              <a:rPr lang="en-US" sz="2000" i="1" dirty="0">
                <a:latin typeface="Gill Sans MT" panose="020B0502020104020203" pitchFamily="34" charset="0"/>
              </a:rPr>
              <a:t>et al</a:t>
            </a:r>
            <a:r>
              <a:rPr lang="en-US" sz="2000" dirty="0">
                <a:latin typeface="Gill Sans MT" panose="020B0502020104020203" pitchFamily="34" charset="0"/>
              </a:rPr>
              <a:t>., “Real-Time Feasibility of a Human Intention Prediction Method Evaluated Through a Competitive Human–Robot Reaching Game,” </a:t>
            </a:r>
            <a:r>
              <a:rPr lang="en-US" sz="2000" i="1" dirty="0">
                <a:latin typeface="Gill Sans MT" panose="020B0502020104020203" pitchFamily="34" charset="0"/>
              </a:rPr>
              <a:t>IEEE Robotics and Automation Letters</a:t>
            </a:r>
            <a:r>
              <a:rPr lang="en-US" sz="2000" dirty="0">
                <a:latin typeface="Gill Sans MT" panose="020B0502020104020203" pitchFamily="34" charset="0"/>
              </a:rPr>
              <a:t>, vol. 7, no. 4, pp. 10034–10041, Oct. 2022.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[2]</a:t>
            </a:r>
            <a:r>
              <a:rPr lang="en-US" sz="2000" dirty="0">
                <a:latin typeface="Gill Sans MT" panose="020B0502020104020203" pitchFamily="34" charset="0"/>
              </a:rPr>
              <a:t> J. A. Mahmud, B. C. Das, J. Shin, K. M. </a:t>
            </a:r>
            <a:r>
              <a:rPr lang="en-US" sz="2000" dirty="0" err="1">
                <a:latin typeface="Gill Sans MT" panose="020B0502020104020203" pitchFamily="34" charset="0"/>
              </a:rPr>
              <a:t>Hasib</a:t>
            </a:r>
            <a:r>
              <a:rPr lang="en-US" sz="2000" dirty="0">
                <a:latin typeface="Gill Sans MT" panose="020B0502020104020203" pitchFamily="34" charset="0"/>
              </a:rPr>
              <a:t>, R. </a:t>
            </a:r>
            <a:r>
              <a:rPr lang="en-US" sz="2000" dirty="0" err="1">
                <a:latin typeface="Gill Sans MT" panose="020B0502020104020203" pitchFamily="34" charset="0"/>
              </a:rPr>
              <a:t>Sadik</a:t>
            </a:r>
            <a:r>
              <a:rPr lang="en-US" sz="2000" dirty="0">
                <a:latin typeface="Gill Sans MT" panose="020B0502020104020203" pitchFamily="34" charset="0"/>
              </a:rPr>
              <a:t>, and M. F. </a:t>
            </a:r>
            <a:r>
              <a:rPr lang="en-US" sz="2000" dirty="0" err="1">
                <a:latin typeface="Gill Sans MT" panose="020B0502020104020203" pitchFamily="34" charset="0"/>
              </a:rPr>
              <a:t>Mridha</a:t>
            </a:r>
            <a:r>
              <a:rPr lang="en-US" sz="2000" dirty="0">
                <a:latin typeface="Gill Sans MT" panose="020B0502020104020203" pitchFamily="34" charset="0"/>
              </a:rPr>
              <a:t>, “3D Gesture Recognition and Adaptation for Human–Robot Interaction,” </a:t>
            </a:r>
            <a:r>
              <a:rPr lang="en-US" sz="2000" i="1" dirty="0">
                <a:latin typeface="Gill Sans MT" panose="020B0502020104020203" pitchFamily="34" charset="0"/>
              </a:rPr>
              <a:t>IEEE Access</a:t>
            </a:r>
            <a:r>
              <a:rPr lang="en-US" sz="2000" dirty="0">
                <a:latin typeface="Gill Sans MT" panose="020B0502020104020203" pitchFamily="34" charset="0"/>
              </a:rPr>
              <a:t>, vol. 10, pp. 116485–116507, 2022.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[3]</a:t>
            </a:r>
            <a:r>
              <a:rPr lang="en-US" sz="2000" dirty="0">
                <a:latin typeface="Gill Sans MT" panose="020B0502020104020203" pitchFamily="34" charset="0"/>
              </a:rPr>
              <a:t> G. Yang, S. Wang, H. Okamura, Y. Ueda, T. </a:t>
            </a:r>
            <a:r>
              <a:rPr lang="en-US" sz="2000" dirty="0" err="1">
                <a:latin typeface="Gill Sans MT" panose="020B0502020104020203" pitchFamily="34" charset="0"/>
              </a:rPr>
              <a:t>Yasui</a:t>
            </a:r>
            <a:r>
              <a:rPr lang="en-US" sz="2000" dirty="0">
                <a:latin typeface="Gill Sans MT" panose="020B0502020104020203" pitchFamily="34" charset="0"/>
              </a:rPr>
              <a:t>, T. Yamada, Y. Miyazawa, S. Yoshida, Y. Inada, S. </a:t>
            </a:r>
            <a:r>
              <a:rPr lang="en-US" sz="2000" dirty="0" err="1">
                <a:latin typeface="Gill Sans MT" panose="020B0502020104020203" pitchFamily="34" charset="0"/>
              </a:rPr>
              <a:t>Ino</a:t>
            </a:r>
            <a:r>
              <a:rPr lang="en-US" sz="2000" dirty="0">
                <a:latin typeface="Gill Sans MT" panose="020B0502020104020203" pitchFamily="34" charset="0"/>
              </a:rPr>
              <a:t>, K. </a:t>
            </a:r>
            <a:r>
              <a:rPr lang="en-US" sz="2000" dirty="0" err="1">
                <a:latin typeface="Gill Sans MT" panose="020B0502020104020203" pitchFamily="34" charset="0"/>
              </a:rPr>
              <a:t>Okuhata</a:t>
            </a:r>
            <a:r>
              <a:rPr lang="en-US" sz="2000" dirty="0">
                <a:latin typeface="Gill Sans MT" panose="020B0502020104020203" pitchFamily="34" charset="0"/>
              </a:rPr>
              <a:t>, and Y. </a:t>
            </a:r>
            <a:r>
              <a:rPr lang="en-US" sz="2000" dirty="0" err="1">
                <a:latin typeface="Gill Sans MT" panose="020B0502020104020203" pitchFamily="34" charset="0"/>
              </a:rPr>
              <a:t>Mizobuchi</a:t>
            </a:r>
            <a:r>
              <a:rPr lang="en-US" sz="2000" dirty="0">
                <a:latin typeface="Gill Sans MT" panose="020B0502020104020203" pitchFamily="34" charset="0"/>
              </a:rPr>
              <a:t>, “Safe and Efficient Motion Planning for Material Transportation Robots Considering Intention Prediction of Obstacles,” in </a:t>
            </a:r>
            <a:r>
              <a:rPr lang="en-US" sz="2000" i="1" dirty="0">
                <a:latin typeface="Gill Sans MT" panose="020B0502020104020203" pitchFamily="34" charset="0"/>
              </a:rPr>
              <a:t>Proc. IEEE Int. Conf. Mechatronics </a:t>
            </a:r>
            <a:r>
              <a:rPr lang="en-US" sz="2000" i="1" dirty="0" err="1">
                <a:latin typeface="Gill Sans MT" panose="020B0502020104020203" pitchFamily="34" charset="0"/>
              </a:rPr>
              <a:t>Autom</a:t>
            </a:r>
            <a:r>
              <a:rPr lang="en-US" sz="2000" i="1" dirty="0">
                <a:latin typeface="Gill Sans MT" panose="020B0502020104020203" pitchFamily="34" charset="0"/>
              </a:rPr>
              <a:t>. (ICMA)</a:t>
            </a:r>
            <a:r>
              <a:rPr lang="en-US" sz="2000" dirty="0">
                <a:latin typeface="Gill Sans MT" panose="020B0502020104020203" pitchFamily="34" charset="0"/>
              </a:rPr>
              <a:t>, Harbin, China, Aug. 2023, pp. 1179–1184.</a:t>
            </a:r>
          </a:p>
        </p:txBody>
      </p:sp>
    </p:spTree>
    <p:extLst>
      <p:ext uri="{BB962C8B-B14F-4D97-AF65-F5344CB8AC3E}">
        <p14:creationId xmlns:p14="http://schemas.microsoft.com/office/powerpoint/2010/main" val="1085223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800" dirty="0">
                <a:latin typeface="Gill Sans MT" panose="020B0502020104020203" pitchFamily="34" charset="0"/>
                <a:cs typeface="Times New Roman" panose="02020603050405020304" pitchFamily="18" charset="0"/>
              </a:rPr>
              <a:t>Questions And Discussion</a:t>
            </a:r>
          </a:p>
          <a:p>
            <a:pPr marL="0" indent="0" algn="ctr">
              <a:buNone/>
            </a:pPr>
            <a:r>
              <a:rPr lang="en-US" sz="4800" dirty="0">
                <a:latin typeface="Gill Sans MT" panose="020B0502020104020203" pitchFamily="34" charset="0"/>
                <a:cs typeface="Times New Roman" panose="02020603050405020304" pitchFamily="18" charset="0"/>
              </a:rPr>
              <a:t>Thank you</a:t>
            </a:r>
            <a:endParaRPr lang="en-US" sz="4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27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1359</Words>
  <Application>Microsoft Office PowerPoint</Application>
  <PresentationFormat>Widescreen</PresentationFormat>
  <Paragraphs>249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Calisto MT</vt:lpstr>
      <vt:lpstr>Gill Sans MT</vt:lpstr>
      <vt:lpstr>Wingdings</vt:lpstr>
      <vt:lpstr>Office Theme</vt:lpstr>
      <vt:lpstr>     </vt:lpstr>
      <vt:lpstr>PRESENTATION OUTLINE</vt:lpstr>
      <vt:lpstr>INTRODUCTION</vt:lpstr>
      <vt:lpstr>Problem Statement</vt:lpstr>
      <vt:lpstr>OBJECTIVES</vt:lpstr>
      <vt:lpstr>SIGNIFICANCE OF THE STUDY</vt:lpstr>
      <vt:lpstr>LITERATURE REVIEW</vt:lpstr>
      <vt:lpstr>METHODOLOGY</vt:lpstr>
      <vt:lpstr>SYSTEM ARCHITECTURE</vt:lpstr>
      <vt:lpstr>HARDWARE COMPONENTS</vt:lpstr>
      <vt:lpstr>HARDWARE COMPONENTS</vt:lpstr>
      <vt:lpstr>DATASET PREPARATION AND GESTURE RECOGNITION PIPELINE</vt:lpstr>
      <vt:lpstr>HUMAN MOVEMENT PREDICTION(LSTM)</vt:lpstr>
      <vt:lpstr>SLAM MAPPING AND LOCALISATION</vt:lpstr>
      <vt:lpstr>TESTING AND RESULTS</vt:lpstr>
      <vt:lpstr>TESTING AND RESULTS</vt:lpstr>
      <vt:lpstr>CONCLUSION AND FUTURE WORKS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</dc:creator>
  <cp:lastModifiedBy>eleana osei owusu</cp:lastModifiedBy>
  <cp:revision>291</cp:revision>
  <dcterms:created xsi:type="dcterms:W3CDTF">2020-12-21T23:45:00Z</dcterms:created>
  <dcterms:modified xsi:type="dcterms:W3CDTF">2026-09-15T16:57:16Z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6E3DABCEAFBD474A891E53D5B3EEA2E6</vt:lpwstr>
  </property>
  <property fmtid="{D5CDD505-2E9C-101B-9397-08002B2CF9AE}" pid="3" name="KSOProductBuildVer">
    <vt:lpwstr>1033-11.2.0.11486</vt:lpwstr>
  </property>
</Properties>
</file>