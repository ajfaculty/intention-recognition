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257" r:id="rId2"/>
    <p:sldId id="354" r:id="rId3"/>
    <p:sldId id="555" r:id="rId4"/>
    <p:sldId id="558" r:id="rId5"/>
    <p:sldId id="561" r:id="rId6"/>
    <p:sldId id="562" r:id="rId13"/>
    <p:sldId id="563" r:id="rId14"/>
    <p:sldId id="564" r:id="rId15"/>
    <p:sldId id="565" r:id="rId16"/>
    <p:sldId id="566" r:id="rId17"/>
    <p:sldId id="567" r:id="rId18"/>
    <p:sldId id="568" r:id="rId19"/>
    <p:sldId id="569" r:id="rId20"/>
    <p:sldId id="570" r:id="rId21"/>
    <p:sldId id="571" r:id="rId22"/>
    <p:sldId id="572"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FBEE616-86D3-4099-A968-B4A6BDE18D0F}">
          <p14:sldIdLst>
            <p14:sldId id="257"/>
            <p14:sldId id="354"/>
            <p14:sldId id="555"/>
            <p14:sldId id="558"/>
            <p14:sldId id="561"/>
          </p14:sldIdLst>
        </p14:section>
        <p14:section name="Untitled Section" id="{D22B2DA1-3DFA-46D2-BA1D-DAD7CC7F72F2}">
          <p14:sldIdLst/>
        </p14:section>
        <p14:section name="Untitled Section" id="{5930E777-D3D8-4E75-983C-AF214C42B144}">
          <p14:sldIdLst/>
        </p14:section>
      </p14:sectionLst>
    </p:ext>
    <p:ext uri="{EFAFB233-063F-42B5-8137-9DF3F51BA10A}">
      <p15:sldGuideLst xmlns:p15="http://schemas.microsoft.com/office/powerpoint/2012/main">
        <p15:guide id="1" orient="horz" pos="2199">
          <p15:clr>
            <a:srgbClr val="A4A3A4"/>
          </p15:clr>
        </p15:guide>
        <p15:guide id="2" pos="384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3DF9433-C4BD-03CD-4185-8F7C4220F16F}" name="Owusu Agyeman Antwi" initials="OA" userId="0c4d93facfc3ac5c"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a:srgbClr val="FFF9E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179" autoAdjust="0"/>
  </p:normalViewPr>
  <p:slideViewPr>
    <p:cSldViewPr snapToGrid="0">
      <p:cViewPr varScale="1">
        <p:scale>
          <a:sx n="82" d="100"/>
          <a:sy n="82" d="100"/>
        </p:scale>
        <p:origin x="720" y="72"/>
      </p:cViewPr>
      <p:guideLst>
        <p:guide orient="horz" pos="2199"/>
        <p:guide pos="384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microsoft.com/office/2018/10/relationships/authors" Target="authors.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5482A5-FD59-4225-A350-DA787E19AAD6}" type="datetimeFigureOut">
              <a:rPr lang="en-US" smtClean="0"/>
              <a:t>12/5/2025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0E7C8E-9966-49AA-A950-642A59F8B087}"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90E7C8E-9966-49AA-A950-642A59F8B087}" type="slidenum">
              <a:rPr lang="en-US" smtClean="0"/>
              <a:t>1</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3D334C30-18F6-499E-B529-FBBBA5BA8601}" type="datetimeFigureOut">
              <a:rPr lang="en-US" smtClean="0"/>
              <a:t>12/5/2025</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516EBCE5-9DE5-46EE-9318-4795EB416EE9}" type="slidenum">
              <a:rPr lang="en-US" smtClean="0"/>
              <a:t>‹#›</a:t>
            </a:fld>
            <a:endParaRPr lang="en-US"/>
          </a:p>
        </p:txBody>
      </p:sp>
      <p:sp>
        <p:nvSpPr>
          <p:cNvPr id="14" name="Content Placeholder 13"/>
          <p:cNvSpPr>
            <a:spLocks noGrp="1"/>
          </p:cNvSpPr>
          <p:nvPr>
            <p:ph sz="quarter" idx="13"/>
          </p:nvPr>
        </p:nvSpPr>
        <p:spPr>
          <a:xfrm>
            <a:off x="1712913" y="3832225"/>
            <a:ext cx="9186862" cy="1798638"/>
          </a:xfrm>
        </p:spPr>
        <p:txBody>
          <a:bodyPr/>
          <a:lstStyle>
            <a:lvl1pPr marL="0" indent="0">
              <a:buNone/>
              <a:defRPr/>
            </a:lvl1pPr>
          </a:lstStyle>
          <a:p>
            <a:pPr lvl="0"/>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a:xfrm>
            <a:off x="609600" y="6356351"/>
            <a:ext cx="2844800" cy="365125"/>
          </a:xfrm>
          <a:prstGeom prst="rect">
            <a:avLst/>
          </a:prstGeom>
        </p:spPr>
        <p:txBody>
          <a:bodyPr/>
          <a:lstStyle/>
          <a:p>
            <a:fld id="{365C8B60-5CF0-444C-8758-FD6AA4E3BF27}" type="datetime1">
              <a:rPr lang="en-GB" smtClean="0"/>
              <a:t>05/12/2025</a:t>
            </a:fld>
            <a:endParaRPr lang="en-GB" dirty="0"/>
          </a:p>
        </p:txBody>
      </p:sp>
      <p:sp>
        <p:nvSpPr>
          <p:cNvPr id="5" name="Footer Placeholder 4"/>
          <p:cNvSpPr>
            <a:spLocks noGrp="1"/>
          </p:cNvSpPr>
          <p:nvPr>
            <p:ph type="ftr" sz="quarter" idx="11"/>
          </p:nvPr>
        </p:nvSpPr>
        <p:spPr>
          <a:xfrm>
            <a:off x="4165600" y="6356351"/>
            <a:ext cx="3860800" cy="365125"/>
          </a:xfrm>
          <a:prstGeom prst="rect">
            <a:avLst/>
          </a:prstGeom>
        </p:spPr>
        <p:txBody>
          <a:bodyPr/>
          <a:lstStyle/>
          <a:p>
            <a:r>
              <a:rPr lang="en-GB" dirty="0"/>
              <a:t>....Linking Learners Everywhere 2013 All Rights Reserved</a:t>
            </a:r>
          </a:p>
        </p:txBody>
      </p:sp>
      <p:sp>
        <p:nvSpPr>
          <p:cNvPr id="6" name="Slide Number Placeholder 5"/>
          <p:cNvSpPr>
            <a:spLocks noGrp="1"/>
          </p:cNvSpPr>
          <p:nvPr>
            <p:ph type="sldNum" sz="quarter" idx="12"/>
          </p:nvPr>
        </p:nvSpPr>
        <p:spPr>
          <a:xfrm>
            <a:off x="8737600" y="6356351"/>
            <a:ext cx="2844800" cy="365125"/>
          </a:xfrm>
          <a:prstGeom prst="rect">
            <a:avLst/>
          </a:prstGeom>
        </p:spPr>
        <p:txBody>
          <a:bodyPr/>
          <a:lstStyle/>
          <a:p>
            <a:fld id="{0DF291AF-424A-45FD-966C-A7A9D7595FCE}" type="slidenum">
              <a:rPr lang="en-GB" smtClean="0"/>
              <a:t>‹#›</a:t>
            </a:fld>
            <a:endParaRPr lang="en-GB"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png"/><Relationship Id="rId5"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CC">
            <a:alpha val="0"/>
          </a:srgbClr>
        </a:solidFill>
        <a:effectLst/>
      </p:bgPr>
    </p:bg>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4038600" y="2334533"/>
            <a:ext cx="3309258" cy="3187020"/>
          </a:xfrm>
          <a:prstGeom prst="ellipse">
            <a:avLst/>
          </a:prstGeom>
          <a:ln>
            <a:noFill/>
          </a:ln>
          <a:effectLst>
            <a:softEdge rad="112500"/>
          </a:effectLst>
        </p:spPr>
      </p:pic>
      <p:sp>
        <p:nvSpPr>
          <p:cNvPr id="10" name="Rectangle 9"/>
          <p:cNvSpPr/>
          <p:nvPr userDrawn="1"/>
        </p:nvSpPr>
        <p:spPr>
          <a:xfrm>
            <a:off x="0" y="0"/>
            <a:ext cx="12192000" cy="6176963"/>
          </a:xfrm>
          <a:prstGeom prst="rect">
            <a:avLst/>
          </a:prstGeom>
          <a:solidFill>
            <a:srgbClr val="FFFFCC">
              <a:alpha val="86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Rectangle 12"/>
          <p:cNvSpPr/>
          <p:nvPr userDrawn="1"/>
        </p:nvSpPr>
        <p:spPr>
          <a:xfrm>
            <a:off x="0" y="0"/>
            <a:ext cx="9144000" cy="185738"/>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userDrawn="1"/>
        </p:nvSpPr>
        <p:spPr>
          <a:xfrm>
            <a:off x="9144000" y="0"/>
            <a:ext cx="3048000" cy="185738"/>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userDrawn="1"/>
        </p:nvSpPr>
        <p:spPr>
          <a:xfrm>
            <a:off x="0" y="6176963"/>
            <a:ext cx="12192000" cy="681037"/>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p:cNvPicPr>
            <a:picLocks noChangeAspect="1"/>
          </p:cNvPicPr>
          <p:nvPr userDrawn="1"/>
        </p:nvPicPr>
        <p:blipFill>
          <a:blip r:embed="rId5" cstate="print"/>
          <a:stretch>
            <a:fillRect/>
          </a:stretch>
        </p:blipFill>
        <p:spPr>
          <a:xfrm>
            <a:off x="8210550" y="6176963"/>
            <a:ext cx="3981450" cy="684907"/>
          </a:xfrm>
          <a:prstGeom prst="rect">
            <a:avLst/>
          </a:prstGeom>
          <a:ln>
            <a:noFill/>
          </a:ln>
          <a:effectLst>
            <a:softEdge rad="112500"/>
          </a:effectLst>
        </p:spPr>
      </p:pic>
    </p:spTree>
  </p:cSld>
  <p:clrMap bg1="dk1" tx1="lt1" bg2="dk2" tx2="lt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jpg"/><Relationship Id="rId3"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jpg"/><Relationship Id="rId3" Type="http://schemas.openxmlformats.org/officeDocument/2006/relationships/image" Target="../media/image10.jpg"/><Relationship Id="rId4" Type="http://schemas.openxmlformats.org/officeDocument/2006/relationships/image" Target="../media/image11.jpg"/><Relationship Id="rId5" Type="http://schemas.openxmlformats.org/officeDocument/2006/relationships/image" Target="../media/image12.jpg"/><Relationship Id="rId6" Type="http://schemas.openxmlformats.org/officeDocument/2006/relationships/image" Target="../media/image1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jpg"/><Relationship Id="rId3" Type="http://schemas.openxmlformats.org/officeDocument/2006/relationships/image" Target="../media/image1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 Id="rId3" Type="http://schemas.openxmlformats.org/officeDocument/2006/relationships/image" Target="../media/image17.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0"/>
            <a:ext cx="5573486" cy="685800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p:cNvSpPr/>
          <p:nvPr/>
        </p:nvSpPr>
        <p:spPr>
          <a:xfrm>
            <a:off x="5573486" y="0"/>
            <a:ext cx="348343" cy="6858001"/>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p:cNvSpPr/>
          <p:nvPr/>
        </p:nvSpPr>
        <p:spPr>
          <a:xfrm>
            <a:off x="5921654" y="0"/>
            <a:ext cx="6270040" cy="6858000"/>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wrap="square" lIns="365760" rIns="365760" tIns="320040" bIns="320040"/>
          <a:lstStyle/>
          <a:p>
            <a:pPr algn="ctr">
              <a:lnSpc>
                <a:spcPct val="115000"/>
              </a:lnSpc>
              <a:spcAft>
                <a:spcPts val="100"/>
              </a:spcAft>
              <a:defRPr sz="1400" b="1" i="0">
                <a:solidFill>
                  <a:srgbClr val="FDB813"/>
                </a:solidFill>
                <a:latin typeface="Calisto MT"/>
              </a:defRPr>
            </a:pPr>
            <a:r>
              <a:t>FACULTY OF ENGINEERING</a:t>
            </a:r>
            <a:endParaRPr lang="en-US" dirty="0">
              <a:solidFill>
                <a:schemeClr val="tx1"/>
              </a:solidFill>
              <a:latin typeface="Gill Sans MT" panose="020B0502020104020203" pitchFamily="34" charset="0"/>
              <a:cs typeface="Gill Sans MT" panose="020B0502020104020203" pitchFamily="34" charset="0"/>
            </a:endParaRPr>
          </a:p>
          <a:p>
            <a:pPr algn="ctr">
              <a:lnSpc>
                <a:spcPct val="115000"/>
              </a:lnSpc>
              <a:spcAft>
                <a:spcPts val="1400"/>
              </a:spcAft>
              <a:defRPr sz="1300" b="1" i="0">
                <a:solidFill>
                  <a:srgbClr val="E2E8F0"/>
                </a:solidFill>
                <a:latin typeface="Calisto MT"/>
              </a:defRPr>
            </a:pPr>
            <a:r>
              <a:t>DEPARTMENT OF COMPUTER ENGINEERING</a:t>
            </a:r>
          </a:p>
          <a:p>
            <a:pPr algn="ctr">
              <a:lnSpc>
                <a:spcPct val="115000"/>
              </a:lnSpc>
              <a:spcAft>
                <a:spcPts val="1200"/>
              </a:spcAft>
              <a:defRPr sz="1800" b="1" i="0">
                <a:solidFill>
                  <a:srgbClr val="FFFFFF"/>
                </a:solidFill>
                <a:latin typeface="Calisto MT"/>
              </a:defRPr>
            </a:pPr>
            <a:r>
              <a:t>DEVELOPMENT AND IMPLEMENTATION OF A ROBOTIC APPLICATION FOR HUMAN INTENTION RECOGNITION USING MOTION AND HAND GESTURE</a:t>
            </a:r>
          </a:p>
          <a:p>
            <a:pPr algn="ctr">
              <a:lnSpc>
                <a:spcPct val="115000"/>
              </a:lnSpc>
              <a:spcAft>
                <a:spcPts val="1800"/>
              </a:spcAft>
              <a:defRPr sz="1200" b="0" i="1">
                <a:solidFill>
                  <a:srgbClr val="E2E8F0"/>
                </a:solidFill>
                <a:latin typeface="Calisto MT"/>
              </a:defRPr>
            </a:pPr>
            <a:r>
              <a:t>A Final Project Report Submitted in Partial Fulfillment of the Requirements for the Degree of Bachelor of Science in Computer Engineering</a:t>
            </a:r>
          </a:p>
          <a:p>
            <a:pPr algn="ctr">
              <a:lnSpc>
                <a:spcPct val="115000"/>
              </a:lnSpc>
              <a:spcAft>
                <a:spcPts val="200"/>
              </a:spcAft>
              <a:defRPr sz="1200" b="1" i="0">
                <a:solidFill>
                  <a:srgbClr val="FDB813"/>
                </a:solidFill>
                <a:latin typeface="Calisto MT"/>
              </a:defRPr>
            </a:pPr>
            <a:r>
              <a:t>PRESENTATION BY:</a:t>
            </a:r>
          </a:p>
          <a:p>
            <a:pPr algn="ctr">
              <a:lnSpc>
                <a:spcPct val="115000"/>
              </a:lnSpc>
              <a:spcAft>
                <a:spcPts val="200"/>
              </a:spcAft>
              <a:defRPr sz="1350" b="1" i="0">
                <a:solidFill>
                  <a:srgbClr val="FFFFFF"/>
                </a:solidFill>
                <a:latin typeface="Calisto MT"/>
              </a:defRPr>
            </a:pPr>
            <a:r>
              <a:t>ELEANA OSEI OWUSU — 4121230024</a:t>
            </a:r>
          </a:p>
          <a:p>
            <a:pPr algn="ctr">
              <a:lnSpc>
                <a:spcPct val="115000"/>
              </a:lnSpc>
              <a:spcAft>
                <a:spcPts val="1600"/>
              </a:spcAft>
              <a:defRPr sz="1350" b="1" i="0">
                <a:solidFill>
                  <a:srgbClr val="FFFFFF"/>
                </a:solidFill>
                <a:latin typeface="Calisto MT"/>
              </a:defRPr>
            </a:pPr>
            <a:r>
              <a:t>JOEL NII ADJETEY AHULU — 4121230020</a:t>
            </a:r>
          </a:p>
          <a:p>
            <a:pPr algn="ctr">
              <a:lnSpc>
                <a:spcPct val="115000"/>
              </a:lnSpc>
              <a:spcAft>
                <a:spcPts val="200"/>
              </a:spcAft>
              <a:defRPr sz="1300" b="1" i="0">
                <a:solidFill>
                  <a:srgbClr val="FDB813"/>
                </a:solidFill>
                <a:latin typeface="Calisto MT"/>
              </a:defRPr>
            </a:pPr>
            <a:r>
              <a:t>SUPERVISOR: MR. MICHEAL XENYA</a:t>
            </a:r>
          </a:p>
          <a:p>
            <a:pPr algn="ctr">
              <a:lnSpc>
                <a:spcPct val="115000"/>
              </a:lnSpc>
              <a:spcAft>
                <a:spcPts val="0"/>
              </a:spcAft>
              <a:defRPr sz="1150" b="0" i="0">
                <a:solidFill>
                  <a:srgbClr val="E2E8F0"/>
                </a:solidFill>
                <a:latin typeface="Calisto MT"/>
              </a:defRPr>
            </a:pPr>
            <a:r>
              <a:t>ACADEMIC YEAR: 2025/2026</a:t>
            </a:r>
          </a:p>
        </p:txBody>
      </p:sp>
      <p:sp>
        <p:nvSpPr>
          <p:cNvPr id="2" name="Title 1"/>
          <p:cNvSpPr>
            <a:spLocks noGrp="1"/>
          </p:cNvSpPr>
          <p:nvPr>
            <p:ph type="ctrTitle"/>
          </p:nvPr>
        </p:nvSpPr>
        <p:spPr>
          <a:xfrm>
            <a:off x="5921829" y="5943600"/>
            <a:ext cx="6008913" cy="575187"/>
          </a:xfrm>
        </p:spPr>
        <p:txBody>
          <a:bodyPr>
            <a:normAutofit fontScale="90000"/>
          </a:bodyPr>
          <a:lstStyle/>
          <a:p>
            <a:pPr lvl="0" fontAlgn="base">
              <a:lnSpc>
                <a:spcPct val="200000"/>
              </a:lnSpc>
              <a:spcBef>
                <a:spcPts val="0"/>
              </a:spcBef>
              <a:buClr>
                <a:srgbClr val="000000"/>
              </a:buClr>
              <a:buSzPts val="1100"/>
            </a:pPr>
            <a:endParaRPr lang="en-US" sz="3200" b="1" dirty="0">
              <a:solidFill>
                <a:schemeClr val="tx1">
                  <a:lumMod val="95000"/>
                </a:schemeClr>
              </a:solidFill>
              <a:latin typeface="Arial" panose="020B0604020202020204" pitchFamily="34" charset="0"/>
              <a:cs typeface="Arial" panose="020B0604020202020204" pitchFamily="34" charset="0"/>
            </a:endParaRP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9060" y="2658358"/>
            <a:ext cx="3995365" cy="3629319"/>
          </a:xfrm>
          <a:prstGeom prst="rect">
            <a:avLst/>
          </a:prstGeom>
        </p:spPr>
      </p:pic>
      <p:sp>
        <p:nvSpPr>
          <p:cNvPr id="10" name="TextBox 9"/>
          <p:cNvSpPr txBox="1"/>
          <p:nvPr/>
        </p:nvSpPr>
        <p:spPr>
          <a:xfrm>
            <a:off x="75414" y="210215"/>
            <a:ext cx="5846415" cy="2308324"/>
          </a:xfrm>
          <a:prstGeom prst="rect">
            <a:avLst/>
          </a:prstGeom>
          <a:noFill/>
        </p:spPr>
        <p:txBody>
          <a:bodyPr wrap="square" rtlCol="0">
            <a:spAutoFit/>
          </a:bodyPr>
          <a:lstStyle/>
          <a:p>
            <a:pPr algn="ctr"/>
            <a:r>
              <a:rPr lang="en-US" sz="3600" b="1" dirty="0">
                <a:solidFill>
                  <a:srgbClr val="002060"/>
                </a:solidFill>
                <a:latin typeface="Gill Sans MT" panose="020B0502020104020203" pitchFamily="34" charset="0"/>
                <a:ea typeface="Tahoma" panose="020B0604030504040204" pitchFamily="34" charset="0"/>
                <a:cs typeface="Arial" panose="020B0604020202020204" pitchFamily="34" charset="0"/>
              </a:rPr>
              <a:t>GHANA COMMUNICATION TECHNOLOGY UNIVERSITY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515600" cy="913169"/>
          </a:xfrm>
        </p:spPr>
        <p:txBody>
          <a:bodyPr>
            <a:normAutofit/>
          </a:bodyPr>
          <a:lstStyle/>
          <a:p>
            <a:pPr algn="ctr">
              <a:lnSpc>
                <a:spcPct val="115000"/>
              </a:lnSpc>
              <a:spcBef>
                <a:spcPts val="0"/>
              </a:spcBef>
              <a:spcAft>
                <a:spcPts val="200"/>
              </a:spcAft>
              <a:defRPr sz="2800" b="1" i="0">
                <a:solidFill>
                  <a:srgbClr val="002060"/>
                </a:solidFill>
                <a:latin typeface="Calisto MT"/>
              </a:defRPr>
            </a:pPr>
            <a:r>
              <a:t>PRESENTATION OUTLINE</a:t>
            </a:r>
            <a:endParaRPr lang="en-GB" sz="4000" b="1" u="sng" dirty="0">
              <a:solidFill>
                <a:srgbClr val="C00000"/>
              </a:solidFill>
              <a:latin typeface="Gill Sans MT" panose="020B0502020104020203" pitchFamily="34" charset="0"/>
              <a:ea typeface="Tahoma" panose="020B0604030504040204" pitchFamily="34" charset="0"/>
              <a:cs typeface="Times New Roman" panose="02020603050405020304" pitchFamily="18" charset="0"/>
              <a:sym typeface="+mn-ea"/>
            </a:endParaRPr>
          </a:p>
        </p:txBody>
      </p:sp>
      <p:sp>
        <p:nvSpPr>
          <p:cNvPr id="5" name="Content Placeholder 4"/>
          <p:cNvSpPr>
            <a:spLocks noGrp="1"/>
          </p:cNvSpPr>
          <p:nvPr>
            <p:ph idx="1"/>
          </p:nvPr>
        </p:nvSpPr>
        <p:spPr>
          <a:xfrm>
            <a:off x="278364" y="1362269"/>
            <a:ext cx="11635272" cy="4693713"/>
          </a:xfrm>
        </p:spPr>
        <p:txBody>
          <a:bodyPr>
            <a:noAutofit/>
          </a:bodyPr>
          <a:lstStyle/>
          <a:p>
            <a:pPr>
              <a:buFont typeface="Wingdings" panose="05000000000000000000" pitchFamily="2" charset="2"/>
              <a:buChar char="§"/>
            </a:pPr>
            <a:endParaRPr lang="en-US" sz="2400" dirty="0">
              <a:latin typeface="Gill Sans MT" panose="020B0502020104020203" pitchFamily="34" charset="0"/>
              <a:cs typeface="Gill Sans MT" panose="020B0502020104020203" pitchFamily="34" charset="0"/>
            </a:endParaRPr>
          </a:p>
        </p:txBody>
      </p:sp>
      <p:sp>
        <p:nvSpPr>
          <p:cNvPr id="6" name="Outline_Box"/>
          <p:cNvSpPr txBox="1"/>
          <p:nvPr/>
        </p:nvSpPr>
        <p:spPr>
          <a:xfrm>
            <a:off x="1371600" y="1463040"/>
            <a:ext cx="9445752" cy="4480560"/>
          </a:xfrm>
          <a:prstGeom prst="rect">
            <a:avLst/>
          </a:prstGeom>
          <a:noFill/>
        </p:spPr>
        <p:txBody>
          <a:bodyPr wrap="square" tIns="91440" bIns="91440">
            <a:spAutoFit/>
          </a:bodyPr>
          <a:lstStyle/>
          <a:p>
            <a:pPr algn="l">
              <a:lnSpc>
                <a:spcPct val="115000"/>
              </a:lnSpc>
              <a:spcAft>
                <a:spcPts val="1200"/>
              </a:spcAft>
              <a:defRPr sz="2100" b="1">
                <a:solidFill>
                  <a:srgbClr val="002060"/>
                </a:solidFill>
                <a:latin typeface="Calisto MT"/>
              </a:defRPr>
            </a:pPr>
            <a:r>
              <a:t>01. Introduction, Problem Statement &amp; Objectives</a:t>
            </a:r>
          </a:p>
          <a:p>
            <a:pPr algn="l">
              <a:lnSpc>
                <a:spcPct val="115000"/>
              </a:lnSpc>
              <a:spcAft>
                <a:spcPts val="1200"/>
              </a:spcAft>
              <a:defRPr sz="2100" b="1">
                <a:solidFill>
                  <a:srgbClr val="002060"/>
                </a:solidFill>
                <a:latin typeface="Calisto MT"/>
              </a:defRPr>
            </a:pPr>
            <a:r>
              <a:t>02. Literature Review &amp; Critical Research Gaps</a:t>
            </a:r>
          </a:p>
          <a:p>
            <a:pPr algn="l">
              <a:lnSpc>
                <a:spcPct val="115000"/>
              </a:lnSpc>
              <a:spcAft>
                <a:spcPts val="1200"/>
              </a:spcAft>
              <a:defRPr sz="2100" b="1">
                <a:solidFill>
                  <a:srgbClr val="002060"/>
                </a:solidFill>
                <a:latin typeface="Calisto MT"/>
              </a:defRPr>
            </a:pPr>
            <a:r>
              <a:t>03. System Architecture &amp; 6-Phase Methodology</a:t>
            </a:r>
          </a:p>
          <a:p>
            <a:pPr algn="l">
              <a:lnSpc>
                <a:spcPct val="115000"/>
              </a:lnSpc>
              <a:spcAft>
                <a:spcPts val="1200"/>
              </a:spcAft>
              <a:defRPr sz="2100" b="1">
                <a:solidFill>
                  <a:srgbClr val="002060"/>
                </a:solidFill>
                <a:latin typeface="Calisto MT"/>
              </a:defRPr>
            </a:pPr>
            <a:r>
              <a:t>04. Implementation &amp; Intelligent Algorithms</a:t>
            </a:r>
          </a:p>
          <a:p>
            <a:pPr algn="l">
              <a:lnSpc>
                <a:spcPct val="115000"/>
              </a:lnSpc>
              <a:spcAft>
                <a:spcPts val="1200"/>
              </a:spcAft>
              <a:defRPr sz="2100" b="1">
                <a:solidFill>
                  <a:srgbClr val="002060"/>
                </a:solidFill>
                <a:latin typeface="Calisto MT"/>
              </a:defRPr>
            </a:pPr>
            <a:r>
              <a:t>05. Testing, Results &amp; Safety Analysis</a:t>
            </a:r>
          </a:p>
          <a:p>
            <a:pPr algn="l">
              <a:lnSpc>
                <a:spcPct val="115000"/>
              </a:lnSpc>
              <a:spcAft>
                <a:spcPts val="1200"/>
              </a:spcAft>
              <a:defRPr sz="2100" b="1">
                <a:solidFill>
                  <a:srgbClr val="002060"/>
                </a:solidFill>
                <a:latin typeface="Calisto MT"/>
              </a:defRPr>
            </a:pPr>
            <a:r>
              <a:t>06. Conclusion, Limitations &amp; Recommendations</a:t>
            </a:r>
          </a:p>
          <a:p>
            <a:pPr algn="l">
              <a:lnSpc>
                <a:spcPct val="115000"/>
              </a:lnSpc>
              <a:spcAft>
                <a:spcPts val="1200"/>
              </a:spcAft>
              <a:defRPr sz="2100" b="1">
                <a:solidFill>
                  <a:srgbClr val="002060"/>
                </a:solidFill>
                <a:latin typeface="Calisto MT"/>
              </a:defRPr>
            </a:pPr>
            <a:r>
              <a:t>07. Key References (IEEE Format)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26557"/>
          </a:xfrm>
        </p:spPr>
        <p:txBody>
          <a:bodyPr>
            <a:normAutofit/>
          </a:bodyPr>
          <a:lstStyle/>
          <a:p>
            <a:pPr algn="ctr">
              <a:lnSpc>
                <a:spcPct val="115000"/>
              </a:lnSpc>
              <a:spcBef>
                <a:spcPts val="0"/>
              </a:spcBef>
              <a:spcAft>
                <a:spcPts val="200"/>
              </a:spcAft>
              <a:defRPr sz="2800" b="1" i="0">
                <a:solidFill>
                  <a:srgbClr val="002060"/>
                </a:solidFill>
                <a:latin typeface="Calisto MT"/>
              </a:defRPr>
            </a:pPr>
            <a:r>
              <a:t>INTRODUCTION &amp; RESEARCH BACKGROUND</a:t>
            </a:r>
            <a:endParaRPr lang="en-US" sz="4000" b="1" u="sng" dirty="0">
              <a:gradFill>
                <a:gsLst>
                  <a:gs pos="0">
                    <a:srgbClr val="E30000"/>
                  </a:gs>
                  <a:gs pos="100000">
                    <a:srgbClr val="760303"/>
                  </a:gs>
                </a:gsLst>
                <a:lin scaled="0"/>
              </a:gradFill>
              <a:latin typeface="Gill Sans MT" panose="020B0502020104020203" pitchFamily="34" charset="0"/>
              <a:cs typeface="Gill Sans MT" panose="020B0502020104020203" pitchFamily="34" charset="0"/>
            </a:endParaRPr>
          </a:p>
        </p:txBody>
      </p:sp>
      <p:sp>
        <p:nvSpPr>
          <p:cNvPr id="3" name="Content Placeholder 2"/>
          <p:cNvSpPr>
            <a:spLocks noGrp="1"/>
          </p:cNvSpPr>
          <p:nvPr>
            <p:ph idx="1"/>
          </p:nvPr>
        </p:nvSpPr>
        <p:spPr>
          <a:xfrm>
            <a:off x="410547" y="1231642"/>
            <a:ext cx="11364686" cy="4945322"/>
          </a:xfrm>
        </p:spPr>
        <p:txBody>
          <a:bodyPr>
            <a:normAutofit/>
          </a:bodyPr>
          <a:lstStyle/>
          <a:p>
            <a:pPr>
              <a:buFont typeface="Wingdings" panose="05000000000000000000" pitchFamily="2" charset="2"/>
              <a:buChar char="§"/>
            </a:pPr>
            <a:endParaRPr lang="en-US" sz="2000" dirty="0">
              <a:latin typeface="Gill Sans MT" panose="020B0502020104020203" pitchFamily="34" charset="0"/>
              <a:cs typeface="Gill Sans MT" panose="020B0502020104020203" pitchFamily="34" charset="0"/>
            </a:endParaRPr>
          </a:p>
        </p:txBody>
      </p:sp>
      <p:sp>
        <p:nvSpPr>
          <p:cNvPr id="4" name="Intro_Text"/>
          <p:cNvSpPr txBox="1"/>
          <p:nvPr/>
        </p:nvSpPr>
        <p:spPr>
          <a:xfrm>
            <a:off x="777240" y="1325880"/>
            <a:ext cx="6263640" cy="4480560"/>
          </a:xfrm>
          <a:prstGeom prst="rect">
            <a:avLst/>
          </a:prstGeom>
          <a:noFill/>
        </p:spPr>
        <p:txBody>
          <a:bodyPr wrap="square" tIns="91440" bIns="91440">
            <a:spAutoFit/>
          </a:bodyPr>
          <a:lstStyle/>
          <a:p>
            <a:pPr algn="l">
              <a:lnSpc>
                <a:spcPct val="115000"/>
              </a:lnSpc>
              <a:spcBef>
                <a:spcPts val="0"/>
              </a:spcBef>
              <a:spcAft>
                <a:spcPts val="300"/>
              </a:spcAft>
              <a:defRPr sz="1800" b="1" i="0">
                <a:solidFill>
                  <a:srgbClr val="002060"/>
                </a:solidFill>
                <a:latin typeface="Calisto MT"/>
              </a:defRPr>
            </a:pPr>
            <a:r>
              <a:t>Robots Working Directly with Humans</a:t>
            </a:r>
          </a:p>
          <a:p>
            <a:pPr algn="l">
              <a:lnSpc>
                <a:spcPct val="118000"/>
              </a:lnSpc>
              <a:spcBef>
                <a:spcPts val="0"/>
              </a:spcBef>
              <a:spcAft>
                <a:spcPts val="1400"/>
              </a:spcAft>
              <a:defRPr sz="1500" b="0" i="0">
                <a:solidFill>
                  <a:srgbClr val="1E293B"/>
                </a:solidFill>
                <a:latin typeface="Calisto MT"/>
              </a:defRPr>
            </a:pPr>
            <a:r>
              <a:t>Robots are leaving safety cages to work alongside people in hospitals, warehouses, and homes. For humans and robots to coexist safely, the robot must understand where people are and respect their personal space.</a:t>
            </a:r>
          </a:p>
          <a:p>
            <a:pPr algn="l">
              <a:lnSpc>
                <a:spcPct val="115000"/>
              </a:lnSpc>
              <a:spcBef>
                <a:spcPts val="0"/>
              </a:spcBef>
              <a:spcAft>
                <a:spcPts val="300"/>
              </a:spcAft>
              <a:defRPr sz="1800" b="1" i="0">
                <a:solidFill>
                  <a:srgbClr val="002060"/>
                </a:solidFill>
                <a:latin typeface="Calisto MT"/>
              </a:defRPr>
            </a:pPr>
            <a:r>
              <a:t>Natural, Hands-Free Interaction</a:t>
            </a:r>
          </a:p>
          <a:p>
            <a:pPr algn="l">
              <a:lnSpc>
                <a:spcPct val="118000"/>
              </a:lnSpc>
              <a:spcBef>
                <a:spcPts val="0"/>
              </a:spcBef>
              <a:spcAft>
                <a:spcPts val="1400"/>
              </a:spcAft>
              <a:defRPr sz="1500" b="0" i="0">
                <a:solidFill>
                  <a:srgbClr val="1E293B"/>
                </a:solidFill>
                <a:latin typeface="Calisto MT"/>
              </a:defRPr>
            </a:pPr>
            <a:r>
              <a:t>Instead of requiring handheld controllers, touchscreens, or keyboards, humans can guide the robot using natural hand gestures and body movement—just like signaling to a human coworker.</a:t>
            </a:r>
          </a:p>
          <a:p>
            <a:pPr algn="l">
              <a:lnSpc>
                <a:spcPct val="115000"/>
              </a:lnSpc>
              <a:spcBef>
                <a:spcPts val="0"/>
              </a:spcBef>
              <a:spcAft>
                <a:spcPts val="300"/>
              </a:spcAft>
              <a:defRPr sz="1800" b="1" i="0">
                <a:solidFill>
                  <a:srgbClr val="002060"/>
                </a:solidFill>
                <a:latin typeface="Calisto MT"/>
              </a:defRPr>
            </a:pPr>
            <a:r>
              <a:t>Fast Onboard Intelligence (No Cloud Lag)</a:t>
            </a:r>
          </a:p>
          <a:p>
            <a:pPr algn="l">
              <a:lnSpc>
                <a:spcPct val="118000"/>
              </a:lnSpc>
              <a:spcBef>
                <a:spcPts val="0"/>
              </a:spcBef>
              <a:spcAft>
                <a:spcPts val="0"/>
              </a:spcAft>
              <a:defRPr sz="1500" b="0" i="0">
                <a:solidFill>
                  <a:srgbClr val="1E293B"/>
                </a:solidFill>
                <a:latin typeface="Calisto MT"/>
              </a:defRPr>
            </a:pPr>
            <a:r>
              <a:t>Sending live video over the internet causes dangerous delays (&gt;200 ms) and fails when Wi-Fi drops. In this project, all AI recognition and navigation decisions happen entirely inside the robot in real time.</a:t>
            </a:r>
          </a:p>
        </p:txBody>
      </p:sp>
      <p:pic>
        <p:nvPicPr>
          <p:cNvPr id="5" name="Intro_Image" descr="image.jpg"/>
          <p:cNvPicPr>
            <a:picLocks noChangeAspect="1"/>
          </p:cNvPicPr>
          <p:nvPr/>
        </p:nvPicPr>
        <p:blipFill>
          <a:blip r:embed="rId3"/>
          <a:stretch>
            <a:fillRect/>
          </a:stretch>
        </p:blipFill>
        <p:spPr>
          <a:xfrm>
            <a:off x="7315200" y="1417320"/>
            <a:ext cx="4206240" cy="3154680"/>
          </a:xfrm>
          <a:prstGeom prst="rect">
            <a:avLst/>
          </a:prstGeom>
        </p:spPr>
      </p:pic>
      <p:sp>
        <p:nvSpPr>
          <p:cNvPr id="6" name="Intro_Caption"/>
          <p:cNvSpPr txBox="1"/>
          <p:nvPr/>
        </p:nvSpPr>
        <p:spPr>
          <a:xfrm>
            <a:off x="7315200" y="4681728"/>
            <a:ext cx="4206240" cy="731520"/>
          </a:xfrm>
          <a:prstGeom prst="rect">
            <a:avLst/>
          </a:prstGeom>
          <a:noFill/>
        </p:spPr>
        <p:txBody>
          <a:bodyPr wrap="square" lIns="45720" rIns="45720">
            <a:spAutoFit/>
          </a:bodyPr>
          <a:lstStyle/>
          <a:p>
            <a:pPr algn="ctr">
              <a:lnSpc>
                <a:spcPct val="115000"/>
              </a:lnSpc>
              <a:spcBef>
                <a:spcPts val="0"/>
              </a:spcBef>
              <a:spcAft>
                <a:spcPts val="200"/>
              </a:spcAft>
              <a:defRPr sz="1200" b="0" i="1">
                <a:solidFill>
                  <a:srgbClr val="475569"/>
                </a:solidFill>
                <a:latin typeface="Calisto MT"/>
              </a:defRPr>
            </a:pPr>
            <a:r>
              <a:t>Figure 1.1: Collaborative Human-Robot Interaction (HRI) in an industrial shared workspace, illustrating contactless gesture coordination.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863"/>
          </a:xfrm>
        </p:spPr>
        <p:txBody>
          <a:bodyPr>
            <a:normAutofit/>
          </a:bodyPr>
          <a:lstStyle/>
          <a:p>
            <a:pPr algn="ctr">
              <a:lnSpc>
                <a:spcPct val="115000"/>
              </a:lnSpc>
              <a:spcBef>
                <a:spcPts val="0"/>
              </a:spcBef>
              <a:spcAft>
                <a:spcPts val="200"/>
              </a:spcAft>
              <a:defRPr sz="2800" b="1" i="0">
                <a:solidFill>
                  <a:srgbClr val="002060"/>
                </a:solidFill>
                <a:latin typeface="Calisto MT"/>
              </a:defRPr>
            </a:pPr>
            <a:r>
              <a:t>PROBLEM STATEMENT</a:t>
            </a:r>
            <a:endParaRPr lang="en-US" sz="4000" b="1" u="sng" dirty="0">
              <a:solidFill>
                <a:srgbClr val="C00000"/>
              </a:solidFill>
              <a:latin typeface="Gill Sans MT" panose="020B0502020104020203" pitchFamily="34" charset="0"/>
              <a:cs typeface="Times New Roman" panose="02020603050405020304" pitchFamily="18" charset="0"/>
            </a:endParaRPr>
          </a:p>
        </p:txBody>
      </p:sp>
      <p:sp>
        <p:nvSpPr>
          <p:cNvPr id="3" name="Content Placeholder 2"/>
          <p:cNvSpPr>
            <a:spLocks noGrp="1"/>
          </p:cNvSpPr>
          <p:nvPr>
            <p:ph idx="1"/>
          </p:nvPr>
        </p:nvSpPr>
        <p:spPr>
          <a:xfrm>
            <a:off x="326571" y="1343608"/>
            <a:ext cx="11420670" cy="4833355"/>
          </a:xfrm>
        </p:spPr>
        <p:txBody>
          <a:bodyPr>
            <a:normAutofit/>
          </a:bodyPr>
          <a:lstStyle/>
          <a:p>
            <a:pPr>
              <a:buFont typeface="Wingdings" panose="05000000000000000000" pitchFamily="2" charset="2"/>
              <a:buChar char="§"/>
            </a:pPr>
            <a:endParaRPr lang="en-US" sz="4400" dirty="0">
              <a:latin typeface="Gill Sans MT" panose="020B0502020104020203" pitchFamily="34" charset="0"/>
              <a:cs typeface="Times New Roman" panose="02020603050405020304" pitchFamily="18" charset="0"/>
            </a:endParaRPr>
          </a:p>
        </p:txBody>
      </p:sp>
      <p:sp>
        <p:nvSpPr>
          <p:cNvPr id="4" name="Prob_Core"/>
          <p:cNvSpPr txBox="1"/>
          <p:nvPr/>
        </p:nvSpPr>
        <p:spPr>
          <a:xfrm>
            <a:off x="777240" y="1234440"/>
            <a:ext cx="10634472" cy="2011680"/>
          </a:xfrm>
          <a:prstGeom prst="rect">
            <a:avLst/>
          </a:prstGeom>
          <a:noFill/>
        </p:spPr>
        <p:txBody>
          <a:bodyPr wrap="square">
            <a:spAutoFit/>
          </a:bodyPr>
          <a:lstStyle/>
          <a:p>
            <a:pPr algn="ctr">
              <a:lnSpc>
                <a:spcPct val="120000"/>
              </a:lnSpc>
              <a:spcBef>
                <a:spcPts val="0"/>
              </a:spcBef>
              <a:spcAft>
                <a:spcPts val="1200"/>
              </a:spcAft>
              <a:defRPr sz="2100" b="0" i="0">
                <a:solidFill>
                  <a:srgbClr val="1E293B"/>
                </a:solidFill>
                <a:latin typeface="Calisto MT"/>
              </a:defRPr>
            </a:pPr>
            <a:r>
              <a:t>Current mobile robots separate vision recognition from active navigation, relying on remote cloud servers that suffer from high network lag (&gt;200 ms) and connection dropouts.</a:t>
            </a:r>
          </a:p>
          <a:p>
            <a:pPr algn="ctr">
              <a:lnSpc>
                <a:spcPct val="120000"/>
              </a:lnSpc>
              <a:spcBef>
                <a:spcPts val="0"/>
              </a:spcBef>
              <a:spcAft>
                <a:spcPts val="0"/>
              </a:spcAft>
              <a:defRPr sz="2100" b="0" i="0">
                <a:solidFill>
                  <a:srgbClr val="1E293B"/>
                </a:solidFill>
                <a:latin typeface="Calisto MT"/>
              </a:defRPr>
            </a:pPr>
            <a:r>
              <a:t>In shared human-robot workspaces, this delay prevents robots from reacting in real time to human gestures, creating severe collision hazards under ISO 15066 safety standards.</a:t>
            </a:r>
          </a:p>
        </p:txBody>
      </p:sp>
      <p:sp>
        <p:nvSpPr>
          <p:cNvPr id="5" name="Prob_Card_0"/>
          <p:cNvSpPr/>
          <p:nvPr/>
        </p:nvSpPr>
        <p:spPr>
          <a:xfrm>
            <a:off x="777240" y="3886200"/>
            <a:ext cx="3319272" cy="16916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37160"/>
          <a:lstStyle/>
          <a:p>
            <a:pPr algn="ctr">
              <a:lnSpc>
                <a:spcPct val="115000"/>
              </a:lnSpc>
              <a:spcBef>
                <a:spcPts val="0"/>
              </a:spcBef>
              <a:spcAft>
                <a:spcPts val="600"/>
              </a:spcAft>
              <a:defRPr sz="1500" b="1" i="0">
                <a:solidFill>
                  <a:srgbClr val="002060"/>
                </a:solidFill>
                <a:latin typeface="Calisto MT"/>
              </a:defRPr>
            </a:pPr>
            <a:r>
              <a:t>PERCEPTION-ACTION GAP</a:t>
            </a:r>
          </a:p>
          <a:p>
            <a:pPr algn="ctr">
              <a:lnSpc>
                <a:spcPct val="118000"/>
              </a:lnSpc>
              <a:spcBef>
                <a:spcPts val="0"/>
              </a:spcBef>
              <a:spcAft>
                <a:spcPts val="200"/>
              </a:spcAft>
              <a:defRPr sz="1300" b="0" i="0">
                <a:solidFill>
                  <a:srgbClr val="1E293B"/>
                </a:solidFill>
                <a:latin typeface="Calisto MT"/>
              </a:defRPr>
            </a:pPr>
            <a:r>
              <a:t>Vision AI isolated from wheel motors &amp; obstacle avoidance</a:t>
            </a:r>
            <a:br/>
            <a:r>
              <a:t>(Tsitos et al., 2022)</a:t>
            </a:r>
          </a:p>
        </p:txBody>
      </p:sp>
      <p:sp>
        <p:nvSpPr>
          <p:cNvPr id="6" name="Prob_Card_1"/>
          <p:cNvSpPr/>
          <p:nvPr/>
        </p:nvSpPr>
        <p:spPr>
          <a:xfrm>
            <a:off x="4434840" y="3886200"/>
            <a:ext cx="3319272" cy="16916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37160"/>
          <a:lstStyle/>
          <a:p>
            <a:pPr algn="ctr">
              <a:lnSpc>
                <a:spcPct val="115000"/>
              </a:lnSpc>
              <a:spcBef>
                <a:spcPts val="0"/>
              </a:spcBef>
              <a:spcAft>
                <a:spcPts val="600"/>
              </a:spcAft>
              <a:defRPr sz="1500" b="1" i="0">
                <a:solidFill>
                  <a:srgbClr val="002060"/>
                </a:solidFill>
                <a:latin typeface="Calisto MT"/>
              </a:defRPr>
            </a:pPr>
            <a:r>
              <a:t>CLOUD LATENCY HAZARD</a:t>
            </a:r>
          </a:p>
          <a:p>
            <a:pPr algn="ctr">
              <a:lnSpc>
                <a:spcPct val="118000"/>
              </a:lnSpc>
              <a:spcBef>
                <a:spcPts val="0"/>
              </a:spcBef>
              <a:spcAft>
                <a:spcPts val="200"/>
              </a:spcAft>
              <a:defRPr sz="1300" b="0" i="0">
                <a:solidFill>
                  <a:srgbClr val="1E293B"/>
                </a:solidFill>
                <a:latin typeface="Calisto MT"/>
              </a:defRPr>
            </a:pPr>
            <a:r>
              <a:t>Network lag &gt; 200 ms &amp; Wi-Fi drops violate ISO 15066 safe stopping margins</a:t>
            </a:r>
          </a:p>
        </p:txBody>
      </p:sp>
      <p:sp>
        <p:nvSpPr>
          <p:cNvPr id="7" name="Prob_Card_2"/>
          <p:cNvSpPr/>
          <p:nvPr/>
        </p:nvSpPr>
        <p:spPr>
          <a:xfrm>
            <a:off x="8092440" y="3886200"/>
            <a:ext cx="3319272" cy="16916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37160"/>
          <a:lstStyle/>
          <a:p>
            <a:pPr algn="ctr">
              <a:lnSpc>
                <a:spcPct val="115000"/>
              </a:lnSpc>
              <a:spcBef>
                <a:spcPts val="0"/>
              </a:spcBef>
              <a:spcAft>
                <a:spcPts val="600"/>
              </a:spcAft>
              <a:defRPr sz="1500" b="1" i="0">
                <a:solidFill>
                  <a:srgbClr val="002060"/>
                </a:solidFill>
                <a:latin typeface="Calisto MT"/>
              </a:defRPr>
            </a:pPr>
            <a:r>
              <a:t>EDGE COMPUTING LIMIT</a:t>
            </a:r>
          </a:p>
          <a:p>
            <a:pPr algn="ctr">
              <a:lnSpc>
                <a:spcPct val="118000"/>
              </a:lnSpc>
              <a:spcBef>
                <a:spcPts val="0"/>
              </a:spcBef>
              <a:spcAft>
                <a:spcPts val="200"/>
              </a:spcAft>
              <a:defRPr sz="1300" b="0" i="0">
                <a:solidFill>
                  <a:srgbClr val="1E293B"/>
                </a:solidFill>
                <a:latin typeface="Calisto MT"/>
              </a:defRPr>
            </a:pPr>
            <a:r>
              <a:t>Heavy vision AI overheats mobile chips; demands a sub-135 ms onboard pipeline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15D8E2-4F8C-64A5-14D0-AC29A3DF1480}"/>
              </a:ext>
            </a:extLst>
          </p:cNvPr>
          <p:cNvSpPr>
            <a:spLocks noGrp="1"/>
          </p:cNvSpPr>
          <p:nvPr>
            <p:ph type="title"/>
          </p:nvPr>
        </p:nvSpPr>
        <p:spPr>
          <a:xfrm>
            <a:off x="838200" y="365126"/>
            <a:ext cx="10515600" cy="959822"/>
          </a:xfrm>
        </p:spPr>
        <p:txBody>
          <a:bodyPr>
            <a:normAutofit/>
          </a:bodyPr>
          <a:lstStyle/>
          <a:p>
            <a:pPr algn="ctr">
              <a:lnSpc>
                <a:spcPct val="115000"/>
              </a:lnSpc>
              <a:spcBef>
                <a:spcPts val="0"/>
              </a:spcBef>
              <a:spcAft>
                <a:spcPts val="200"/>
              </a:spcAft>
              <a:defRPr sz="2800" b="1" i="0">
                <a:solidFill>
                  <a:srgbClr val="002060"/>
                </a:solidFill>
                <a:latin typeface="Calisto MT"/>
              </a:defRPr>
            </a:pPr>
            <a:r>
              <a:t>PROJECT OBJECTIVES</a:t>
            </a:r>
            <a:endParaRPr lang="en-US" sz="4000" b="1" u="sng" dirty="0">
              <a:solidFill>
                <a:srgbClr val="C00000"/>
              </a:solidFill>
              <a:latin typeface="Gill Sans MT" panose="020B0502020104020203" pitchFamily="34" charset="0"/>
            </a:endParaRPr>
          </a:p>
        </p:txBody>
      </p:sp>
      <p:sp>
        <p:nvSpPr>
          <p:cNvPr id="3" name="Content Placeholder 2">
            <a:extLst>
              <a:ext uri="{FF2B5EF4-FFF2-40B4-BE49-F238E27FC236}">
                <a16:creationId xmlns:a16="http://schemas.microsoft.com/office/drawing/2014/main" id="{EA278EA5-37CB-3495-D1CC-8784768C09CA}"/>
              </a:ext>
            </a:extLst>
          </p:cNvPr>
          <p:cNvSpPr>
            <a:spLocks noGrp="1"/>
          </p:cNvSpPr>
          <p:nvPr>
            <p:ph idx="1"/>
          </p:nvPr>
        </p:nvSpPr>
        <p:spPr>
          <a:xfrm>
            <a:off x="438539" y="1324948"/>
            <a:ext cx="11168743" cy="4852015"/>
          </a:xfrm>
        </p:spPr>
        <p:txBody>
          <a:bodyPr>
            <a:normAutofit/>
          </a:bodyPr>
          <a:lstStyle/>
          <a:p>
            <a:endParaRPr lang="en-US" dirty="0"/>
          </a:p>
        </p:txBody>
      </p:sp>
      <p:sp>
        <p:nvSpPr>
          <p:cNvPr id="4" name="Obj_Gen_Text"/>
          <p:cNvSpPr txBox="1"/>
          <p:nvPr/>
        </p:nvSpPr>
        <p:spPr>
          <a:xfrm>
            <a:off x="914400" y="1143000"/>
            <a:ext cx="10360152" cy="960120"/>
          </a:xfrm>
          <a:prstGeom prst="rect">
            <a:avLst/>
          </a:prstGeom>
          <a:noFill/>
        </p:spPr>
        <p:txBody>
          <a:bodyPr wrap="square" lIns="45720" rIns="45720" tIns="18288" bIns="18288">
            <a:spAutoFit/>
          </a:bodyPr>
          <a:lstStyle/>
          <a:p>
            <a:pPr algn="ctr">
              <a:lnSpc>
                <a:spcPct val="115000"/>
              </a:lnSpc>
              <a:spcBef>
                <a:spcPts val="0"/>
              </a:spcBef>
              <a:spcAft>
                <a:spcPts val="400"/>
              </a:spcAft>
              <a:defRPr sz="1300" b="1" i="0">
                <a:solidFill>
                  <a:srgbClr val="B8860B"/>
                </a:solidFill>
                <a:latin typeface="Calisto MT"/>
              </a:defRPr>
            </a:pPr>
            <a:r>
              <a:t>GENERAL OBJECTIVE</a:t>
            </a:r>
          </a:p>
          <a:p>
            <a:pPr algn="ctr">
              <a:lnSpc>
                <a:spcPct val="118000"/>
              </a:lnSpc>
              <a:spcBef>
                <a:spcPts val="0"/>
              </a:spcBef>
              <a:spcAft>
                <a:spcPts val="200"/>
              </a:spcAft>
              <a:defRPr sz="1500" b="0" i="0">
                <a:solidFill>
                  <a:srgbClr val="1E293B"/>
                </a:solidFill>
                <a:latin typeface="Calisto MT"/>
              </a:defRPr>
            </a:pPr>
            <a:r>
              <a:t>To design, implement, and evaluate an edge-deployed, real-time human intention recognition and autonomous navigation system powered by ROS 2 on an embedded mobile robot.</a:t>
            </a:r>
          </a:p>
        </p:txBody>
      </p:sp>
      <p:cxnSp>
        <p:nvCxnSpPr>
          <p:cNvPr id="5" name="Obj_Divider_Line"/>
          <p:cNvCxnSpPr/>
          <p:nvPr/>
        </p:nvCxnSpPr>
        <p:spPr>
          <a:xfrm>
            <a:off x="2286000" y="2240280"/>
            <a:ext cx="7616952" cy="0"/>
          </a:xfrm>
          <a:prstGeom prst="line">
            <a:avLst/>
          </a:prstGeom>
          <a:ln w="10160">
            <a:solidFill>
              <a:srgbClr val="CBD5E1"/>
            </a:solidFill>
          </a:ln>
        </p:spPr>
        <p:style>
          <a:lnRef idx="2">
            <a:schemeClr val="accent1"/>
          </a:lnRef>
          <a:fillRef idx="0">
            <a:schemeClr val="accent1"/>
          </a:fillRef>
          <a:effectRef idx="1">
            <a:schemeClr val="accent1"/>
          </a:effectRef>
          <a:fontRef idx="minor">
            <a:schemeClr val="tx1"/>
          </a:fontRef>
        </p:style>
      </p:cxnSp>
      <p:sp>
        <p:nvSpPr>
          <p:cNvPr id="6" name="Obj_Item_0"/>
          <p:cNvSpPr txBox="1"/>
          <p:nvPr/>
        </p:nvSpPr>
        <p:spPr>
          <a:xfrm>
            <a:off x="914400" y="2423160"/>
            <a:ext cx="4892040" cy="960120"/>
          </a:xfrm>
          <a:prstGeom prst="rect">
            <a:avLst/>
          </a:prstGeom>
          <a:noFill/>
        </p:spPr>
        <p:txBody>
          <a:bodyPr wrap="square" lIns="45720" rIns="45720" tIns="18288" bIns="18288">
            <a:spAutoFit/>
          </a:bodyPr>
          <a:lstStyle/>
          <a:p>
            <a:pPr algn="l">
              <a:spcAft>
                <a:spcPts val="200"/>
              </a:spcAft>
              <a:defRPr sz="1400" b="1">
                <a:solidFill>
                  <a:srgbClr val="002060"/>
                </a:solidFill>
                <a:latin typeface="Calisto MT"/>
              </a:defRPr>
            </a:pPr>
            <a:r>
              <a:t>01.  Invariant Vision Pipeline</a:t>
            </a:r>
          </a:p>
          <a:p>
            <a:pPr algn="l">
              <a:lnSpc>
                <a:spcPct val="115000"/>
              </a:lnSpc>
              <a:spcBef>
                <a:spcPts val="0"/>
              </a:spcBef>
              <a:spcAft>
                <a:spcPts val="200"/>
              </a:spcAft>
              <a:defRPr sz="1200" b="0" i="0">
                <a:solidFill>
                  <a:srgbClr val="334155"/>
                </a:solidFill>
                <a:latin typeface="Calisto MT"/>
              </a:defRPr>
            </a:pPr>
            <a:r>
              <a:t>Compute 19 scale-invariant geometric features from 21 hand landmarks for real-time onboard MLP classification.</a:t>
            </a:r>
          </a:p>
        </p:txBody>
      </p:sp>
      <p:sp>
        <p:nvSpPr>
          <p:cNvPr id="7" name="Obj_Item_1"/>
          <p:cNvSpPr txBox="1"/>
          <p:nvPr/>
        </p:nvSpPr>
        <p:spPr>
          <a:xfrm>
            <a:off x="914400" y="3493008"/>
            <a:ext cx="4892040" cy="960120"/>
          </a:xfrm>
          <a:prstGeom prst="rect">
            <a:avLst/>
          </a:prstGeom>
          <a:noFill/>
        </p:spPr>
        <p:txBody>
          <a:bodyPr wrap="square" lIns="45720" rIns="45720" tIns="18288" bIns="18288">
            <a:spAutoFit/>
          </a:bodyPr>
          <a:lstStyle/>
          <a:p>
            <a:pPr algn="l">
              <a:spcAft>
                <a:spcPts val="200"/>
              </a:spcAft>
              <a:defRPr sz="1400" b="1">
                <a:solidFill>
                  <a:srgbClr val="002060"/>
                </a:solidFill>
                <a:latin typeface="Calisto MT"/>
              </a:defRPr>
            </a:pPr>
            <a:r>
              <a:t>02.  Balanced 6,000-Sample Dataset</a:t>
            </a:r>
          </a:p>
          <a:p>
            <a:pPr algn="l">
              <a:lnSpc>
                <a:spcPct val="115000"/>
              </a:lnSpc>
              <a:spcBef>
                <a:spcPts val="0"/>
              </a:spcBef>
              <a:spcAft>
                <a:spcPts val="200"/>
              </a:spcAft>
              <a:defRPr sz="1200" b="0" i="0">
                <a:solidFill>
                  <a:srgbClr val="334155"/>
                </a:solidFill>
                <a:latin typeface="Calisto MT"/>
              </a:defRPr>
            </a:pPr>
            <a:r>
              <a:t>Capture and balance a custom 6-class dataset directly through the onboard camera to eliminate perspective domain shift.</a:t>
            </a:r>
          </a:p>
        </p:txBody>
      </p:sp>
      <p:sp>
        <p:nvSpPr>
          <p:cNvPr id="8" name="Obj_Item_2"/>
          <p:cNvSpPr txBox="1"/>
          <p:nvPr/>
        </p:nvSpPr>
        <p:spPr>
          <a:xfrm>
            <a:off x="914400" y="4562856"/>
            <a:ext cx="4892040" cy="960120"/>
          </a:xfrm>
          <a:prstGeom prst="rect">
            <a:avLst/>
          </a:prstGeom>
          <a:noFill/>
        </p:spPr>
        <p:txBody>
          <a:bodyPr wrap="square" lIns="45720" rIns="45720" tIns="18288" bIns="18288">
            <a:spAutoFit/>
          </a:bodyPr>
          <a:lstStyle/>
          <a:p>
            <a:pPr algn="l">
              <a:spcAft>
                <a:spcPts val="200"/>
              </a:spcAft>
              <a:defRPr sz="1400" b="1">
                <a:solidFill>
                  <a:srgbClr val="002060"/>
                </a:solidFill>
                <a:latin typeface="Calisto MT"/>
              </a:defRPr>
            </a:pPr>
            <a:r>
              <a:t>03.  LSTM Trajectory Prediction</a:t>
            </a:r>
          </a:p>
          <a:p>
            <a:pPr algn="l">
              <a:lnSpc>
                <a:spcPct val="115000"/>
              </a:lnSpc>
              <a:spcBef>
                <a:spcPts val="0"/>
              </a:spcBef>
              <a:spcAft>
                <a:spcPts val="200"/>
              </a:spcAft>
              <a:defRPr sz="1200" b="0" i="0">
                <a:solidFill>
                  <a:srgbClr val="334155"/>
                </a:solidFill>
                <a:latin typeface="Calisto MT"/>
              </a:defRPr>
            </a:pPr>
            <a:r>
              <a:t>Forecast short-horizon operator motion trajectories from continuous body pose landmarks using recurrent neural networks.</a:t>
            </a:r>
          </a:p>
        </p:txBody>
      </p:sp>
      <p:sp>
        <p:nvSpPr>
          <p:cNvPr id="9" name="Obj_Item_3"/>
          <p:cNvSpPr txBox="1"/>
          <p:nvPr/>
        </p:nvSpPr>
        <p:spPr>
          <a:xfrm>
            <a:off x="6382512" y="2423160"/>
            <a:ext cx="4892040" cy="960120"/>
          </a:xfrm>
          <a:prstGeom prst="rect">
            <a:avLst/>
          </a:prstGeom>
          <a:noFill/>
        </p:spPr>
        <p:txBody>
          <a:bodyPr wrap="square" lIns="45720" rIns="45720" tIns="18288" bIns="18288">
            <a:spAutoFit/>
          </a:bodyPr>
          <a:lstStyle/>
          <a:p>
            <a:pPr algn="l">
              <a:spcAft>
                <a:spcPts val="200"/>
              </a:spcAft>
              <a:defRPr sz="1400" b="1">
                <a:solidFill>
                  <a:srgbClr val="002060"/>
                </a:solidFill>
                <a:latin typeface="Calisto MT"/>
              </a:defRPr>
            </a:pPr>
            <a:r>
              <a:t>04.  Supervisory Brain Node</a:t>
            </a:r>
          </a:p>
          <a:p>
            <a:pPr algn="l">
              <a:lnSpc>
                <a:spcPct val="115000"/>
              </a:lnSpc>
              <a:spcBef>
                <a:spcPts val="0"/>
              </a:spcBef>
              <a:spcAft>
                <a:spcPts val="200"/>
              </a:spcAft>
              <a:defRPr sz="1200" b="0" i="0">
                <a:solidFill>
                  <a:srgbClr val="334155"/>
                </a:solidFill>
                <a:latin typeface="Calisto MT"/>
              </a:defRPr>
            </a:pPr>
            <a:r>
              <a:t>Execute a deterministic finite state machine with 5-frame rolling consensus, active operator lock, and visual servoing.</a:t>
            </a:r>
          </a:p>
        </p:txBody>
      </p:sp>
      <p:sp>
        <p:nvSpPr>
          <p:cNvPr id="10" name="Obj_Item_4"/>
          <p:cNvSpPr txBox="1"/>
          <p:nvPr/>
        </p:nvSpPr>
        <p:spPr>
          <a:xfrm>
            <a:off x="6382512" y="3493008"/>
            <a:ext cx="4892040" cy="960120"/>
          </a:xfrm>
          <a:prstGeom prst="rect">
            <a:avLst/>
          </a:prstGeom>
          <a:noFill/>
        </p:spPr>
        <p:txBody>
          <a:bodyPr wrap="square" lIns="45720" rIns="45720" tIns="18288" bIns="18288">
            <a:spAutoFit/>
          </a:bodyPr>
          <a:lstStyle/>
          <a:p>
            <a:pPr algn="l">
              <a:spcAft>
                <a:spcPts val="200"/>
              </a:spcAft>
              <a:defRPr sz="1400" b="1">
                <a:solidFill>
                  <a:srgbClr val="002060"/>
                </a:solidFill>
                <a:latin typeface="Calisto MT"/>
              </a:defRPr>
            </a:pPr>
            <a:r>
              <a:t>05.  2D LiDAR SLAM &amp; Nav2</a:t>
            </a:r>
          </a:p>
          <a:p>
            <a:pPr algn="l">
              <a:lnSpc>
                <a:spcPct val="115000"/>
              </a:lnSpc>
              <a:spcBef>
                <a:spcPts val="0"/>
              </a:spcBef>
              <a:spcAft>
                <a:spcPts val="200"/>
              </a:spcAft>
              <a:defRPr sz="1200" b="0" i="0">
                <a:solidFill>
                  <a:srgbClr val="334155"/>
                </a:solidFill>
                <a:latin typeface="Calisto MT"/>
              </a:defRPr>
            </a:pPr>
            <a:r>
              <a:t>Deploy real-time SLAM Toolbox mapping and the Nav2 navigation stack for socially aware, collision-free path execution.</a:t>
            </a:r>
          </a:p>
        </p:txBody>
      </p:sp>
      <p:sp>
        <p:nvSpPr>
          <p:cNvPr id="11" name="Obj_Item_5"/>
          <p:cNvSpPr txBox="1"/>
          <p:nvPr/>
        </p:nvSpPr>
        <p:spPr>
          <a:xfrm>
            <a:off x="6382512" y="4562856"/>
            <a:ext cx="4892040" cy="960120"/>
          </a:xfrm>
          <a:prstGeom prst="rect">
            <a:avLst/>
          </a:prstGeom>
          <a:noFill/>
        </p:spPr>
        <p:txBody>
          <a:bodyPr wrap="square" lIns="45720" rIns="45720" tIns="18288" bIns="18288">
            <a:spAutoFit/>
          </a:bodyPr>
          <a:lstStyle/>
          <a:p>
            <a:pPr algn="l">
              <a:spcAft>
                <a:spcPts val="200"/>
              </a:spcAft>
              <a:defRPr sz="1400" b="1">
                <a:solidFill>
                  <a:srgbClr val="002060"/>
                </a:solidFill>
                <a:latin typeface="Calisto MT"/>
              </a:defRPr>
            </a:pPr>
            <a:r>
              <a:t>06.  Empirical Safety Benchmarking</a:t>
            </a:r>
          </a:p>
          <a:p>
            <a:pPr algn="l">
              <a:lnSpc>
                <a:spcPct val="115000"/>
              </a:lnSpc>
              <a:spcBef>
                <a:spcPts val="0"/>
              </a:spcBef>
              <a:spcAft>
                <a:spcPts val="200"/>
              </a:spcAft>
              <a:defRPr sz="1200" b="0" i="0">
                <a:solidFill>
                  <a:srgbClr val="334155"/>
                </a:solidFill>
                <a:latin typeface="Calisto MT"/>
              </a:defRPr>
            </a:pPr>
            <a:r>
              <a:t>Quantify end-to-end latency (132 ms), physical classification accuracy (96.7%), and compliance with ISO 15066 safety margins.</a:t>
            </a:r>
          </a:p>
        </p:txBody>
      </p:sp>
    </p:spTree>
    <p:extLst>
      <p:ext uri="{BB962C8B-B14F-4D97-AF65-F5344CB8AC3E}">
        <p14:creationId xmlns:p14="http://schemas.microsoft.com/office/powerpoint/2010/main" val="3882807801"/>
      </p:ext>
    </p:extLst>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320040"/>
            <a:ext cx="10515600" cy="640080"/>
          </a:xfrm>
        </p:spPr>
        <p:txBody>
          <a:bodyPr/>
          <a:lstStyle/>
          <a:p>
            <a:pPr algn="ctr">
              <a:lnSpc>
                <a:spcPct val="112000"/>
              </a:lnSpc>
              <a:spcBef>
                <a:spcPts val="0"/>
              </a:spcBef>
              <a:spcAft>
                <a:spcPts val="200"/>
              </a:spcAft>
              <a:defRPr sz="2800" b="1" i="0">
                <a:solidFill>
                  <a:srgbClr val="002060"/>
                </a:solidFill>
                <a:latin typeface="Calisto MT"/>
              </a:defRPr>
            </a:pPr>
            <a:r>
              <a:t>LITERATURE REVIEW &amp; RESEARCH GAPS</a:t>
            </a:r>
          </a:p>
        </p:txBody>
      </p:sp>
      <p:sp>
        <p:nvSpPr>
          <p:cNvPr id="3" name="Content Placeholder 2"/>
          <p:cNvSpPr>
            <a:spLocks noGrp="1"/>
          </p:cNvSpPr>
          <p:nvPr>
            <p:ph idx="1"/>
          </p:nvPr>
        </p:nvSpPr>
        <p:spPr/>
        <p:txBody>
          <a:bodyPr/>
          <a:lstStyle/>
          <a:p/>
        </p:txBody>
      </p:sp>
      <p:sp>
        <p:nvSpPr>
          <p:cNvPr id="4" name="Lit_Subhead"/>
          <p:cNvSpPr txBox="1"/>
          <p:nvPr/>
        </p:nvSpPr>
        <p:spPr>
          <a:xfrm>
            <a:off x="822960" y="1024128"/>
            <a:ext cx="10515600" cy="228600"/>
          </a:xfrm>
          <a:prstGeom prst="rect">
            <a:avLst/>
          </a:prstGeom>
          <a:noFill/>
        </p:spPr>
        <p:txBody>
          <a:bodyPr wrap="square" lIns="0" rIns="0" tIns="0" bIns="0">
            <a:spAutoFit/>
          </a:bodyPr>
          <a:lstStyle/>
          <a:p>
            <a:pPr algn="l">
              <a:lnSpc>
                <a:spcPct val="112000"/>
              </a:lnSpc>
              <a:spcBef>
                <a:spcPts val="0"/>
              </a:spcBef>
              <a:spcAft>
                <a:spcPts val="200"/>
              </a:spcAft>
              <a:defRPr sz="1150" b="1" i="0">
                <a:solidFill>
                  <a:srgbClr val="B8860B"/>
                </a:solidFill>
                <a:latin typeface="Calisto MT"/>
              </a:defRPr>
            </a:pPr>
            <a:r>
              <a:t>CRITICAL APPRAISAL OF CORE BENCHMARK STUDIES (THESIS CHAPTER 2)</a:t>
            </a:r>
          </a:p>
        </p:txBody>
      </p:sp>
      <p:sp>
        <p:nvSpPr>
          <p:cNvPr id="5" name="Lit_Paper_0"/>
          <p:cNvSpPr txBox="1"/>
          <p:nvPr/>
        </p:nvSpPr>
        <p:spPr>
          <a:xfrm>
            <a:off x="822960" y="1261872"/>
            <a:ext cx="3227832" cy="4389120"/>
          </a:xfrm>
          <a:prstGeom prst="rect">
            <a:avLst/>
          </a:prstGeom>
          <a:noFill/>
        </p:spPr>
        <p:txBody>
          <a:bodyPr wrap="square" lIns="18288" rIns="18288" tIns="18288" bIns="18288">
            <a:spAutoFit/>
          </a:bodyPr>
          <a:lstStyle/>
          <a:p>
            <a:pPr algn="l">
              <a:lnSpc>
                <a:spcPct val="110000"/>
              </a:lnSpc>
              <a:spcBef>
                <a:spcPts val="0"/>
              </a:spcBef>
              <a:spcAft>
                <a:spcPts val="100"/>
              </a:spcAft>
              <a:defRPr sz="1150" b="1" i="0">
                <a:solidFill>
                  <a:srgbClr val="002060"/>
                </a:solidFill>
                <a:latin typeface="Calisto MT"/>
              </a:defRPr>
            </a:pPr>
            <a:r>
              <a:t>Athanasios Tsitos, Maria Dagioglou &amp; Theodoros Giannakopoulos (2022)</a:t>
            </a:r>
          </a:p>
          <a:p>
            <a:pPr algn="l">
              <a:lnSpc>
                <a:spcPct val="110000"/>
              </a:lnSpc>
              <a:spcBef>
                <a:spcPts val="0"/>
              </a:spcBef>
              <a:spcAft>
                <a:spcPts val="500"/>
              </a:spcAft>
              <a:defRPr sz="950" b="0" i="1">
                <a:solidFill>
                  <a:srgbClr val="64748B"/>
                </a:solidFill>
                <a:latin typeface="Calisto MT"/>
              </a:defRPr>
            </a:pPr>
            <a:r>
              <a:t>"Real-Time Feasibility of a Human Intention Method Evaluated Through a Competitive Human-Robot Reaching Game"</a:t>
            </a:r>
          </a:p>
          <a:p>
            <a:pPr algn="l">
              <a:lnSpc>
                <a:spcPct val="112000"/>
              </a:lnSpc>
              <a:spcAft>
                <a:spcPts val="400"/>
              </a:spcAft>
            </a:pPr>
            <a:r>
              <a:rPr sz="1050" b="1">
                <a:solidFill>
                  <a:srgbClr val="1E293B"/>
                </a:solidFill>
                <a:latin typeface="Calisto MT"/>
              </a:rPr>
              <a:t>• Objective: </a:t>
            </a:r>
            <a:r>
              <a:rPr sz="1050" b="0">
                <a:solidFill>
                  <a:srgbClr val="334155"/>
                </a:solidFill>
                <a:latin typeface="Calisto MT"/>
              </a:rPr>
              <a:t>Predict human reaching intent early to guide robot arm trajectories within a 150 ms reaction threshold.</a:t>
            </a:r>
          </a:p>
          <a:p>
            <a:pPr algn="l">
              <a:lnSpc>
                <a:spcPct val="112000"/>
              </a:lnSpc>
              <a:spcAft>
                <a:spcPts val="400"/>
              </a:spcAft>
            </a:pPr>
            <a:r>
              <a:rPr sz="1050" b="1">
                <a:solidFill>
                  <a:srgbClr val="1E293B"/>
                </a:solidFill>
                <a:latin typeface="Calisto MT"/>
              </a:rPr>
              <a:t>• Methodology: </a:t>
            </a:r>
            <a:r>
              <a:rPr sz="1050" b="0">
                <a:solidFill>
                  <a:srgbClr val="334155"/>
                </a:solidFill>
                <a:latin typeface="Calisto MT"/>
              </a:rPr>
              <a:t>Tracked hand movements with a depth camera and trained machine learning (SVM) to guide a robot arm.</a:t>
            </a:r>
          </a:p>
          <a:p>
            <a:pPr algn="l">
              <a:lnSpc>
                <a:spcPct val="112000"/>
              </a:lnSpc>
              <a:spcAft>
                <a:spcPts val="500"/>
              </a:spcAft>
            </a:pPr>
            <a:r>
              <a:rPr sz="1050" b="1">
                <a:solidFill>
                  <a:srgbClr val="1E293B"/>
                </a:solidFill>
                <a:latin typeface="Calisto MT"/>
              </a:rPr>
              <a:t>• Research Gap: </a:t>
            </a:r>
            <a:r>
              <a:rPr sz="1050" b="0">
                <a:solidFill>
                  <a:srgbClr val="334155"/>
                </a:solidFill>
                <a:latin typeface="Calisto MT"/>
              </a:rPr>
              <a:t>Confined to a static desk — lacks mobile base movement and provides no explicit hand gesture command channel.</a:t>
            </a:r>
          </a:p>
          <a:p>
            <a:pPr algn="l">
              <a:lnSpc>
                <a:spcPct val="112000"/>
              </a:lnSpc>
              <a:spcAft>
                <a:spcPts val="0"/>
              </a:spcAft>
            </a:pPr>
            <a:r>
              <a:rPr sz="1050" b="1">
                <a:solidFill>
                  <a:srgbClr val="002060"/>
                </a:solidFill>
                <a:latin typeface="Calisto MT"/>
              </a:rPr>
              <a:t>• Project Resolution: </a:t>
            </a:r>
            <a:r>
              <a:rPr sz="1050" b="0">
                <a:solidFill>
                  <a:srgbClr val="1E293B"/>
                </a:solidFill>
                <a:latin typeface="Calisto MT"/>
              </a:rPr>
              <a:t>Direct vision-to-wheels coupling for mobile navigation guided by 6 touchless hand gestures.</a:t>
            </a:r>
          </a:p>
        </p:txBody>
      </p:sp>
      <p:sp>
        <p:nvSpPr>
          <p:cNvPr id="6" name="Lit_Paper_1"/>
          <p:cNvSpPr txBox="1"/>
          <p:nvPr/>
        </p:nvSpPr>
        <p:spPr>
          <a:xfrm>
            <a:off x="4480560" y="1261872"/>
            <a:ext cx="3227832" cy="4389120"/>
          </a:xfrm>
          <a:prstGeom prst="rect">
            <a:avLst/>
          </a:prstGeom>
          <a:noFill/>
        </p:spPr>
        <p:txBody>
          <a:bodyPr wrap="square" lIns="18288" rIns="18288" tIns="18288" bIns="18288">
            <a:spAutoFit/>
          </a:bodyPr>
          <a:lstStyle/>
          <a:p>
            <a:pPr algn="l">
              <a:lnSpc>
                <a:spcPct val="110000"/>
              </a:lnSpc>
              <a:spcBef>
                <a:spcPts val="0"/>
              </a:spcBef>
              <a:spcAft>
                <a:spcPts val="100"/>
              </a:spcAft>
              <a:defRPr sz="1150" b="1" i="0">
                <a:solidFill>
                  <a:srgbClr val="002060"/>
                </a:solidFill>
                <a:latin typeface="Calisto MT"/>
              </a:defRPr>
            </a:pPr>
            <a:r>
              <a:t>Jubayer Al Mahmud (2022)</a:t>
            </a:r>
          </a:p>
          <a:p>
            <a:pPr algn="l">
              <a:lnSpc>
                <a:spcPct val="110000"/>
              </a:lnSpc>
              <a:spcBef>
                <a:spcPts val="0"/>
              </a:spcBef>
              <a:spcAft>
                <a:spcPts val="500"/>
              </a:spcAft>
              <a:defRPr sz="950" b="0" i="1">
                <a:solidFill>
                  <a:srgbClr val="64748B"/>
                </a:solidFill>
                <a:latin typeface="Calisto MT"/>
              </a:defRPr>
            </a:pPr>
            <a:r>
              <a:t>"3D Gesture Recognition and Adaptation for Human–Robot Interaction"</a:t>
            </a:r>
          </a:p>
          <a:p>
            <a:pPr algn="l">
              <a:lnSpc>
                <a:spcPct val="112000"/>
              </a:lnSpc>
              <a:spcAft>
                <a:spcPts val="400"/>
              </a:spcAft>
            </a:pPr>
            <a:r>
              <a:rPr sz="1050" b="1">
                <a:solidFill>
                  <a:srgbClr val="1E293B"/>
                </a:solidFill>
                <a:latin typeface="Calisto MT"/>
              </a:rPr>
              <a:t>• Objective: </a:t>
            </a:r>
            <a:r>
              <a:rPr sz="1050" b="0">
                <a:solidFill>
                  <a:srgbClr val="334155"/>
                </a:solidFill>
                <a:latin typeface="Calisto MT"/>
              </a:rPr>
              <a:t>Classify 3D pointing and dynamic hand gestures in real time to guide robot interaction across age groups.</a:t>
            </a:r>
          </a:p>
          <a:p>
            <a:pPr algn="l">
              <a:lnSpc>
                <a:spcPct val="112000"/>
              </a:lnSpc>
              <a:spcAft>
                <a:spcPts val="400"/>
              </a:spcAft>
            </a:pPr>
            <a:r>
              <a:rPr sz="1050" b="1">
                <a:solidFill>
                  <a:srgbClr val="1E293B"/>
                </a:solidFill>
                <a:latin typeface="Calisto MT"/>
              </a:rPr>
              <a:t>• Methodology: </a:t>
            </a:r>
            <a:r>
              <a:rPr sz="1050" b="0">
                <a:solidFill>
                  <a:srgbClr val="334155"/>
                </a:solidFill>
                <a:latin typeface="Calisto MT"/>
              </a:rPr>
              <a:t>Tracked full-body joints using a Kinect sensor and trained deep learning models on 3,600 gestures.</a:t>
            </a:r>
          </a:p>
          <a:p>
            <a:pPr algn="l">
              <a:lnSpc>
                <a:spcPct val="112000"/>
              </a:lnSpc>
              <a:spcAft>
                <a:spcPts val="500"/>
              </a:spcAft>
            </a:pPr>
            <a:r>
              <a:rPr sz="1050" b="1">
                <a:solidFill>
                  <a:srgbClr val="1E293B"/>
                </a:solidFill>
                <a:latin typeface="Calisto MT"/>
              </a:rPr>
              <a:t>• Research Gap: </a:t>
            </a:r>
            <a:r>
              <a:rPr sz="1050" b="0">
                <a:solidFill>
                  <a:srgbClr val="334155"/>
                </a:solidFill>
                <a:latin typeface="Calisto MT"/>
              </a:rPr>
              <a:t>Relies on heavy cloud / GPU computing clusters; vulnerable to network lag (&gt;200 ms) and connection drops.</a:t>
            </a:r>
          </a:p>
          <a:p>
            <a:pPr algn="l">
              <a:lnSpc>
                <a:spcPct val="112000"/>
              </a:lnSpc>
              <a:spcAft>
                <a:spcPts val="0"/>
              </a:spcAft>
            </a:pPr>
            <a:r>
              <a:rPr sz="1050" b="1">
                <a:solidFill>
                  <a:srgbClr val="002060"/>
                </a:solidFill>
                <a:latin typeface="Calisto MT"/>
              </a:rPr>
              <a:t>• Project Resolution: </a:t>
            </a:r>
            <a:r>
              <a:rPr sz="1050" b="0">
                <a:solidFill>
                  <a:srgbClr val="1E293B"/>
                </a:solidFill>
                <a:latin typeface="Calisto MT"/>
              </a:rPr>
              <a:t>Executes 100% of vision AI directly onboard a low-cost Raspberry Pi 5 with zero cloud dependency.</a:t>
            </a:r>
          </a:p>
        </p:txBody>
      </p:sp>
      <p:sp>
        <p:nvSpPr>
          <p:cNvPr id="7" name="Lit_Paper_2"/>
          <p:cNvSpPr txBox="1"/>
          <p:nvPr/>
        </p:nvSpPr>
        <p:spPr>
          <a:xfrm>
            <a:off x="8138160" y="1261872"/>
            <a:ext cx="3227832" cy="4389120"/>
          </a:xfrm>
          <a:prstGeom prst="rect">
            <a:avLst/>
          </a:prstGeom>
          <a:noFill/>
        </p:spPr>
        <p:txBody>
          <a:bodyPr wrap="square" lIns="18288" rIns="18288" tIns="18288" bIns="18288">
            <a:spAutoFit/>
          </a:bodyPr>
          <a:lstStyle/>
          <a:p>
            <a:pPr algn="l">
              <a:lnSpc>
                <a:spcPct val="110000"/>
              </a:lnSpc>
              <a:spcBef>
                <a:spcPts val="0"/>
              </a:spcBef>
              <a:spcAft>
                <a:spcPts val="100"/>
              </a:spcAft>
              <a:defRPr sz="1150" b="1" i="0">
                <a:solidFill>
                  <a:srgbClr val="002060"/>
                </a:solidFill>
                <a:latin typeface="Calisto MT"/>
              </a:defRPr>
            </a:pPr>
            <a:r>
              <a:t>Y. Li, H. Zhang, Guang Yang &amp; Shuoyu Wang (2023)</a:t>
            </a:r>
          </a:p>
          <a:p>
            <a:pPr algn="l">
              <a:lnSpc>
                <a:spcPct val="110000"/>
              </a:lnSpc>
              <a:spcBef>
                <a:spcPts val="0"/>
              </a:spcBef>
              <a:spcAft>
                <a:spcPts val="500"/>
              </a:spcAft>
              <a:defRPr sz="950" b="0" i="1">
                <a:solidFill>
                  <a:srgbClr val="64748B"/>
                </a:solidFill>
                <a:latin typeface="Calisto MT"/>
              </a:defRPr>
            </a:pPr>
            <a:r>
              <a:t>"Safe and Efficient Motion Planning for Material Transportation Robots Considering Intention Prediction of Obstacles"</a:t>
            </a:r>
          </a:p>
          <a:p>
            <a:pPr algn="l">
              <a:lnSpc>
                <a:spcPct val="112000"/>
              </a:lnSpc>
              <a:spcAft>
                <a:spcPts val="400"/>
              </a:spcAft>
            </a:pPr>
            <a:r>
              <a:rPr sz="1050" b="1">
                <a:solidFill>
                  <a:srgbClr val="1E293B"/>
                </a:solidFill>
                <a:latin typeface="Calisto MT"/>
              </a:rPr>
              <a:t>• Objective: </a:t>
            </a:r>
            <a:r>
              <a:rPr sz="1050" b="0">
                <a:solidFill>
                  <a:srgbClr val="334155"/>
                </a:solidFill>
                <a:latin typeface="Calisto MT"/>
              </a:rPr>
              <a:t>Plan collision-free mobile robot paths by predicting whether human workers will clear the hallway.</a:t>
            </a:r>
          </a:p>
          <a:p>
            <a:pPr algn="l">
              <a:lnSpc>
                <a:spcPct val="112000"/>
              </a:lnSpc>
              <a:spcAft>
                <a:spcPts val="400"/>
              </a:spcAft>
            </a:pPr>
            <a:r>
              <a:rPr sz="1050" b="1">
                <a:solidFill>
                  <a:srgbClr val="1E293B"/>
                </a:solidFill>
                <a:latin typeface="Calisto MT"/>
              </a:rPr>
              <a:t>• Methodology: </a:t>
            </a:r>
            <a:r>
              <a:rPr sz="1050" b="0">
                <a:solidFill>
                  <a:srgbClr val="334155"/>
                </a:solidFill>
                <a:latin typeface="Calisto MT"/>
              </a:rPr>
              <a:t>Fused LiDAR and camera vision to predict worker paths and adjust navigation maps in a simulator.</a:t>
            </a:r>
          </a:p>
          <a:p>
            <a:pPr algn="l">
              <a:lnSpc>
                <a:spcPct val="112000"/>
              </a:lnSpc>
              <a:spcAft>
                <a:spcPts val="500"/>
              </a:spcAft>
            </a:pPr>
            <a:r>
              <a:rPr sz="1050" b="1">
                <a:solidFill>
                  <a:srgbClr val="1E293B"/>
                </a:solidFill>
                <a:latin typeface="Calisto MT"/>
              </a:rPr>
              <a:t>• Research Gap: </a:t>
            </a:r>
            <a:r>
              <a:rPr sz="1050" b="0">
                <a:solidFill>
                  <a:srgbClr val="334155"/>
                </a:solidFill>
                <a:latin typeface="Calisto MT"/>
              </a:rPr>
              <a:t>Tested only in computer simulation — never validated on physical robot hardware; lacks touchless gesture control.</a:t>
            </a:r>
          </a:p>
          <a:p>
            <a:pPr algn="l">
              <a:lnSpc>
                <a:spcPct val="112000"/>
              </a:lnSpc>
              <a:spcAft>
                <a:spcPts val="0"/>
              </a:spcAft>
            </a:pPr>
            <a:r>
              <a:rPr sz="1050" b="1">
                <a:solidFill>
                  <a:srgbClr val="002060"/>
                </a:solidFill>
                <a:latin typeface="Calisto MT"/>
              </a:rPr>
              <a:t>• Project Resolution: </a:t>
            </a:r>
            <a:r>
              <a:rPr sz="1050" b="0">
                <a:solidFill>
                  <a:srgbClr val="1E293B"/>
                </a:solidFill>
                <a:latin typeface="Calisto MT"/>
              </a:rPr>
              <a:t>Physically validated on a real mobile robot with 2D LiDAR SLAM, active visual servoing, and ISO safety stops.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03504" y="320040"/>
            <a:ext cx="10972800" cy="548640"/>
          </a:xfrm>
        </p:spPr>
        <p:txBody>
          <a:bodyPr/>
          <a:lstStyle/>
          <a:p>
            <a:pPr algn="ctr">
              <a:lnSpc>
                <a:spcPct val="114000"/>
              </a:lnSpc>
              <a:spcBef>
                <a:spcPts val="0"/>
              </a:spcBef>
              <a:spcAft>
                <a:spcPts val="200"/>
              </a:spcAft>
              <a:defRPr sz="2400" b="1" i="0">
                <a:solidFill>
                  <a:srgbClr val="002060"/>
                </a:solidFill>
                <a:latin typeface="Calisto MT"/>
              </a:defRPr>
            </a:pPr>
            <a:r>
              <a:t>6-PHASE RESEARCH &amp; IMPLEMENTATION METHODOLOGY</a:t>
            </a:r>
          </a:p>
        </p:txBody>
      </p:sp>
      <p:sp>
        <p:nvSpPr>
          <p:cNvPr id="3" name="Content Placeholder 2"/>
          <p:cNvSpPr>
            <a:spLocks noGrp="1"/>
          </p:cNvSpPr>
          <p:nvPr>
            <p:ph idx="1"/>
          </p:nvPr>
        </p:nvSpPr>
        <p:spPr/>
        <p:txBody>
          <a:bodyPr/>
          <a:lstStyle/>
          <a:p/>
        </p:txBody>
      </p:sp>
      <p:sp>
        <p:nvSpPr>
          <p:cNvPr id="4" name="Meth_Subhead"/>
          <p:cNvSpPr txBox="1"/>
          <p:nvPr/>
        </p:nvSpPr>
        <p:spPr>
          <a:xfrm>
            <a:off x="777240" y="960120"/>
            <a:ext cx="10634472" cy="228600"/>
          </a:xfrm>
          <a:prstGeom prst="rect">
            <a:avLst/>
          </a:prstGeom>
          <a:noFill/>
        </p:spPr>
        <p:txBody>
          <a:bodyPr wrap="square" lIns="0" rIns="0" tIns="0" bIns="0">
            <a:spAutoFit/>
          </a:bodyPr>
          <a:lstStyle/>
          <a:p>
            <a:pPr algn="l">
              <a:lnSpc>
                <a:spcPct val="114000"/>
              </a:lnSpc>
              <a:spcBef>
                <a:spcPts val="0"/>
              </a:spcBef>
              <a:spcAft>
                <a:spcPts val="200"/>
              </a:spcAft>
              <a:defRPr sz="1100" b="1" i="0">
                <a:solidFill>
                  <a:srgbClr val="B8860B"/>
                </a:solidFill>
                <a:latin typeface="Calisto MT"/>
              </a:defRPr>
            </a:pPr>
            <a:r>
              <a:t>STRUCTURED RESEARCH &amp; IMPLEMENTATION LIFECYCLE FROM DESIGN TO VALIDATION</a:t>
            </a:r>
          </a:p>
        </p:txBody>
      </p:sp>
      <p:sp>
        <p:nvSpPr>
          <p:cNvPr id="5" name="Meth_P1"/>
          <p:cNvSpPr txBox="1"/>
          <p:nvPr/>
        </p:nvSpPr>
        <p:spPr>
          <a:xfrm>
            <a:off x="777240" y="1298448"/>
            <a:ext cx="3319272" cy="1965960"/>
          </a:xfrm>
          <a:prstGeom prst="rect">
            <a:avLst/>
          </a:prstGeom>
          <a:noFill/>
        </p:spPr>
        <p:txBody>
          <a:bodyPr wrap="square" lIns="18288" rIns="18288" tIns="18288" bIns="18288">
            <a:spAutoFit/>
          </a:bodyPr>
          <a:lstStyle/>
          <a:p>
            <a:pPr algn="l">
              <a:lnSpc>
                <a:spcPct val="110000"/>
              </a:lnSpc>
              <a:spcBef>
                <a:spcPts val="0"/>
              </a:spcBef>
              <a:spcAft>
                <a:spcPts val="100"/>
              </a:spcAft>
              <a:defRPr sz="1000" b="1" i="0">
                <a:solidFill>
                  <a:srgbClr val="B8860B"/>
                </a:solidFill>
                <a:latin typeface="Calisto MT"/>
              </a:defRPr>
            </a:pPr>
            <a:r>
              <a:t>PHASE 01</a:t>
            </a:r>
          </a:p>
          <a:p>
            <a:pPr algn="l">
              <a:lnSpc>
                <a:spcPct val="112000"/>
              </a:lnSpc>
              <a:spcBef>
                <a:spcPts val="0"/>
              </a:spcBef>
              <a:spcAft>
                <a:spcPts val="500"/>
              </a:spcAft>
              <a:defRPr sz="1200" b="1" i="0">
                <a:solidFill>
                  <a:srgbClr val="002060"/>
                </a:solidFill>
                <a:latin typeface="Calisto MT"/>
              </a:defRPr>
            </a:pPr>
            <a:r>
              <a:t>Mechatronics &amp; Hardware</a:t>
            </a:r>
          </a:p>
          <a:p>
            <a:pPr algn="l">
              <a:lnSpc>
                <a:spcPct val="114000"/>
              </a:lnSpc>
              <a:spcAft>
                <a:spcPts val="400"/>
              </a:spcAft>
            </a:pPr>
            <a:r>
              <a:rPr sz="1000" b="1">
                <a:solidFill>
                  <a:srgbClr val="002060"/>
                </a:solidFill>
                <a:latin typeface="Calisto MT"/>
              </a:rPr>
              <a:t>• Robot Platform: </a:t>
            </a:r>
            <a:r>
              <a:rPr sz="1000" b="0">
                <a:solidFill>
                  <a:srgbClr val="334155"/>
                </a:solidFill>
                <a:latin typeface="Calisto MT"/>
              </a:rPr>
              <a:t>4WD mobile base with geared DC motors, wheel encoders, and camera gimbal.</a:t>
            </a:r>
          </a:p>
          <a:p>
            <a:pPr algn="l">
              <a:lnSpc>
                <a:spcPct val="114000"/>
              </a:lnSpc>
              <a:spcAft>
                <a:spcPts val="400"/>
              </a:spcAft>
            </a:pPr>
            <a:r>
              <a:rPr sz="1000" b="1">
                <a:solidFill>
                  <a:srgbClr val="002060"/>
                </a:solidFill>
                <a:latin typeface="Calisto MT"/>
              </a:rPr>
              <a:t>• Dual Processors: </a:t>
            </a:r>
            <a:r>
              <a:rPr sz="1000" b="0">
                <a:solidFill>
                  <a:srgbClr val="334155"/>
                </a:solidFill>
                <a:latin typeface="Calisto MT"/>
              </a:rPr>
              <a:t>Raspberry Pi 5 for vision AI paired with an ESP32-S3 for real-time motor control.</a:t>
            </a:r>
          </a:p>
          <a:p>
            <a:pPr algn="l">
              <a:lnSpc>
                <a:spcPct val="114000"/>
              </a:lnSpc>
              <a:spcAft>
                <a:spcPts val="0"/>
              </a:spcAft>
            </a:pPr>
            <a:r>
              <a:rPr sz="1000" b="1">
                <a:solidFill>
                  <a:srgbClr val="002060"/>
                </a:solidFill>
                <a:latin typeface="Calisto MT"/>
              </a:rPr>
              <a:t>• Separate Power: </a:t>
            </a:r>
            <a:r>
              <a:rPr sz="1000" b="0">
                <a:solidFill>
                  <a:srgbClr val="334155"/>
                </a:solidFill>
                <a:latin typeface="Calisto MT"/>
              </a:rPr>
              <a:t>Dedicated battery packs powering the onboard computer and drive motors independently.</a:t>
            </a:r>
          </a:p>
        </p:txBody>
      </p:sp>
      <p:sp>
        <p:nvSpPr>
          <p:cNvPr id="6" name="Meth_P2"/>
          <p:cNvSpPr txBox="1"/>
          <p:nvPr/>
        </p:nvSpPr>
        <p:spPr>
          <a:xfrm>
            <a:off x="4434840" y="1298448"/>
            <a:ext cx="3319272" cy="1965960"/>
          </a:xfrm>
          <a:prstGeom prst="rect">
            <a:avLst/>
          </a:prstGeom>
          <a:noFill/>
        </p:spPr>
        <p:txBody>
          <a:bodyPr wrap="square" lIns="18288" rIns="18288" tIns="18288" bIns="18288">
            <a:spAutoFit/>
          </a:bodyPr>
          <a:lstStyle/>
          <a:p>
            <a:pPr algn="l">
              <a:lnSpc>
                <a:spcPct val="110000"/>
              </a:lnSpc>
              <a:spcBef>
                <a:spcPts val="0"/>
              </a:spcBef>
              <a:spcAft>
                <a:spcPts val="100"/>
              </a:spcAft>
              <a:defRPr sz="1000" b="1" i="0">
                <a:solidFill>
                  <a:srgbClr val="B8860B"/>
                </a:solidFill>
                <a:latin typeface="Calisto MT"/>
              </a:defRPr>
            </a:pPr>
            <a:r>
              <a:t>PHASE 02</a:t>
            </a:r>
          </a:p>
          <a:p>
            <a:pPr algn="l">
              <a:lnSpc>
                <a:spcPct val="112000"/>
              </a:lnSpc>
              <a:spcBef>
                <a:spcPts val="0"/>
              </a:spcBef>
              <a:spcAft>
                <a:spcPts val="500"/>
              </a:spcAft>
              <a:defRPr sz="1200" b="1" i="0">
                <a:solidFill>
                  <a:srgbClr val="002060"/>
                </a:solidFill>
                <a:latin typeface="Calisto MT"/>
              </a:defRPr>
            </a:pPr>
            <a:r>
              <a:t>Data Collection &amp; Setup</a:t>
            </a:r>
          </a:p>
          <a:p>
            <a:pPr algn="l">
              <a:lnSpc>
                <a:spcPct val="114000"/>
              </a:lnSpc>
              <a:spcAft>
                <a:spcPts val="400"/>
              </a:spcAft>
            </a:pPr>
            <a:r>
              <a:rPr sz="1000" b="1">
                <a:solidFill>
                  <a:srgbClr val="002060"/>
                </a:solidFill>
                <a:latin typeface="Calisto MT"/>
              </a:rPr>
              <a:t>• Custom Dataset: </a:t>
            </a:r>
            <a:r>
              <a:rPr sz="1000" b="0">
                <a:solidFill>
                  <a:srgbClr val="334155"/>
                </a:solidFill>
                <a:latin typeface="Calisto MT"/>
              </a:rPr>
              <a:t>6,000 total gesture images (1,000 per class) collected with the onboard camera.</a:t>
            </a:r>
          </a:p>
          <a:p>
            <a:pPr algn="l">
              <a:lnSpc>
                <a:spcPct val="114000"/>
              </a:lnSpc>
              <a:spcAft>
                <a:spcPts val="400"/>
              </a:spcAft>
            </a:pPr>
            <a:r>
              <a:rPr sz="1000" b="1">
                <a:solidFill>
                  <a:srgbClr val="002060"/>
                </a:solidFill>
                <a:latin typeface="Calisto MT"/>
              </a:rPr>
              <a:t>• 6 Core Gestures: </a:t>
            </a:r>
            <a:r>
              <a:rPr sz="1000" b="0">
                <a:solidFill>
                  <a:srgbClr val="334155"/>
                </a:solidFill>
                <a:latin typeface="Calisto MT"/>
              </a:rPr>
              <a:t>Navigational commands: STOP, GO, FOLLOW, LEFT, RIGHT, and BACK.</a:t>
            </a:r>
          </a:p>
          <a:p>
            <a:pPr algn="l">
              <a:lnSpc>
                <a:spcPct val="114000"/>
              </a:lnSpc>
              <a:spcAft>
                <a:spcPts val="0"/>
              </a:spcAft>
            </a:pPr>
            <a:r>
              <a:rPr sz="1000" b="1">
                <a:solidFill>
                  <a:srgbClr val="002060"/>
                </a:solidFill>
                <a:latin typeface="Calisto MT"/>
              </a:rPr>
              <a:t>• Realistic Testing: </a:t>
            </a:r>
            <a:r>
              <a:rPr sz="1000" b="0">
                <a:solidFill>
                  <a:srgbClr val="334155"/>
                </a:solidFill>
                <a:latin typeface="Calisto MT"/>
              </a:rPr>
              <a:t>Captured at distances between 1.0 m and 2.5 m under standard room lighting.</a:t>
            </a:r>
          </a:p>
        </p:txBody>
      </p:sp>
      <p:sp>
        <p:nvSpPr>
          <p:cNvPr id="7" name="Meth_P3"/>
          <p:cNvSpPr txBox="1"/>
          <p:nvPr/>
        </p:nvSpPr>
        <p:spPr>
          <a:xfrm>
            <a:off x="8092440" y="1298448"/>
            <a:ext cx="3319272" cy="1965960"/>
          </a:xfrm>
          <a:prstGeom prst="rect">
            <a:avLst/>
          </a:prstGeom>
          <a:noFill/>
        </p:spPr>
        <p:txBody>
          <a:bodyPr wrap="square" lIns="18288" rIns="18288" tIns="18288" bIns="18288">
            <a:spAutoFit/>
          </a:bodyPr>
          <a:lstStyle/>
          <a:p>
            <a:pPr algn="l">
              <a:lnSpc>
                <a:spcPct val="110000"/>
              </a:lnSpc>
              <a:spcBef>
                <a:spcPts val="0"/>
              </a:spcBef>
              <a:spcAft>
                <a:spcPts val="100"/>
              </a:spcAft>
              <a:defRPr sz="1000" b="1" i="0">
                <a:solidFill>
                  <a:srgbClr val="B8860B"/>
                </a:solidFill>
                <a:latin typeface="Calisto MT"/>
              </a:defRPr>
            </a:pPr>
            <a:r>
              <a:t>PHASE 03</a:t>
            </a:r>
          </a:p>
          <a:p>
            <a:pPr algn="l">
              <a:lnSpc>
                <a:spcPct val="112000"/>
              </a:lnSpc>
              <a:spcBef>
                <a:spcPts val="0"/>
              </a:spcBef>
              <a:spcAft>
                <a:spcPts val="500"/>
              </a:spcAft>
              <a:defRPr sz="1200" b="1" i="0">
                <a:solidFill>
                  <a:srgbClr val="002060"/>
                </a:solidFill>
                <a:latin typeface="Calisto MT"/>
              </a:defRPr>
            </a:pPr>
            <a:r>
              <a:t>Feature Extraction &amp; AI Models</a:t>
            </a:r>
          </a:p>
          <a:p>
            <a:pPr algn="l">
              <a:lnSpc>
                <a:spcPct val="114000"/>
              </a:lnSpc>
              <a:spcAft>
                <a:spcPts val="400"/>
              </a:spcAft>
            </a:pPr>
            <a:r>
              <a:rPr sz="1000" b="1">
                <a:solidFill>
                  <a:srgbClr val="002060"/>
                </a:solidFill>
                <a:latin typeface="Calisto MT"/>
              </a:rPr>
              <a:t>• Hand Keypoints: </a:t>
            </a:r>
            <a:r>
              <a:rPr sz="1000" b="0">
                <a:solidFill>
                  <a:srgbClr val="334155"/>
                </a:solidFill>
                <a:latin typeface="Calisto MT"/>
              </a:rPr>
              <a:t>Detected 21 hand joints with MediaPipe and computed 19 normalized angles and distances.</a:t>
            </a:r>
          </a:p>
          <a:p>
            <a:pPr algn="l">
              <a:lnSpc>
                <a:spcPct val="114000"/>
              </a:lnSpc>
              <a:spcAft>
                <a:spcPts val="400"/>
              </a:spcAft>
            </a:pPr>
            <a:r>
              <a:rPr sz="1000" b="1">
                <a:solidFill>
                  <a:srgbClr val="002060"/>
                </a:solidFill>
                <a:latin typeface="Calisto MT"/>
              </a:rPr>
              <a:t>• Neural Classifier: </a:t>
            </a:r>
            <a:r>
              <a:rPr sz="1000" b="0">
                <a:solidFill>
                  <a:srgbClr val="334155"/>
                </a:solidFill>
                <a:latin typeface="Calisto MT"/>
              </a:rPr>
              <a:t>Compact neural network (46 KB) classifying gestures in under 2 ms on the CPU.</a:t>
            </a:r>
          </a:p>
          <a:p>
            <a:pPr algn="l">
              <a:lnSpc>
                <a:spcPct val="114000"/>
              </a:lnSpc>
              <a:spcAft>
                <a:spcPts val="0"/>
              </a:spcAft>
            </a:pPr>
            <a:r>
              <a:rPr sz="1000" b="1">
                <a:solidFill>
                  <a:srgbClr val="002060"/>
                </a:solidFill>
                <a:latin typeface="Calisto MT"/>
              </a:rPr>
              <a:t>• Motion Predictor: </a:t>
            </a:r>
            <a:r>
              <a:rPr sz="1000" b="0">
                <a:solidFill>
                  <a:srgbClr val="334155"/>
                </a:solidFill>
                <a:latin typeface="Calisto MT"/>
              </a:rPr>
              <a:t>Recurrent neural model (LSTM) tracking hand and body movements across consecutive frames.</a:t>
            </a:r>
          </a:p>
        </p:txBody>
      </p:sp>
      <p:sp>
        <p:nvSpPr>
          <p:cNvPr id="8" name="Meth_P4"/>
          <p:cNvSpPr txBox="1"/>
          <p:nvPr/>
        </p:nvSpPr>
        <p:spPr>
          <a:xfrm>
            <a:off x="777240" y="3611880"/>
            <a:ext cx="3319272" cy="1965960"/>
          </a:xfrm>
          <a:prstGeom prst="rect">
            <a:avLst/>
          </a:prstGeom>
          <a:noFill/>
        </p:spPr>
        <p:txBody>
          <a:bodyPr wrap="square" lIns="18288" rIns="18288" tIns="18288" bIns="18288">
            <a:spAutoFit/>
          </a:bodyPr>
          <a:lstStyle/>
          <a:p>
            <a:pPr algn="l">
              <a:lnSpc>
                <a:spcPct val="110000"/>
              </a:lnSpc>
              <a:spcBef>
                <a:spcPts val="0"/>
              </a:spcBef>
              <a:spcAft>
                <a:spcPts val="100"/>
              </a:spcAft>
              <a:defRPr sz="1000" b="1" i="0">
                <a:solidFill>
                  <a:srgbClr val="B8860B"/>
                </a:solidFill>
                <a:latin typeface="Calisto MT"/>
              </a:defRPr>
            </a:pPr>
            <a:r>
              <a:t>PHASE 04</a:t>
            </a:r>
          </a:p>
          <a:p>
            <a:pPr algn="l">
              <a:lnSpc>
                <a:spcPct val="112000"/>
              </a:lnSpc>
              <a:spcBef>
                <a:spcPts val="0"/>
              </a:spcBef>
              <a:spcAft>
                <a:spcPts val="500"/>
              </a:spcAft>
              <a:defRPr sz="1200" b="1" i="0">
                <a:solidFill>
                  <a:srgbClr val="002060"/>
                </a:solidFill>
                <a:latin typeface="Calisto MT"/>
              </a:defRPr>
            </a:pPr>
            <a:r>
              <a:t>Robot Control &amp; Safety</a:t>
            </a:r>
          </a:p>
          <a:p>
            <a:pPr algn="l">
              <a:lnSpc>
                <a:spcPct val="114000"/>
              </a:lnSpc>
              <a:spcAft>
                <a:spcPts val="400"/>
              </a:spcAft>
            </a:pPr>
            <a:r>
              <a:rPr sz="1000" b="1">
                <a:solidFill>
                  <a:srgbClr val="002060"/>
                </a:solidFill>
                <a:latin typeface="Calisto MT"/>
              </a:rPr>
              <a:t>• ROS 2 Framework: </a:t>
            </a:r>
            <a:r>
              <a:rPr sz="1000" b="0">
                <a:solidFill>
                  <a:srgbClr val="334155"/>
                </a:solidFill>
                <a:latin typeface="Calisto MT"/>
              </a:rPr>
              <a:t>Modular software nodes connecting the camera, AI models, and motor drivers.</a:t>
            </a:r>
          </a:p>
          <a:p>
            <a:pPr algn="l">
              <a:lnSpc>
                <a:spcPct val="114000"/>
              </a:lnSpc>
              <a:spcAft>
                <a:spcPts val="400"/>
              </a:spcAft>
            </a:pPr>
            <a:r>
              <a:rPr sz="1000" b="1">
                <a:solidFill>
                  <a:srgbClr val="002060"/>
                </a:solidFill>
                <a:latin typeface="Calisto MT"/>
              </a:rPr>
              <a:t>• Decision Logic: </a:t>
            </a:r>
            <a:r>
              <a:rPr sz="1000" b="0">
                <a:solidFill>
                  <a:srgbClr val="334155"/>
                </a:solidFill>
                <a:latin typeface="Calisto MT"/>
              </a:rPr>
              <a:t>State machine filters out accidental motions by confirming steady hand gestures.</a:t>
            </a:r>
          </a:p>
          <a:p>
            <a:pPr algn="l">
              <a:lnSpc>
                <a:spcPct val="114000"/>
              </a:lnSpc>
              <a:spcAft>
                <a:spcPts val="0"/>
              </a:spcAft>
            </a:pPr>
            <a:r>
              <a:rPr sz="1000" b="1">
                <a:solidFill>
                  <a:srgbClr val="002060"/>
                </a:solidFill>
                <a:latin typeface="Calisto MT"/>
              </a:rPr>
              <a:t>• Emergency Halt: </a:t>
            </a:r>
            <a:r>
              <a:rPr sz="1000" b="0">
                <a:solidFill>
                  <a:srgbClr val="334155"/>
                </a:solidFill>
                <a:latin typeface="Calisto MT"/>
              </a:rPr>
              <a:t>2D LiDAR sensor automatically stops the robot if an obstacle is within 0.36 m.</a:t>
            </a:r>
          </a:p>
        </p:txBody>
      </p:sp>
      <p:sp>
        <p:nvSpPr>
          <p:cNvPr id="9" name="Meth_P5"/>
          <p:cNvSpPr txBox="1"/>
          <p:nvPr/>
        </p:nvSpPr>
        <p:spPr>
          <a:xfrm>
            <a:off x="4434840" y="3611880"/>
            <a:ext cx="3319272" cy="1965960"/>
          </a:xfrm>
          <a:prstGeom prst="rect">
            <a:avLst/>
          </a:prstGeom>
          <a:noFill/>
        </p:spPr>
        <p:txBody>
          <a:bodyPr wrap="square" lIns="18288" rIns="18288" tIns="18288" bIns="18288">
            <a:spAutoFit/>
          </a:bodyPr>
          <a:lstStyle/>
          <a:p>
            <a:pPr algn="l">
              <a:lnSpc>
                <a:spcPct val="110000"/>
              </a:lnSpc>
              <a:spcBef>
                <a:spcPts val="0"/>
              </a:spcBef>
              <a:spcAft>
                <a:spcPts val="100"/>
              </a:spcAft>
              <a:defRPr sz="1000" b="1" i="0">
                <a:solidFill>
                  <a:srgbClr val="B8860B"/>
                </a:solidFill>
                <a:latin typeface="Calisto MT"/>
              </a:defRPr>
            </a:pPr>
            <a:r>
              <a:t>PHASE 05</a:t>
            </a:r>
          </a:p>
          <a:p>
            <a:pPr algn="l">
              <a:lnSpc>
                <a:spcPct val="112000"/>
              </a:lnSpc>
              <a:spcBef>
                <a:spcPts val="0"/>
              </a:spcBef>
              <a:spcAft>
                <a:spcPts val="500"/>
              </a:spcAft>
              <a:defRPr sz="1200" b="1" i="0">
                <a:solidFill>
                  <a:srgbClr val="002060"/>
                </a:solidFill>
                <a:latin typeface="Calisto MT"/>
              </a:defRPr>
            </a:pPr>
            <a:r>
              <a:t>Mapping &amp; Navigation</a:t>
            </a:r>
          </a:p>
          <a:p>
            <a:pPr algn="l">
              <a:lnSpc>
                <a:spcPct val="114000"/>
              </a:lnSpc>
              <a:spcAft>
                <a:spcPts val="400"/>
              </a:spcAft>
            </a:pPr>
            <a:r>
              <a:rPr sz="1000" b="1">
                <a:solidFill>
                  <a:srgbClr val="002060"/>
                </a:solidFill>
                <a:latin typeface="Calisto MT"/>
              </a:rPr>
              <a:t>• Indoor Mapping: </a:t>
            </a:r>
            <a:r>
              <a:rPr sz="1000" b="0">
                <a:solidFill>
                  <a:srgbClr val="334155"/>
                </a:solidFill>
                <a:latin typeface="Calisto MT"/>
              </a:rPr>
              <a:t>2D laser mapping (slam_toolbox) creates a clean 5 cm resolution floor plan.</a:t>
            </a:r>
          </a:p>
          <a:p>
            <a:pPr algn="l">
              <a:lnSpc>
                <a:spcPct val="114000"/>
              </a:lnSpc>
              <a:spcAft>
                <a:spcPts val="400"/>
              </a:spcAft>
            </a:pPr>
            <a:r>
              <a:rPr sz="1000" b="1">
                <a:solidFill>
                  <a:srgbClr val="002060"/>
                </a:solidFill>
                <a:latin typeface="Calisto MT"/>
              </a:rPr>
              <a:t>• Robot Position: </a:t>
            </a:r>
            <a:r>
              <a:rPr sz="1000" b="0">
                <a:solidFill>
                  <a:srgbClr val="334155"/>
                </a:solidFill>
                <a:latin typeface="Calisto MT"/>
              </a:rPr>
              <a:t>Accurately tracks robot movement by combining wheel encoders with an onboard IMU sensor.</a:t>
            </a:r>
          </a:p>
          <a:p>
            <a:pPr algn="l">
              <a:lnSpc>
                <a:spcPct val="114000"/>
              </a:lnSpc>
              <a:spcAft>
                <a:spcPts val="0"/>
              </a:spcAft>
            </a:pPr>
            <a:r>
              <a:rPr sz="1000" b="1">
                <a:solidFill>
                  <a:srgbClr val="002060"/>
                </a:solidFill>
                <a:latin typeface="Calisto MT"/>
              </a:rPr>
              <a:t>• Path Planning: </a:t>
            </a:r>
            <a:r>
              <a:rPr sz="1000" b="0">
                <a:solidFill>
                  <a:srgbClr val="334155"/>
                </a:solidFill>
                <a:latin typeface="Calisto MT"/>
              </a:rPr>
              <a:t>Nav2 autonomous navigation plans collision-free paths with safe margins around obstacles.</a:t>
            </a:r>
          </a:p>
        </p:txBody>
      </p:sp>
      <p:sp>
        <p:nvSpPr>
          <p:cNvPr id="10" name="Meth_P6"/>
          <p:cNvSpPr txBox="1"/>
          <p:nvPr/>
        </p:nvSpPr>
        <p:spPr>
          <a:xfrm>
            <a:off x="8092440" y="3611880"/>
            <a:ext cx="3319272" cy="1965960"/>
          </a:xfrm>
          <a:prstGeom prst="rect">
            <a:avLst/>
          </a:prstGeom>
          <a:noFill/>
        </p:spPr>
        <p:txBody>
          <a:bodyPr wrap="square" lIns="18288" rIns="18288" tIns="18288" bIns="18288">
            <a:spAutoFit/>
          </a:bodyPr>
          <a:lstStyle/>
          <a:p>
            <a:pPr algn="l">
              <a:lnSpc>
                <a:spcPct val="110000"/>
              </a:lnSpc>
              <a:spcBef>
                <a:spcPts val="0"/>
              </a:spcBef>
              <a:spcAft>
                <a:spcPts val="100"/>
              </a:spcAft>
              <a:defRPr sz="1000" b="1" i="0">
                <a:solidFill>
                  <a:srgbClr val="B8860B"/>
                </a:solidFill>
                <a:latin typeface="Calisto MT"/>
              </a:defRPr>
            </a:pPr>
            <a:r>
              <a:t>PHASE 06</a:t>
            </a:r>
          </a:p>
          <a:p>
            <a:pPr algn="l">
              <a:lnSpc>
                <a:spcPct val="112000"/>
              </a:lnSpc>
              <a:spcBef>
                <a:spcPts val="0"/>
              </a:spcBef>
              <a:spcAft>
                <a:spcPts val="500"/>
              </a:spcAft>
              <a:defRPr sz="1200" b="1" i="0">
                <a:solidFill>
                  <a:srgbClr val="002060"/>
                </a:solidFill>
                <a:latin typeface="Calisto MT"/>
              </a:defRPr>
            </a:pPr>
            <a:r>
              <a:t>Testing, Results &amp; Analysis</a:t>
            </a:r>
          </a:p>
          <a:p>
            <a:pPr algn="l">
              <a:lnSpc>
                <a:spcPct val="114000"/>
              </a:lnSpc>
              <a:spcAft>
                <a:spcPts val="400"/>
              </a:spcAft>
            </a:pPr>
            <a:r>
              <a:rPr sz="1000" b="1">
                <a:solidFill>
                  <a:srgbClr val="002060"/>
                </a:solidFill>
                <a:latin typeface="Calisto MT"/>
              </a:rPr>
              <a:t>• Fast Response: </a:t>
            </a:r>
            <a:r>
              <a:rPr sz="1000" b="0">
                <a:solidFill>
                  <a:srgbClr val="334155"/>
                </a:solidFill>
                <a:latin typeface="Calisto MT"/>
              </a:rPr>
              <a:t>End-to-end reaction time of 132.0 ms, comfortably below the 150 ms real-time limit.</a:t>
            </a:r>
          </a:p>
          <a:p>
            <a:pPr algn="l">
              <a:lnSpc>
                <a:spcPct val="114000"/>
              </a:lnSpc>
              <a:spcAft>
                <a:spcPts val="400"/>
              </a:spcAft>
            </a:pPr>
            <a:r>
              <a:rPr sz="1000" b="1">
                <a:solidFill>
                  <a:srgbClr val="002060"/>
                </a:solidFill>
                <a:latin typeface="Calisto MT"/>
              </a:rPr>
              <a:t>• Live Driving Trials: </a:t>
            </a:r>
            <a:r>
              <a:rPr sz="1000" b="0">
                <a:solidFill>
                  <a:srgbClr val="334155"/>
                </a:solidFill>
                <a:latin typeface="Calisto MT"/>
              </a:rPr>
              <a:t>180 real-world physical tests achieving a 96.67% operational success rate.</a:t>
            </a:r>
          </a:p>
          <a:p>
            <a:pPr algn="l">
              <a:lnSpc>
                <a:spcPct val="114000"/>
              </a:lnSpc>
              <a:spcAft>
                <a:spcPts val="0"/>
              </a:spcAft>
            </a:pPr>
            <a:r>
              <a:rPr sz="1000" b="1">
                <a:solidFill>
                  <a:srgbClr val="002060"/>
                </a:solidFill>
                <a:latin typeface="Calisto MT"/>
              </a:rPr>
              <a:t>• Safety Confirmed: </a:t>
            </a:r>
            <a:r>
              <a:rPr sz="1000" b="0">
                <a:solidFill>
                  <a:srgbClr val="334155"/>
                </a:solidFill>
                <a:latin typeface="Calisto MT"/>
              </a:rPr>
              <a:t>Verified that the robot reliably halts before coming into contact with any human or obstacle.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03504" y="320040"/>
            <a:ext cx="10972800" cy="548640"/>
          </a:xfrm>
        </p:spPr>
        <p:txBody>
          <a:bodyPr/>
          <a:lstStyle/>
          <a:p>
            <a:pPr algn="ctr">
              <a:lnSpc>
                <a:spcPct val="114000"/>
              </a:lnSpc>
              <a:spcBef>
                <a:spcPts val="0"/>
              </a:spcBef>
              <a:spcAft>
                <a:spcPts val="200"/>
              </a:spcAft>
              <a:defRPr sz="2400" b="1" i="0">
                <a:solidFill>
                  <a:srgbClr val="002060"/>
                </a:solidFill>
                <a:latin typeface="Calisto MT"/>
              </a:defRPr>
            </a:pPr>
            <a:r>
              <a:t>SOFTWARE ARCHITECTURE &amp; INTER-NODE DATAFLOW</a:t>
            </a:r>
          </a:p>
        </p:txBody>
      </p:sp>
      <p:sp>
        <p:nvSpPr>
          <p:cNvPr id="3" name="Content Placeholder 2"/>
          <p:cNvSpPr>
            <a:spLocks noGrp="1"/>
          </p:cNvSpPr>
          <p:nvPr>
            <p:ph idx="1"/>
          </p:nvPr>
        </p:nvSpPr>
        <p:spPr/>
        <p:txBody>
          <a:bodyPr/>
          <a:lstStyle/>
          <a:p/>
        </p:txBody>
      </p:sp>
      <p:sp>
        <p:nvSpPr>
          <p:cNvPr id="4" name="Arch_Subhead"/>
          <p:cNvSpPr txBox="1"/>
          <p:nvPr/>
        </p:nvSpPr>
        <p:spPr>
          <a:xfrm>
            <a:off x="777240" y="960120"/>
            <a:ext cx="10634472" cy="228600"/>
          </a:xfrm>
          <a:prstGeom prst="rect">
            <a:avLst/>
          </a:prstGeom>
          <a:noFill/>
        </p:spPr>
        <p:txBody>
          <a:bodyPr wrap="square" lIns="0" rIns="0" tIns="0" bIns="0">
            <a:spAutoFit/>
          </a:bodyPr>
          <a:lstStyle/>
          <a:p>
            <a:pPr algn="l">
              <a:lnSpc>
                <a:spcPct val="114000"/>
              </a:lnSpc>
              <a:spcBef>
                <a:spcPts val="0"/>
              </a:spcBef>
              <a:spcAft>
                <a:spcPts val="200"/>
              </a:spcAft>
              <a:defRPr sz="1100" b="1" i="0">
                <a:solidFill>
                  <a:srgbClr val="B8860B"/>
                </a:solidFill>
                <a:latin typeface="Calisto MT"/>
              </a:defRPr>
            </a:pPr>
            <a:r>
              <a:t>HOW THE ROBOT PROCESSES SENSOR DATA AND MAKES SAFE DRIVING DECISIONS</a:t>
            </a:r>
          </a:p>
        </p:txBody>
      </p:sp>
      <p:sp>
        <p:nvSpPr>
          <p:cNvPr id="5" name="Arch_Tiers_Text"/>
          <p:cNvSpPr txBox="1"/>
          <p:nvPr/>
        </p:nvSpPr>
        <p:spPr>
          <a:xfrm>
            <a:off x="777240" y="1261872"/>
            <a:ext cx="5897880" cy="4297680"/>
          </a:xfrm>
          <a:prstGeom prst="rect">
            <a:avLst/>
          </a:prstGeom>
          <a:noFill/>
        </p:spPr>
        <p:txBody>
          <a:bodyPr wrap="square" lIns="18288" rIns="18288" tIns="18288" bIns="18288">
            <a:spAutoFit/>
          </a:bodyPr>
          <a:lstStyle/>
          <a:p>
            <a:pPr algn="l">
              <a:lnSpc>
                <a:spcPct val="115000"/>
              </a:lnSpc>
              <a:spcAft>
                <a:spcPts val="800"/>
              </a:spcAft>
            </a:pPr>
            <a:r>
              <a:rPr sz="1100" b="1">
                <a:solidFill>
                  <a:srgbClr val="002060"/>
                </a:solidFill>
                <a:latin typeface="Calisto MT"/>
              </a:rPr>
              <a:t>• System Software (ROS 2): </a:t>
            </a:r>
            <a:r>
              <a:rPr sz="1100" b="0">
                <a:solidFill>
                  <a:srgbClr val="334155"/>
                </a:solidFill>
                <a:latin typeface="Calisto MT"/>
              </a:rPr>
              <a:t>Connects all camera, artificial intelligence, and motor programs so they exchange data reliably with low communication latency.</a:t>
            </a:r>
          </a:p>
          <a:p>
            <a:pPr algn="l">
              <a:lnSpc>
                <a:spcPct val="115000"/>
              </a:lnSpc>
              <a:spcAft>
                <a:spcPts val="800"/>
              </a:spcAft>
            </a:pPr>
            <a:r>
              <a:rPr sz="1100" b="1">
                <a:solidFill>
                  <a:srgbClr val="002060"/>
                </a:solidFill>
                <a:latin typeface="Calisto MT"/>
              </a:rPr>
              <a:t>• Live Sensor Feeds: </a:t>
            </a:r>
            <a:r>
              <a:rPr sz="1100" b="0">
                <a:solidFill>
                  <a:srgbClr val="334155"/>
                </a:solidFill>
                <a:latin typeface="Calisto MT"/>
              </a:rPr>
              <a:t>The camera captures live video at 20 frames per second while the laser sensor constantly scans 360 degrees for obstacles.</a:t>
            </a:r>
          </a:p>
          <a:p>
            <a:pPr algn="l">
              <a:lnSpc>
                <a:spcPct val="115000"/>
              </a:lnSpc>
              <a:spcAft>
                <a:spcPts val="800"/>
              </a:spcAft>
            </a:pPr>
            <a:r>
              <a:rPr sz="1100" b="1">
                <a:solidFill>
                  <a:srgbClr val="002060"/>
                </a:solidFill>
                <a:latin typeface="Calisto MT"/>
              </a:rPr>
              <a:t>• Vision &amp; Hand Tracking: </a:t>
            </a:r>
            <a:r>
              <a:rPr sz="1100" b="0">
                <a:solidFill>
                  <a:srgbClr val="334155"/>
                </a:solidFill>
                <a:latin typeface="Calisto MT"/>
              </a:rPr>
              <a:t>Focuses on the person standing in front of the robot, locates 21 finger joints, and identifies the gesture being shown.</a:t>
            </a:r>
          </a:p>
          <a:p>
            <a:pPr algn="l">
              <a:lnSpc>
                <a:spcPct val="115000"/>
              </a:lnSpc>
              <a:spcAft>
                <a:spcPts val="800"/>
              </a:spcAft>
            </a:pPr>
            <a:r>
              <a:rPr sz="1100" b="1">
                <a:solidFill>
                  <a:srgbClr val="002060"/>
                </a:solidFill>
                <a:latin typeface="Calisto MT"/>
              </a:rPr>
              <a:t>• Gesture Confirmation: </a:t>
            </a:r>
            <a:r>
              <a:rPr sz="1100" b="0">
                <a:solidFill>
                  <a:srgbClr val="334155"/>
                </a:solidFill>
                <a:latin typeface="Calisto MT"/>
              </a:rPr>
              <a:t>The robot checks that it sees the exact same gesture 5 times in a row before moving, ignoring accidental hand motions.</a:t>
            </a:r>
          </a:p>
          <a:p>
            <a:pPr algn="l">
              <a:lnSpc>
                <a:spcPct val="115000"/>
              </a:lnSpc>
              <a:spcAft>
                <a:spcPts val="800"/>
              </a:spcAft>
            </a:pPr>
            <a:r>
              <a:rPr sz="1100" b="1">
                <a:solidFill>
                  <a:srgbClr val="002060"/>
                </a:solidFill>
                <a:latin typeface="Calisto MT"/>
              </a:rPr>
              <a:t>• Safety Override: </a:t>
            </a:r>
            <a:r>
              <a:rPr sz="1100" b="0">
                <a:solidFill>
                  <a:srgbClr val="334155"/>
                </a:solidFill>
                <a:latin typeface="Calisto MT"/>
              </a:rPr>
              <a:t>If the laser detects any obstacle closer than 0.36 meters, it automatically preempts driving commands and halts the vehicle.</a:t>
            </a:r>
          </a:p>
          <a:p>
            <a:pPr algn="l">
              <a:lnSpc>
                <a:spcPct val="115000"/>
              </a:lnSpc>
              <a:spcAft>
                <a:spcPts val="0"/>
              </a:spcAft>
            </a:pPr>
            <a:r>
              <a:rPr sz="1100" b="1">
                <a:solidFill>
                  <a:srgbClr val="002060"/>
                </a:solidFill>
                <a:latin typeface="Calisto MT"/>
              </a:rPr>
              <a:t>• Smooth Wheel Control: </a:t>
            </a:r>
            <a:r>
              <a:rPr sz="1100" b="0">
                <a:solidFill>
                  <a:srgbClr val="334155"/>
                </a:solidFill>
                <a:latin typeface="Calisto MT"/>
              </a:rPr>
              <a:t>Approved movement commands are transmitted directly to the motor controller board, which drives the 4 wheels smoothly.</a:t>
            </a:r>
          </a:p>
        </p:txBody>
      </p:sp>
      <p:pic>
        <p:nvPicPr>
          <p:cNvPr id="6" name="Arch_Diagram_Img" descr="image.png"/>
          <p:cNvPicPr>
            <a:picLocks noChangeAspect="1"/>
          </p:cNvPicPr>
          <p:nvPr/>
        </p:nvPicPr>
        <p:blipFill>
          <a:blip r:embed="rId5"/>
          <a:stretch>
            <a:fillRect/>
          </a:stretch>
        </p:blipFill>
        <p:spPr>
          <a:xfrm>
            <a:off x="6903720" y="1261872"/>
            <a:ext cx="4434840" cy="4251960"/>
          </a:xfrm>
          <a:prstGeom prst="rect">
            <a:avLst/>
          </a:prstGeom>
        </p:spPr>
      </p:pic>
      <p:sp>
        <p:nvSpPr>
          <p:cNvPr id="7" name="Arch_Caption"/>
          <p:cNvSpPr txBox="1"/>
          <p:nvPr/>
        </p:nvSpPr>
        <p:spPr>
          <a:xfrm>
            <a:off x="6903720" y="5577840"/>
            <a:ext cx="4434840" cy="228600"/>
          </a:xfrm>
          <a:prstGeom prst="rect">
            <a:avLst/>
          </a:prstGeom>
          <a:noFill/>
        </p:spPr>
        <p:txBody>
          <a:bodyPr wrap="square" lIns="0" rIns="0" tIns="0" bIns="0">
            <a:spAutoFit/>
          </a:bodyPr>
          <a:lstStyle/>
          <a:p>
            <a:pPr algn="ctr">
              <a:lnSpc>
                <a:spcPct val="114000"/>
              </a:lnSpc>
              <a:spcBef>
                <a:spcPts val="0"/>
              </a:spcBef>
              <a:spcAft>
                <a:spcPts val="200"/>
              </a:spcAft>
              <a:defRPr sz="900" b="0" i="1">
                <a:solidFill>
                  <a:srgbClr val="64748B"/>
                </a:solidFill>
                <a:latin typeface="Calisto MT"/>
              </a:defRPr>
            </a:pPr>
            <a:r>
              <a:t>Figure 3.1: Dataflow Pipeline from Sensor Feeds to Wheel Actuation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03504" y="320040"/>
            <a:ext cx="10972800" cy="548640"/>
          </a:xfrm>
        </p:spPr>
        <p:txBody>
          <a:bodyPr/>
          <a:lstStyle/>
          <a:p>
            <a:pPr algn="ctr">
              <a:lnSpc>
                <a:spcPct val="114000"/>
              </a:lnSpc>
              <a:spcBef>
                <a:spcPts val="0"/>
              </a:spcBef>
              <a:spcAft>
                <a:spcPts val="200"/>
              </a:spcAft>
              <a:defRPr sz="2400" b="1" i="0">
                <a:solidFill>
                  <a:srgbClr val="002060"/>
                </a:solidFill>
                <a:latin typeface="Calisto MT"/>
              </a:defRPr>
            </a:pPr>
            <a:r>
              <a:t>MECHATRONIC HARDWARE &amp; POWER DISTRIBUTION</a:t>
            </a:r>
          </a:p>
        </p:txBody>
      </p:sp>
      <p:sp>
        <p:nvSpPr>
          <p:cNvPr id="3" name="Content Placeholder 2"/>
          <p:cNvSpPr>
            <a:spLocks noGrp="1"/>
          </p:cNvSpPr>
          <p:nvPr>
            <p:ph idx="1"/>
          </p:nvPr>
        </p:nvSpPr>
        <p:spPr/>
        <p:txBody>
          <a:bodyPr/>
          <a:lstStyle/>
          <a:p/>
        </p:txBody>
      </p:sp>
      <p:sp>
        <p:nvSpPr>
          <p:cNvPr id="4" name="Hw_Subhead"/>
          <p:cNvSpPr txBox="1"/>
          <p:nvPr/>
        </p:nvSpPr>
        <p:spPr>
          <a:xfrm>
            <a:off x="777240" y="960120"/>
            <a:ext cx="10634472" cy="228600"/>
          </a:xfrm>
          <a:prstGeom prst="rect">
            <a:avLst/>
          </a:prstGeom>
          <a:noFill/>
        </p:spPr>
        <p:txBody>
          <a:bodyPr wrap="square" lIns="0" rIns="0" tIns="0" bIns="0">
            <a:spAutoFit/>
          </a:bodyPr>
          <a:lstStyle/>
          <a:p>
            <a:pPr algn="l">
              <a:lnSpc>
                <a:spcPct val="114000"/>
              </a:lnSpc>
              <a:spcBef>
                <a:spcPts val="0"/>
              </a:spcBef>
              <a:spcAft>
                <a:spcPts val="200"/>
              </a:spcAft>
              <a:defRPr sz="1100" b="1" i="0">
                <a:solidFill>
                  <a:srgbClr val="B8860B"/>
                </a:solidFill>
                <a:latin typeface="Calisto MT"/>
              </a:defRPr>
            </a:pPr>
            <a:r>
              <a:t>PHYSICAL EMBEDDED COMPUTING, SENSORS, CHASSIS &amp; POWER ISOLATION</a:t>
            </a:r>
          </a:p>
        </p:txBody>
      </p:sp>
      <p:sp>
        <p:nvSpPr>
          <p:cNvPr id="5" name="Hw_Points_Text"/>
          <p:cNvSpPr txBox="1"/>
          <p:nvPr/>
        </p:nvSpPr>
        <p:spPr>
          <a:xfrm>
            <a:off x="777240" y="1261872"/>
            <a:ext cx="5394960" cy="4297680"/>
          </a:xfrm>
          <a:prstGeom prst="rect">
            <a:avLst/>
          </a:prstGeom>
          <a:noFill/>
        </p:spPr>
        <p:txBody>
          <a:bodyPr wrap="square" lIns="18288" rIns="18288" tIns="18288" bIns="18288">
            <a:spAutoFit/>
          </a:bodyPr>
          <a:lstStyle/>
          <a:p>
            <a:pPr algn="l">
              <a:lnSpc>
                <a:spcPct val="115000"/>
              </a:lnSpc>
              <a:spcAft>
                <a:spcPts val="700"/>
              </a:spcAft>
            </a:pPr>
            <a:r>
              <a:rPr sz="1100" b="1">
                <a:solidFill>
                  <a:srgbClr val="002060"/>
                </a:solidFill>
                <a:latin typeface="Calisto MT"/>
              </a:rPr>
              <a:t>• Onboard Computer (Raspberry Pi 5): </a:t>
            </a:r>
            <a:r>
              <a:rPr sz="1100" b="0">
                <a:solidFill>
                  <a:srgbClr val="334155"/>
                </a:solidFill>
                <a:latin typeface="Calisto MT"/>
              </a:rPr>
              <a:t>8GB RAM single-board computer running all camera tracking, gesture artificial intelligence, and navigation programs directly on the robot.</a:t>
            </a:r>
          </a:p>
          <a:p>
            <a:pPr algn="l">
              <a:lnSpc>
                <a:spcPct val="115000"/>
              </a:lnSpc>
              <a:spcAft>
                <a:spcPts val="700"/>
              </a:spcAft>
            </a:pPr>
            <a:r>
              <a:rPr sz="1100" b="1">
                <a:solidFill>
                  <a:srgbClr val="002060"/>
                </a:solidFill>
                <a:latin typeface="Calisto MT"/>
              </a:rPr>
              <a:t>• Motor Controller (ESP32-S3): </a:t>
            </a:r>
            <a:r>
              <a:rPr sz="1100" b="0">
                <a:solidFill>
                  <a:srgbClr val="334155"/>
                </a:solidFill>
                <a:latin typeface="Calisto MT"/>
              </a:rPr>
              <a:t>Dedicated microcontroller that manages wheel speed and reads motor sensors smoothly without overloading the main computer.</a:t>
            </a:r>
          </a:p>
          <a:p>
            <a:pPr algn="l">
              <a:lnSpc>
                <a:spcPct val="115000"/>
              </a:lnSpc>
              <a:spcAft>
                <a:spcPts val="700"/>
              </a:spcAft>
            </a:pPr>
            <a:r>
              <a:rPr sz="1100" b="1">
                <a:solidFill>
                  <a:srgbClr val="002060"/>
                </a:solidFill>
                <a:latin typeface="Calisto MT"/>
              </a:rPr>
              <a:t>• Laser Scanner (MS200 LiDAR): </a:t>
            </a:r>
            <a:r>
              <a:rPr sz="1100" b="0">
                <a:solidFill>
                  <a:srgbClr val="334155"/>
                </a:solidFill>
                <a:latin typeface="Calisto MT"/>
              </a:rPr>
              <a:t>360-degree laser sensor measuring room distances up to 12 meters for indoor mapping and reactive emergency halts.</a:t>
            </a:r>
          </a:p>
          <a:p>
            <a:pPr algn="l">
              <a:lnSpc>
                <a:spcPct val="115000"/>
              </a:lnSpc>
              <a:spcAft>
                <a:spcPts val="700"/>
              </a:spcAft>
            </a:pPr>
            <a:r>
              <a:rPr sz="1100" b="1">
                <a:solidFill>
                  <a:srgbClr val="002060"/>
                </a:solidFill>
                <a:latin typeface="Calisto MT"/>
              </a:rPr>
              <a:t>• Motorized Camera Mount: </a:t>
            </a:r>
            <a:r>
              <a:rPr sz="1100" b="0">
                <a:solidFill>
                  <a:srgbClr val="334155"/>
                </a:solidFill>
                <a:latin typeface="Calisto MT"/>
              </a:rPr>
              <a:t>2-axis motorized camera gimbal that tilts and pans automatically to keep the operator's face and hands centered in view.</a:t>
            </a:r>
          </a:p>
          <a:p>
            <a:pPr algn="l">
              <a:lnSpc>
                <a:spcPct val="115000"/>
              </a:lnSpc>
              <a:spcAft>
                <a:spcPts val="700"/>
              </a:spcAft>
            </a:pPr>
            <a:r>
              <a:rPr sz="1100" b="1">
                <a:solidFill>
                  <a:srgbClr val="002060"/>
                </a:solidFill>
                <a:latin typeface="Calisto MT"/>
              </a:rPr>
              <a:t>• 4-Wheel Drive Chassis: </a:t>
            </a:r>
            <a:r>
              <a:rPr sz="1100" b="0">
                <a:solidFill>
                  <a:srgbClr val="334155"/>
                </a:solidFill>
                <a:latin typeface="Calisto MT"/>
              </a:rPr>
              <a:t>Sturdy aluminium robot base powered by 4 geared DC motors with wheel sensors for smooth and steady movement.</a:t>
            </a:r>
          </a:p>
          <a:p>
            <a:pPr algn="l">
              <a:lnSpc>
                <a:spcPct val="115000"/>
              </a:lnSpc>
              <a:spcAft>
                <a:spcPts val="0"/>
              </a:spcAft>
            </a:pPr>
            <a:r>
              <a:rPr sz="1100" b="1">
                <a:solidFill>
                  <a:srgbClr val="002060"/>
                </a:solidFill>
                <a:latin typeface="Calisto MT"/>
              </a:rPr>
              <a:t>• Dual-Rail Power System: </a:t>
            </a:r>
            <a:r>
              <a:rPr sz="1100" b="0">
                <a:solidFill>
                  <a:srgbClr val="334155"/>
                </a:solidFill>
                <a:latin typeface="Calisto MT"/>
              </a:rPr>
              <a:t>Separate battery power circuits for the computer and motors to prevent electrical interference and sudden power shutdowns.</a:t>
            </a:r>
          </a:p>
        </p:txBody>
      </p:sp>
      <p:pic>
        <p:nvPicPr>
          <p:cNvPr id="6" name="Hw_Photo_Wired" descr="image.jpg"/>
          <p:cNvPicPr>
            <a:picLocks noChangeAspect="1"/>
          </p:cNvPicPr>
          <p:nvPr/>
        </p:nvPicPr>
        <p:blipFill>
          <a:blip r:embed="rId5"/>
          <a:stretch>
            <a:fillRect/>
          </a:stretch>
        </p:blipFill>
        <p:spPr>
          <a:xfrm>
            <a:off x="6492240" y="1371600"/>
            <a:ext cx="2633472" cy="2286000"/>
          </a:xfrm>
          <a:prstGeom prst="rect">
            <a:avLst/>
          </a:prstGeom>
        </p:spPr>
      </p:pic>
      <p:sp>
        <p:nvSpPr>
          <p:cNvPr id="7" name="Hw_Cap_Wired"/>
          <p:cNvSpPr txBox="1"/>
          <p:nvPr/>
        </p:nvSpPr>
        <p:spPr>
          <a:xfrm>
            <a:off x="6492240" y="3749039"/>
            <a:ext cx="2633472" cy="411480"/>
          </a:xfrm>
          <a:prstGeom prst="rect">
            <a:avLst/>
          </a:prstGeom>
          <a:noFill/>
        </p:spPr>
        <p:txBody>
          <a:bodyPr wrap="square" lIns="0" rIns="0" tIns="0" bIns="0">
            <a:spAutoFit/>
          </a:bodyPr>
          <a:lstStyle/>
          <a:p>
            <a:pPr algn="ctr">
              <a:lnSpc>
                <a:spcPct val="114000"/>
              </a:lnSpc>
              <a:spcBef>
                <a:spcPts val="0"/>
              </a:spcBef>
              <a:spcAft>
                <a:spcPts val="200"/>
              </a:spcAft>
              <a:defRPr sz="900" b="0" i="1">
                <a:solidFill>
                  <a:srgbClr val="64748B"/>
                </a:solidFill>
                <a:latin typeface="Calisto MT"/>
              </a:defRPr>
            </a:pPr>
            <a:r>
              <a:t>Figure 3.2: Internal Electronics Stack</a:t>
            </a:r>
            <a:br/>
            <a:r>
              <a:t>(Raspberry Pi 5, ESP32-S3 &amp; Motor Drivers)</a:t>
            </a:r>
          </a:p>
        </p:txBody>
      </p:sp>
      <p:pic>
        <p:nvPicPr>
          <p:cNvPr id="8" name="Hw_Photo_Assembled" descr="image.jpg"/>
          <p:cNvPicPr>
            <a:picLocks noChangeAspect="1"/>
          </p:cNvPicPr>
          <p:nvPr/>
        </p:nvPicPr>
        <p:blipFill>
          <a:blip r:embed="rId6"/>
          <a:stretch>
            <a:fillRect/>
          </a:stretch>
        </p:blipFill>
        <p:spPr>
          <a:xfrm>
            <a:off x="9308592" y="1371600"/>
            <a:ext cx="2633472" cy="2286000"/>
          </a:xfrm>
          <a:prstGeom prst="rect">
            <a:avLst/>
          </a:prstGeom>
        </p:spPr>
      </p:pic>
      <p:sp>
        <p:nvSpPr>
          <p:cNvPr id="9" name="Hw_Cap_Assembled"/>
          <p:cNvSpPr txBox="1"/>
          <p:nvPr/>
        </p:nvSpPr>
        <p:spPr>
          <a:xfrm>
            <a:off x="9308592" y="3749039"/>
            <a:ext cx="2633472" cy="411480"/>
          </a:xfrm>
          <a:prstGeom prst="rect">
            <a:avLst/>
          </a:prstGeom>
          <a:noFill/>
        </p:spPr>
        <p:txBody>
          <a:bodyPr wrap="square" lIns="0" rIns="0" tIns="0" bIns="0">
            <a:spAutoFit/>
          </a:bodyPr>
          <a:lstStyle/>
          <a:p>
            <a:pPr algn="ctr">
              <a:lnSpc>
                <a:spcPct val="114000"/>
              </a:lnSpc>
              <a:spcBef>
                <a:spcPts val="0"/>
              </a:spcBef>
              <a:spcAft>
                <a:spcPts val="200"/>
              </a:spcAft>
              <a:defRPr sz="900" b="0" i="1">
                <a:solidFill>
                  <a:srgbClr val="64748B"/>
                </a:solidFill>
                <a:latin typeface="Calisto MT"/>
              </a:defRPr>
            </a:pPr>
            <a:r>
              <a:t>Figure 3.3: Fully Enclosed Platform</a:t>
            </a:r>
            <a:br/>
            <a:r>
              <a:t>(360° MS200 LiDAR &amp; Active Gimbal)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03504" y="320040"/>
            <a:ext cx="10972800" cy="548640"/>
          </a:xfrm>
        </p:spPr>
        <p:txBody>
          <a:bodyPr/>
          <a:lstStyle/>
          <a:p>
            <a:pPr algn="ctr">
              <a:lnSpc>
                <a:spcPct val="114000"/>
              </a:lnSpc>
              <a:spcBef>
                <a:spcPts val="0"/>
              </a:spcBef>
              <a:spcAft>
                <a:spcPts val="200"/>
              </a:spcAft>
              <a:defRPr sz="2400" b="1" i="0">
                <a:solidFill>
                  <a:srgbClr val="002060"/>
                </a:solidFill>
                <a:latin typeface="Calisto MT"/>
              </a:defRPr>
            </a:pPr>
            <a:r>
              <a:t>VISION PERCEPTION &amp; GESTURE AI PIPELINE</a:t>
            </a:r>
          </a:p>
        </p:txBody>
      </p:sp>
      <p:sp>
        <p:nvSpPr>
          <p:cNvPr id="3" name="Content Placeholder 2"/>
          <p:cNvSpPr>
            <a:spLocks noGrp="1"/>
          </p:cNvSpPr>
          <p:nvPr>
            <p:ph idx="1"/>
          </p:nvPr>
        </p:nvSpPr>
        <p:spPr/>
        <p:txBody>
          <a:bodyPr/>
          <a:lstStyle/>
          <a:p/>
        </p:txBody>
      </p:sp>
      <p:sp>
        <p:nvSpPr>
          <p:cNvPr id="4" name="Vision_Subhead"/>
          <p:cNvSpPr txBox="1"/>
          <p:nvPr/>
        </p:nvSpPr>
        <p:spPr>
          <a:xfrm>
            <a:off x="777240" y="960120"/>
            <a:ext cx="10634472" cy="228600"/>
          </a:xfrm>
          <a:prstGeom prst="rect">
            <a:avLst/>
          </a:prstGeom>
          <a:noFill/>
        </p:spPr>
        <p:txBody>
          <a:bodyPr wrap="square" lIns="0" rIns="0" tIns="0" bIns="0">
            <a:spAutoFit/>
          </a:bodyPr>
          <a:lstStyle/>
          <a:p>
            <a:pPr algn="l">
              <a:lnSpc>
                <a:spcPct val="114000"/>
              </a:lnSpc>
              <a:spcBef>
                <a:spcPts val="0"/>
              </a:spcBef>
              <a:spcAft>
                <a:spcPts val="200"/>
              </a:spcAft>
              <a:defRPr sz="1100" b="1" i="0">
                <a:solidFill>
                  <a:srgbClr val="B8860B"/>
                </a:solidFill>
                <a:latin typeface="Calisto MT"/>
              </a:defRPr>
            </a:pPr>
            <a:r>
              <a:t>HOW THE ROBOT SEES HAND GESTURES, IGNORES BYSTANDERS, AND DECIDES TO MOVE</a:t>
            </a:r>
          </a:p>
        </p:txBody>
      </p:sp>
      <p:sp>
        <p:nvSpPr>
          <p:cNvPr id="5" name="Vision_Points_Text"/>
          <p:cNvSpPr txBox="1"/>
          <p:nvPr/>
        </p:nvSpPr>
        <p:spPr>
          <a:xfrm>
            <a:off x="777240" y="1261872"/>
            <a:ext cx="5349240" cy="4297680"/>
          </a:xfrm>
          <a:prstGeom prst="rect">
            <a:avLst/>
          </a:prstGeom>
          <a:noFill/>
        </p:spPr>
        <p:txBody>
          <a:bodyPr wrap="square" lIns="18288" rIns="18288" tIns="18288" bIns="18288">
            <a:spAutoFit/>
          </a:bodyPr>
          <a:lstStyle/>
          <a:p>
            <a:pPr algn="l">
              <a:lnSpc>
                <a:spcPct val="115000"/>
              </a:lnSpc>
              <a:spcAft>
                <a:spcPts val="700"/>
              </a:spcAft>
            </a:pPr>
            <a:r>
              <a:rPr sz="1100" b="1">
                <a:solidFill>
                  <a:srgbClr val="002060"/>
                </a:solidFill>
                <a:latin typeface="Calisto MT"/>
              </a:rPr>
              <a:t>• Focusing on One Person: </a:t>
            </a:r>
            <a:r>
              <a:rPr sz="1100" b="0">
                <a:solidFill>
                  <a:srgbClr val="334155"/>
                </a:solidFill>
                <a:latin typeface="Calisto MT"/>
              </a:rPr>
              <a:t>The robot only listens to the person standing directly in front of it, while automatically blurring and ignoring anyone walking by in the background.</a:t>
            </a:r>
          </a:p>
          <a:p>
            <a:pPr algn="l">
              <a:lnSpc>
                <a:spcPct val="115000"/>
              </a:lnSpc>
              <a:spcAft>
                <a:spcPts val="700"/>
              </a:spcAft>
            </a:pPr>
            <a:r>
              <a:rPr sz="1100" b="1">
                <a:solidFill>
                  <a:srgbClr val="002060"/>
                </a:solidFill>
                <a:latin typeface="Calisto MT"/>
              </a:rPr>
              <a:t>• Tracking Hand Joints: </a:t>
            </a:r>
            <a:r>
              <a:rPr sz="1100" b="0">
                <a:solidFill>
                  <a:srgbClr val="334155"/>
                </a:solidFill>
                <a:latin typeface="Calisto MT"/>
              </a:rPr>
              <a:t>The camera tracks 21 points on the hand, including the wrist, knuckles, and fingertips, to capture the exact shape and motion of the fingers.</a:t>
            </a:r>
          </a:p>
          <a:p>
            <a:pPr algn="l">
              <a:lnSpc>
                <a:spcPct val="115000"/>
              </a:lnSpc>
              <a:spcAft>
                <a:spcPts val="700"/>
              </a:spcAft>
            </a:pPr>
            <a:r>
              <a:rPr sz="1100" b="1">
                <a:solidFill>
                  <a:srgbClr val="002060"/>
                </a:solidFill>
                <a:latin typeface="Calisto MT"/>
              </a:rPr>
              <a:t>• Works at Any Distance: </a:t>
            </a:r>
            <a:r>
              <a:rPr sz="1100" b="0">
                <a:solidFill>
                  <a:srgbClr val="334155"/>
                </a:solidFill>
                <a:latin typeface="Calisto MT"/>
              </a:rPr>
              <a:t>Hand measurements are automatically scaled using the palm width, so the robot recognizes gestures equally well whether you stand 1 meter or 3 meters away.</a:t>
            </a:r>
          </a:p>
          <a:p>
            <a:pPr algn="l">
              <a:lnSpc>
                <a:spcPct val="115000"/>
              </a:lnSpc>
              <a:spcAft>
                <a:spcPts val="700"/>
              </a:spcAft>
            </a:pPr>
            <a:r>
              <a:rPr sz="1100" b="1">
                <a:solidFill>
                  <a:srgbClr val="002060"/>
                </a:solidFill>
                <a:latin typeface="Calisto MT"/>
              </a:rPr>
              <a:t>• Measuring Hand Shape: </a:t>
            </a:r>
            <a:r>
              <a:rPr sz="1100" b="0">
                <a:solidFill>
                  <a:srgbClr val="334155"/>
                </a:solidFill>
                <a:latin typeface="Calisto MT"/>
              </a:rPr>
              <a:t>The robot calculates 19 simple numbers from the hand joints, measuring how much each finger curls and how wide fingers are spread apart.</a:t>
            </a:r>
          </a:p>
          <a:p>
            <a:pPr algn="l">
              <a:lnSpc>
                <a:spcPct val="115000"/>
              </a:lnSpc>
              <a:spcAft>
                <a:spcPts val="700"/>
              </a:spcAft>
            </a:pPr>
            <a:r>
              <a:rPr sz="1100" b="1">
                <a:solidFill>
                  <a:srgbClr val="002060"/>
                </a:solidFill>
                <a:latin typeface="Calisto MT"/>
              </a:rPr>
              <a:t>• Rapid AI Inference: </a:t>
            </a:r>
            <a:r>
              <a:rPr sz="1100" b="0">
                <a:solidFill>
                  <a:srgbClr val="334155"/>
                </a:solidFill>
                <a:latin typeface="Calisto MT"/>
              </a:rPr>
              <a:t>A compact neural network evaluates the 19 geometric hand features in just 1.8 milliseconds on the CPU, achieving 99.4% test accuracy.</a:t>
            </a:r>
          </a:p>
          <a:p>
            <a:pPr algn="l">
              <a:lnSpc>
                <a:spcPct val="115000"/>
              </a:lnSpc>
              <a:spcAft>
                <a:spcPts val="0"/>
              </a:spcAft>
            </a:pPr>
            <a:r>
              <a:rPr sz="1100" b="1">
                <a:solidFill>
                  <a:srgbClr val="002060"/>
                </a:solidFill>
                <a:latin typeface="Calisto MT"/>
              </a:rPr>
              <a:t>• 6 Driving Commands: </a:t>
            </a:r>
            <a:r>
              <a:rPr sz="1100" b="0">
                <a:solidFill>
                  <a:srgbClr val="334155"/>
                </a:solidFill>
                <a:latin typeface="Calisto MT"/>
              </a:rPr>
              <a:t>Matches each hand pose directly to clear robot movements: STOP (open palm), GO (pointing forward), LEFT, RIGHT, BACK, and FOLLOW.</a:t>
            </a:r>
          </a:p>
        </p:txBody>
      </p:sp>
      <p:pic>
        <p:nvPicPr>
          <p:cNvPr id="6" name="Vision_HUD_Img" descr="image.jpg"/>
          <p:cNvPicPr>
            <a:picLocks noChangeAspect="1"/>
          </p:cNvPicPr>
          <p:nvPr/>
        </p:nvPicPr>
        <p:blipFill>
          <a:blip r:embed="rId2"/>
          <a:stretch>
            <a:fillRect/>
          </a:stretch>
        </p:blipFill>
        <p:spPr>
          <a:xfrm>
            <a:off x="6355080" y="1261872"/>
            <a:ext cx="3017520" cy="2267712"/>
          </a:xfrm>
          <a:prstGeom prst="rect">
            <a:avLst/>
          </a:prstGeom>
        </p:spPr>
      </p:pic>
      <p:sp>
        <p:nvSpPr>
          <p:cNvPr id="7" name="Vision_HUD_Cap"/>
          <p:cNvSpPr txBox="1"/>
          <p:nvPr/>
        </p:nvSpPr>
        <p:spPr>
          <a:xfrm>
            <a:off x="6355080" y="3566160"/>
            <a:ext cx="3017520" cy="320040"/>
          </a:xfrm>
          <a:prstGeom prst="rect">
            <a:avLst/>
          </a:prstGeom>
          <a:noFill/>
        </p:spPr>
        <p:txBody>
          <a:bodyPr wrap="square" lIns="0" rIns="0" tIns="0" bIns="0">
            <a:spAutoFit/>
          </a:bodyPr>
          <a:lstStyle/>
          <a:p>
            <a:pPr algn="ctr">
              <a:lnSpc>
                <a:spcPct val="114000"/>
              </a:lnSpc>
              <a:spcBef>
                <a:spcPts val="0"/>
              </a:spcBef>
              <a:spcAft>
                <a:spcPts val="200"/>
              </a:spcAft>
              <a:defRPr sz="850" b="0" i="1">
                <a:solidFill>
                  <a:srgbClr val="64748B"/>
                </a:solidFill>
                <a:latin typeface="Calisto MT"/>
              </a:defRPr>
            </a:pPr>
            <a:r>
              <a:t>Figure 3.4: Camera View Locking on User &amp; Blurring Bystanders</a:t>
            </a:r>
          </a:p>
        </p:txBody>
      </p:sp>
      <p:pic>
        <p:nvPicPr>
          <p:cNvPr id="8" name="Vision_Hand_Img" descr="image.jpg"/>
          <p:cNvPicPr>
            <a:picLocks noChangeAspect="1"/>
          </p:cNvPicPr>
          <p:nvPr/>
        </p:nvPicPr>
        <p:blipFill>
          <a:blip r:embed="rId3"/>
          <a:stretch>
            <a:fillRect/>
          </a:stretch>
        </p:blipFill>
        <p:spPr>
          <a:xfrm>
            <a:off x="9555480" y="1261872"/>
            <a:ext cx="1965960" cy="3749039"/>
          </a:xfrm>
          <a:prstGeom prst="rect">
            <a:avLst/>
          </a:prstGeom>
        </p:spPr>
      </p:pic>
      <p:sp>
        <p:nvSpPr>
          <p:cNvPr id="9" name="Vision_Hand_Cap"/>
          <p:cNvSpPr txBox="1"/>
          <p:nvPr/>
        </p:nvSpPr>
        <p:spPr>
          <a:xfrm>
            <a:off x="9555480" y="5047488"/>
            <a:ext cx="1965960" cy="365760"/>
          </a:xfrm>
          <a:prstGeom prst="rect">
            <a:avLst/>
          </a:prstGeom>
          <a:noFill/>
        </p:spPr>
        <p:txBody>
          <a:bodyPr wrap="square" lIns="0" rIns="0" tIns="0" bIns="0">
            <a:spAutoFit/>
          </a:bodyPr>
          <a:lstStyle/>
          <a:p>
            <a:pPr algn="ctr">
              <a:lnSpc>
                <a:spcPct val="114000"/>
              </a:lnSpc>
              <a:spcBef>
                <a:spcPts val="0"/>
              </a:spcBef>
              <a:spcAft>
                <a:spcPts val="200"/>
              </a:spcAft>
              <a:defRPr sz="850" b="0" i="1">
                <a:solidFill>
                  <a:srgbClr val="64748B"/>
                </a:solidFill>
                <a:latin typeface="Calisto MT"/>
              </a:defRPr>
            </a:pPr>
            <a:r>
              <a:t>Figure 3.5: 21 Tracked Hand Points</a:t>
            </a:r>
          </a:p>
        </p:txBody>
      </p:sp>
      <p:sp>
        <p:nvSpPr>
          <p:cNvPr id="10" name="Vision_Vocab_Text"/>
          <p:cNvSpPr txBox="1"/>
          <p:nvPr/>
        </p:nvSpPr>
        <p:spPr>
          <a:xfrm>
            <a:off x="6355080" y="3977639"/>
            <a:ext cx="3108960" cy="1508760"/>
          </a:xfrm>
          <a:prstGeom prst="rect">
            <a:avLst/>
          </a:prstGeom>
          <a:noFill/>
        </p:spPr>
        <p:txBody>
          <a:bodyPr wrap="square" lIns="0" rIns="0" tIns="0" bIns="0">
            <a:spAutoFit/>
          </a:bodyPr>
          <a:lstStyle/>
          <a:p>
            <a:pPr algn="l">
              <a:lnSpc>
                <a:spcPct val="114000"/>
              </a:lnSpc>
              <a:spcBef>
                <a:spcPts val="0"/>
              </a:spcBef>
              <a:spcAft>
                <a:spcPts val="300"/>
              </a:spcAft>
              <a:defRPr sz="950" b="1" i="0">
                <a:solidFill>
                  <a:srgbClr val="B8860B"/>
                </a:solidFill>
                <a:latin typeface="Calisto MT"/>
              </a:defRPr>
            </a:pPr>
            <a:r>
              <a:t>GESTURE VOCABULARY &amp; AI SPEED:</a:t>
            </a:r>
          </a:p>
          <a:p>
            <a:pPr algn="l">
              <a:lnSpc>
                <a:spcPct val="112000"/>
              </a:lnSpc>
              <a:spcAft>
                <a:spcPts val="200"/>
              </a:spcAft>
            </a:pPr>
            <a:r>
              <a:rPr sz="900" b="1">
                <a:solidFill>
                  <a:srgbClr val="002060"/>
                </a:solidFill>
                <a:latin typeface="Calisto MT"/>
              </a:rPr>
              <a:t>• 6 Commands: </a:t>
            </a:r>
            <a:r>
              <a:rPr sz="900" b="0">
                <a:solidFill>
                  <a:srgbClr val="334155"/>
                </a:solidFill>
                <a:latin typeface="Calisto MT"/>
              </a:rPr>
              <a:t>STOP, GO, LEFT, RIGHT, BACK, FOLLOW</a:t>
            </a:r>
          </a:p>
          <a:p>
            <a:pPr algn="l">
              <a:lnSpc>
                <a:spcPct val="112000"/>
              </a:lnSpc>
              <a:spcAft>
                <a:spcPts val="200"/>
              </a:spcAft>
            </a:pPr>
            <a:r>
              <a:rPr sz="900" b="1">
                <a:solidFill>
                  <a:srgbClr val="002060"/>
                </a:solidFill>
                <a:latin typeface="Calisto MT"/>
              </a:rPr>
              <a:t>• Edge AI Speed: </a:t>
            </a:r>
            <a:r>
              <a:rPr sz="900" b="0">
                <a:solidFill>
                  <a:srgbClr val="334155"/>
                </a:solidFill>
                <a:latin typeface="Calisto MT"/>
              </a:rPr>
              <a:t>Evaluates gestures in 1.8 milliseconds on the CPU</a:t>
            </a:r>
          </a:p>
          <a:p>
            <a:pPr algn="l">
              <a:lnSpc>
                <a:spcPct val="112000"/>
              </a:lnSpc>
              <a:spcAft>
                <a:spcPts val="0"/>
              </a:spcAft>
            </a:pPr>
            <a:r>
              <a:rPr sz="900" b="1">
                <a:solidFill>
                  <a:srgbClr val="002060"/>
                </a:solidFill>
                <a:latin typeface="Calisto MT"/>
              </a:rPr>
              <a:t>• High Accuracy: </a:t>
            </a:r>
            <a:r>
              <a:rPr sz="900" b="0">
                <a:solidFill>
                  <a:srgbClr val="334155"/>
                </a:solidFill>
                <a:latin typeface="Calisto MT"/>
              </a:rPr>
              <a:t>99.4% correct across 6,000 test trials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03504" y="320040"/>
            <a:ext cx="10972800" cy="548640"/>
          </a:xfrm>
        </p:spPr>
        <p:txBody>
          <a:bodyPr/>
          <a:lstStyle/>
          <a:p>
            <a:pPr algn="ctr">
              <a:lnSpc>
                <a:spcPct val="114000"/>
              </a:lnSpc>
              <a:spcBef>
                <a:spcPts val="0"/>
              </a:spcBef>
              <a:spcAft>
                <a:spcPts val="200"/>
              </a:spcAft>
              <a:defRPr sz="2400" b="1" i="0">
                <a:solidFill>
                  <a:srgbClr val="002060"/>
                </a:solidFill>
                <a:latin typeface="Calisto MT"/>
              </a:defRPr>
            </a:pPr>
            <a:r>
              <a:t>HUMAN MOTION PREDICTION &amp; SUPERVISORY CONTROL</a:t>
            </a:r>
          </a:p>
        </p:txBody>
      </p:sp>
      <p:sp>
        <p:nvSpPr>
          <p:cNvPr id="3" name="Content Placeholder 2"/>
          <p:cNvSpPr>
            <a:spLocks noGrp="1"/>
          </p:cNvSpPr>
          <p:nvPr>
            <p:ph idx="1"/>
          </p:nvPr>
        </p:nvSpPr>
        <p:spPr/>
        <p:txBody>
          <a:bodyPr/>
          <a:lstStyle/>
          <a:p/>
        </p:txBody>
      </p:sp>
      <p:sp>
        <p:nvSpPr>
          <p:cNvPr id="4" name="Control_Subhead"/>
          <p:cNvSpPr txBox="1"/>
          <p:nvPr/>
        </p:nvSpPr>
        <p:spPr>
          <a:xfrm>
            <a:off x="777240" y="960120"/>
            <a:ext cx="10634472" cy="228600"/>
          </a:xfrm>
          <a:prstGeom prst="rect">
            <a:avLst/>
          </a:prstGeom>
          <a:noFill/>
        </p:spPr>
        <p:txBody>
          <a:bodyPr wrap="square" lIns="0" rIns="0" tIns="0" bIns="0">
            <a:spAutoFit/>
          </a:bodyPr>
          <a:lstStyle/>
          <a:p>
            <a:pPr algn="l">
              <a:lnSpc>
                <a:spcPct val="114000"/>
              </a:lnSpc>
              <a:spcBef>
                <a:spcPts val="0"/>
              </a:spcBef>
              <a:spcAft>
                <a:spcPts val="200"/>
              </a:spcAft>
              <a:defRPr sz="1100" b="1" i="0">
                <a:solidFill>
                  <a:srgbClr val="B8860B"/>
                </a:solidFill>
                <a:latin typeface="Calisto MT"/>
              </a:defRPr>
            </a:pPr>
            <a:r>
              <a:t>HOW THE ROBOT ANTICIPATES USER PATHS, TRACKS WITH ITS CAMERA, AND STAYS SAFE</a:t>
            </a:r>
          </a:p>
        </p:txBody>
      </p:sp>
      <p:sp>
        <p:nvSpPr>
          <p:cNvPr id="5" name="Control_Points_Text"/>
          <p:cNvSpPr txBox="1"/>
          <p:nvPr/>
        </p:nvSpPr>
        <p:spPr>
          <a:xfrm>
            <a:off x="777240" y="1261872"/>
            <a:ext cx="5349240" cy="4297680"/>
          </a:xfrm>
          <a:prstGeom prst="rect">
            <a:avLst/>
          </a:prstGeom>
          <a:noFill/>
        </p:spPr>
        <p:txBody>
          <a:bodyPr wrap="square" lIns="18288" rIns="18288" tIns="18288" bIns="18288">
            <a:spAutoFit/>
          </a:bodyPr>
          <a:lstStyle/>
          <a:p>
            <a:pPr algn="l">
              <a:lnSpc>
                <a:spcPct val="115000"/>
              </a:lnSpc>
              <a:spcAft>
                <a:spcPts val="700"/>
              </a:spcAft>
            </a:pPr>
            <a:r>
              <a:rPr sz="1100" b="1">
                <a:solidFill>
                  <a:srgbClr val="002060"/>
                </a:solidFill>
                <a:latin typeface="Calisto MT"/>
              </a:rPr>
              <a:t>• Anticipating User Steps: </a:t>
            </a:r>
            <a:r>
              <a:rPr sz="1100" b="0">
                <a:solidFill>
                  <a:srgbClr val="334155"/>
                </a:solidFill>
                <a:latin typeface="Calisto MT"/>
              </a:rPr>
              <a:t>The robot tracks the person's walking path over the past 1 second (30 camera frames) and uses an AI model to predict where they will step 0.5 seconds ahead, preventing jerky turns or delayed following.</a:t>
            </a:r>
          </a:p>
          <a:p>
            <a:pPr algn="l">
              <a:lnSpc>
                <a:spcPct val="115000"/>
              </a:lnSpc>
              <a:spcAft>
                <a:spcPts val="700"/>
              </a:spcAft>
            </a:pPr>
            <a:r>
              <a:rPr sz="1100" b="1">
                <a:solidFill>
                  <a:srgbClr val="002060"/>
                </a:solidFill>
                <a:latin typeface="Calisto MT"/>
              </a:rPr>
              <a:t>• Motorized Camera Tracking: </a:t>
            </a:r>
            <a:r>
              <a:rPr sz="1100" b="0">
                <a:solidFill>
                  <a:srgbClr val="334155"/>
                </a:solidFill>
                <a:latin typeface="Calisto MT"/>
              </a:rPr>
              <a:t>A 2-axis motorized camera head pans left/right and tilts up/down automatically, keeping the interacting person centered in view even while the robot chassis is turning or braking.</a:t>
            </a:r>
          </a:p>
          <a:p>
            <a:pPr algn="l">
              <a:lnSpc>
                <a:spcPct val="115000"/>
              </a:lnSpc>
              <a:spcAft>
                <a:spcPts val="700"/>
              </a:spcAft>
            </a:pPr>
            <a:r>
              <a:rPr sz="1100" b="1">
                <a:solidFill>
                  <a:srgbClr val="002060"/>
                </a:solidFill>
                <a:latin typeface="Calisto MT"/>
              </a:rPr>
              <a:t>• Central Software Brain: </a:t>
            </a:r>
            <a:r>
              <a:rPr sz="1100" b="0">
                <a:solidFill>
                  <a:srgbClr val="334155"/>
                </a:solidFill>
                <a:latin typeface="Calisto MT"/>
              </a:rPr>
              <a:t>A master controller (brain_node) coordinates all actions through distinct operational stages: Standing By, Confirming Command, Driving, Following User, and Safety Stop.</a:t>
            </a:r>
          </a:p>
          <a:p>
            <a:pPr algn="l">
              <a:lnSpc>
                <a:spcPct val="115000"/>
              </a:lnSpc>
              <a:spcAft>
                <a:spcPts val="700"/>
              </a:spcAft>
            </a:pPr>
            <a:r>
              <a:rPr sz="1100" b="1">
                <a:solidFill>
                  <a:srgbClr val="002060"/>
                </a:solidFill>
                <a:latin typeface="Calisto MT"/>
              </a:rPr>
              <a:t>• Preventing Accidental Starts: </a:t>
            </a:r>
            <a:r>
              <a:rPr sz="1100" b="0">
                <a:solidFill>
                  <a:srgbClr val="334155"/>
                </a:solidFill>
                <a:latin typeface="Calisto MT"/>
              </a:rPr>
              <a:t>To stop accidental hand waves or brief gestures from moving the robot, every command must be held consistently for at least 5 camera frames before motors turn.</a:t>
            </a:r>
          </a:p>
          <a:p>
            <a:pPr algn="l">
              <a:lnSpc>
                <a:spcPct val="115000"/>
              </a:lnSpc>
              <a:spcAft>
                <a:spcPts val="700"/>
              </a:spcAft>
            </a:pPr>
            <a:r>
              <a:rPr sz="1100" b="1">
                <a:solidFill>
                  <a:srgbClr val="002060"/>
                </a:solidFill>
                <a:latin typeface="Calisto MT"/>
              </a:rPr>
              <a:t>• Safe Distance Buffer: </a:t>
            </a:r>
            <a:r>
              <a:rPr sz="1100" b="0">
                <a:solidFill>
                  <a:srgbClr val="334155"/>
                </a:solidFill>
                <a:latin typeface="Calisto MT"/>
              </a:rPr>
              <a:t>When following a walking user, the robot automatically stays between 0.8 and 1.5 meters away; if the person stops or steps closer than 0.8 meters, it halts immediately.</a:t>
            </a:r>
          </a:p>
          <a:p>
            <a:pPr algn="l">
              <a:lnSpc>
                <a:spcPct val="115000"/>
              </a:lnSpc>
              <a:spcAft>
                <a:spcPts val="0"/>
              </a:spcAft>
            </a:pPr>
            <a:r>
              <a:rPr sz="1100" b="1">
                <a:solidFill>
                  <a:srgbClr val="002060"/>
                </a:solidFill>
                <a:latin typeface="Calisto MT"/>
              </a:rPr>
              <a:t>• Reactive Laser Safety Override: </a:t>
            </a:r>
            <a:r>
              <a:rPr sz="1100" b="0">
                <a:solidFill>
                  <a:srgbClr val="334155"/>
                </a:solidFill>
                <a:latin typeface="Calisto MT"/>
              </a:rPr>
              <a:t>The 360° laser sensor constantly scans the surroundings; if an obstacle enters within 0.36 meters, motor power is preempted in 5 milliseconds, overriding all AI.</a:t>
            </a:r>
          </a:p>
        </p:txBody>
      </p:sp>
      <p:pic>
        <p:nvPicPr>
          <p:cNvPr id="6" name="Control_LSTM_Img" descr="image.png"/>
          <p:cNvPicPr>
            <a:picLocks noChangeAspect="1"/>
          </p:cNvPicPr>
          <p:nvPr/>
        </p:nvPicPr>
        <p:blipFill>
          <a:blip r:embed="rId2"/>
          <a:stretch>
            <a:fillRect/>
          </a:stretch>
        </p:blipFill>
        <p:spPr>
          <a:xfrm>
            <a:off x="6355080" y="1261872"/>
            <a:ext cx="5029200" cy="1874519"/>
          </a:xfrm>
          <a:prstGeom prst="rect">
            <a:avLst/>
          </a:prstGeom>
        </p:spPr>
      </p:pic>
      <p:sp>
        <p:nvSpPr>
          <p:cNvPr id="7" name="Control_LSTM_Cap"/>
          <p:cNvSpPr txBox="1"/>
          <p:nvPr/>
        </p:nvSpPr>
        <p:spPr>
          <a:xfrm>
            <a:off x="6355080" y="3163824"/>
            <a:ext cx="5029200" cy="256032"/>
          </a:xfrm>
          <a:prstGeom prst="rect">
            <a:avLst/>
          </a:prstGeom>
          <a:noFill/>
        </p:spPr>
        <p:txBody>
          <a:bodyPr wrap="square" lIns="0" rIns="0" tIns="0" bIns="0">
            <a:spAutoFit/>
          </a:bodyPr>
          <a:lstStyle/>
          <a:p>
            <a:pPr algn="ctr">
              <a:lnSpc>
                <a:spcPct val="114000"/>
              </a:lnSpc>
              <a:spcBef>
                <a:spcPts val="0"/>
              </a:spcBef>
              <a:spcAft>
                <a:spcPts val="200"/>
              </a:spcAft>
              <a:defRPr sz="850" b="0" i="1">
                <a:solidFill>
                  <a:srgbClr val="64748B"/>
                </a:solidFill>
                <a:latin typeface="Calisto MT"/>
              </a:defRPr>
            </a:pPr>
            <a:r>
              <a:t>Figure 3.6: AI Human Motion Prediction (Blue = Past 1.0s Walk, Green = Actual Steps, Red = AI Forecast)</a:t>
            </a:r>
          </a:p>
        </p:txBody>
      </p:sp>
      <p:pic>
        <p:nvPicPr>
          <p:cNvPr id="8" name="Control_Gimbal_Img" descr="image.jpg"/>
          <p:cNvPicPr>
            <a:picLocks noChangeAspect="1"/>
          </p:cNvPicPr>
          <p:nvPr/>
        </p:nvPicPr>
        <p:blipFill>
          <a:blip r:embed="rId3"/>
          <a:stretch>
            <a:fillRect/>
          </a:stretch>
        </p:blipFill>
        <p:spPr>
          <a:xfrm>
            <a:off x="6355080" y="3493008"/>
            <a:ext cx="2103120" cy="1600200"/>
          </a:xfrm>
          <a:prstGeom prst="rect">
            <a:avLst/>
          </a:prstGeom>
        </p:spPr>
      </p:pic>
      <p:sp>
        <p:nvSpPr>
          <p:cNvPr id="9" name="Control_Gimbal_Cap"/>
          <p:cNvSpPr txBox="1"/>
          <p:nvPr/>
        </p:nvSpPr>
        <p:spPr>
          <a:xfrm>
            <a:off x="6355080" y="5120640"/>
            <a:ext cx="2103120" cy="320040"/>
          </a:xfrm>
          <a:prstGeom prst="rect">
            <a:avLst/>
          </a:prstGeom>
          <a:noFill/>
        </p:spPr>
        <p:txBody>
          <a:bodyPr wrap="square" lIns="0" rIns="0" tIns="0" bIns="0">
            <a:spAutoFit/>
          </a:bodyPr>
          <a:lstStyle/>
          <a:p>
            <a:pPr algn="ctr">
              <a:lnSpc>
                <a:spcPct val="114000"/>
              </a:lnSpc>
              <a:spcBef>
                <a:spcPts val="0"/>
              </a:spcBef>
              <a:spcAft>
                <a:spcPts val="200"/>
              </a:spcAft>
              <a:defRPr sz="850" b="0" i="1">
                <a:solidFill>
                  <a:srgbClr val="64748B"/>
                </a:solidFill>
                <a:latin typeface="Calisto MT"/>
              </a:defRPr>
            </a:pPr>
            <a:r>
              <a:t>Figure 3.7: 2-Axis Motorized Camera Head</a:t>
            </a:r>
          </a:p>
        </p:txBody>
      </p:sp>
      <p:sp>
        <p:nvSpPr>
          <p:cNvPr id="10" name="Control_Safety_Text"/>
          <p:cNvSpPr txBox="1"/>
          <p:nvPr/>
        </p:nvSpPr>
        <p:spPr>
          <a:xfrm>
            <a:off x="8641080" y="3493008"/>
            <a:ext cx="2743200" cy="1965960"/>
          </a:xfrm>
          <a:prstGeom prst="rect">
            <a:avLst/>
          </a:prstGeom>
          <a:noFill/>
        </p:spPr>
        <p:txBody>
          <a:bodyPr wrap="square" lIns="0" rIns="0" tIns="0" bIns="0">
            <a:spAutoFit/>
          </a:bodyPr>
          <a:lstStyle/>
          <a:p>
            <a:pPr algn="l">
              <a:lnSpc>
                <a:spcPct val="114000"/>
              </a:lnSpc>
              <a:spcBef>
                <a:spcPts val="0"/>
              </a:spcBef>
              <a:spcAft>
                <a:spcPts val="300"/>
              </a:spcAft>
              <a:defRPr sz="950" b="1" i="0">
                <a:solidFill>
                  <a:srgbClr val="B8860B"/>
                </a:solidFill>
                <a:latin typeface="Calisto MT"/>
              </a:defRPr>
            </a:pPr>
            <a:r>
              <a:t>SUPERVISORY SAFETY INTERLOCKS:</a:t>
            </a:r>
          </a:p>
          <a:p>
            <a:pPr algn="l">
              <a:lnSpc>
                <a:spcPct val="112000"/>
              </a:lnSpc>
              <a:spcAft>
                <a:spcPts val="250"/>
              </a:spcAft>
            </a:pPr>
            <a:r>
              <a:rPr sz="880" b="1">
                <a:solidFill>
                  <a:srgbClr val="002060"/>
                </a:solidFill>
                <a:latin typeface="Calisto MT"/>
              </a:rPr>
              <a:t>• 4 Safe Modes: </a:t>
            </a:r>
            <a:r>
              <a:rPr sz="880" b="0">
                <a:solidFill>
                  <a:srgbClr val="334155"/>
                </a:solidFill>
                <a:latin typeface="Calisto MT"/>
              </a:rPr>
              <a:t>Standby → Confirming → Driving → Safety Halt</a:t>
            </a:r>
          </a:p>
          <a:p>
            <a:pPr algn="l">
              <a:lnSpc>
                <a:spcPct val="112000"/>
              </a:lnSpc>
              <a:spcAft>
                <a:spcPts val="250"/>
              </a:spcAft>
            </a:pPr>
            <a:r>
              <a:rPr sz="880" b="1">
                <a:solidFill>
                  <a:srgbClr val="002060"/>
                </a:solidFill>
                <a:latin typeface="Calisto MT"/>
              </a:rPr>
              <a:t>• 5-Frame Filter: </a:t>
            </a:r>
            <a:r>
              <a:rPr sz="880" b="0">
                <a:solidFill>
                  <a:srgbClr val="334155"/>
                </a:solidFill>
                <a:latin typeface="Calisto MT"/>
              </a:rPr>
              <a:t>Requires 5 matching frames to stop accidental wave triggers</a:t>
            </a:r>
          </a:p>
          <a:p>
            <a:pPr algn="l">
              <a:lnSpc>
                <a:spcPct val="112000"/>
              </a:lnSpc>
              <a:spcAft>
                <a:spcPts val="250"/>
              </a:spcAft>
            </a:pPr>
            <a:r>
              <a:rPr sz="880" b="1">
                <a:solidFill>
                  <a:srgbClr val="002060"/>
                </a:solidFill>
                <a:latin typeface="Calisto MT"/>
              </a:rPr>
              <a:t>• Safe Gap (0.8m): </a:t>
            </a:r>
            <a:r>
              <a:rPr sz="880" b="0">
                <a:solidFill>
                  <a:srgbClr val="334155"/>
                </a:solidFill>
                <a:latin typeface="Calisto MT"/>
              </a:rPr>
              <a:t>Stops immediately if user approaches closer than 0.8 meters</a:t>
            </a:r>
          </a:p>
          <a:p>
            <a:pPr algn="l">
              <a:lnSpc>
                <a:spcPct val="112000"/>
              </a:lnSpc>
              <a:spcAft>
                <a:spcPts val="0"/>
              </a:spcAft>
            </a:pPr>
            <a:r>
              <a:rPr sz="880" b="1">
                <a:solidFill>
                  <a:srgbClr val="002060"/>
                </a:solidFill>
                <a:latin typeface="Calisto MT"/>
              </a:rPr>
              <a:t>• Emergency Safety Stop: </a:t>
            </a:r>
            <a:r>
              <a:rPr sz="880" b="0">
                <a:solidFill>
                  <a:srgbClr val="334155"/>
                </a:solidFill>
                <a:latin typeface="Calisto MT"/>
              </a:rPr>
              <a:t>Laser barrier (&lt; 0.36m) halts motors within 5 milliseconds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03504" y="320040"/>
            <a:ext cx="10972800" cy="548640"/>
          </a:xfrm>
        </p:spPr>
        <p:txBody>
          <a:bodyPr/>
          <a:lstStyle/>
          <a:p>
            <a:pPr algn="ctr">
              <a:lnSpc>
                <a:spcPct val="114000"/>
              </a:lnSpc>
              <a:spcBef>
                <a:spcPts val="0"/>
              </a:spcBef>
              <a:spcAft>
                <a:spcPts val="200"/>
              </a:spcAft>
              <a:defRPr sz="2400" b="1" i="0">
                <a:solidFill>
                  <a:srgbClr val="002060"/>
                </a:solidFill>
                <a:latin typeface="Calisto MT"/>
              </a:defRPr>
            </a:pPr>
            <a:r>
              <a:t>METRIC SLAM &amp; NAV2 AUTONOMOUS NAVIGATION</a:t>
            </a:r>
          </a:p>
        </p:txBody>
      </p:sp>
      <p:sp>
        <p:nvSpPr>
          <p:cNvPr id="3" name="Content Placeholder 2"/>
          <p:cNvSpPr>
            <a:spLocks noGrp="1"/>
          </p:cNvSpPr>
          <p:nvPr>
            <p:ph idx="1"/>
          </p:nvPr>
        </p:nvSpPr>
        <p:spPr/>
        <p:txBody>
          <a:bodyPr/>
          <a:lstStyle/>
          <a:p/>
        </p:txBody>
      </p:sp>
      <p:sp>
        <p:nvSpPr>
          <p:cNvPr id="4" name="Nav_Subhead"/>
          <p:cNvSpPr txBox="1"/>
          <p:nvPr/>
        </p:nvSpPr>
        <p:spPr>
          <a:xfrm>
            <a:off x="777240" y="960120"/>
            <a:ext cx="10634472" cy="228600"/>
          </a:xfrm>
          <a:prstGeom prst="rect">
            <a:avLst/>
          </a:prstGeom>
          <a:noFill/>
        </p:spPr>
        <p:txBody>
          <a:bodyPr wrap="square" lIns="0" rIns="0" tIns="0" bIns="0">
            <a:spAutoFit/>
          </a:bodyPr>
          <a:lstStyle/>
          <a:p>
            <a:pPr algn="l">
              <a:lnSpc>
                <a:spcPct val="114000"/>
              </a:lnSpc>
              <a:spcBef>
                <a:spcPts val="0"/>
              </a:spcBef>
              <a:spcAft>
                <a:spcPts val="200"/>
              </a:spcAft>
              <a:defRPr sz="1100" b="1" i="0">
                <a:solidFill>
                  <a:srgbClr val="B8860B"/>
                </a:solidFill>
                <a:latin typeface="Calisto MT"/>
              </a:defRPr>
            </a:pPr>
            <a:r>
              <a:t>HOW THE ROBOT MAPS INDOOR ROOMS, FIXES SENSOR DRIFT, AND PATROLS AUTONOMOUSLY</a:t>
            </a:r>
          </a:p>
        </p:txBody>
      </p:sp>
      <p:sp>
        <p:nvSpPr>
          <p:cNvPr id="5" name="Nav_Points_Text"/>
          <p:cNvSpPr txBox="1"/>
          <p:nvPr/>
        </p:nvSpPr>
        <p:spPr>
          <a:xfrm>
            <a:off x="777240" y="1261872"/>
            <a:ext cx="5349240" cy="4297680"/>
          </a:xfrm>
          <a:prstGeom prst="rect">
            <a:avLst/>
          </a:prstGeom>
          <a:noFill/>
        </p:spPr>
        <p:txBody>
          <a:bodyPr wrap="square" lIns="18288" rIns="18288" tIns="18288" bIns="18288">
            <a:spAutoFit/>
          </a:bodyPr>
          <a:lstStyle/>
          <a:p>
            <a:pPr algn="l">
              <a:lnSpc>
                <a:spcPct val="115000"/>
              </a:lnSpc>
              <a:spcAft>
                <a:spcPts val="700"/>
              </a:spcAft>
            </a:pPr>
            <a:r>
              <a:rPr sz="1100" b="1">
                <a:solidFill>
                  <a:srgbClr val="002060"/>
                </a:solidFill>
                <a:latin typeface="Calisto MT"/>
              </a:rPr>
              <a:t>• Laser Room Mapping: </a:t>
            </a:r>
            <a:r>
              <a:rPr sz="1100" b="0">
                <a:solidFill>
                  <a:srgbClr val="334155"/>
                </a:solidFill>
                <a:latin typeface="Calisto MT"/>
              </a:rPr>
              <a:t>As the robot is steered through the room, its 360° laser distance sensor fires 12.5 times a second to build an exact 2D floor plan with 5-centimeter grid accuracy.</a:t>
            </a:r>
          </a:p>
          <a:p>
            <a:pPr algn="l">
              <a:lnSpc>
                <a:spcPct val="115000"/>
              </a:lnSpc>
              <a:spcAft>
                <a:spcPts val="700"/>
              </a:spcAft>
            </a:pPr>
            <a:r>
              <a:rPr sz="1100" b="1">
                <a:solidFill>
                  <a:srgbClr val="002060"/>
                </a:solidFill>
                <a:latin typeface="Calisto MT"/>
              </a:rPr>
              <a:t>• Resolving Signal Conflicts: </a:t>
            </a:r>
            <a:r>
              <a:rPr sz="1100" b="0">
                <a:solidFill>
                  <a:srgbClr val="334155"/>
                </a:solidFill>
                <a:latin typeface="Calisto MT"/>
              </a:rPr>
              <a:t>Early mapping tests dropped laser scans because two internal programs reported starting locations at once. Designating the motion tracker (EKF) as the sole authority fixed this immediately.</a:t>
            </a:r>
          </a:p>
          <a:p>
            <a:pPr algn="l">
              <a:lnSpc>
                <a:spcPct val="115000"/>
              </a:lnSpc>
              <a:spcAft>
                <a:spcPts val="700"/>
              </a:spcAft>
            </a:pPr>
            <a:r>
              <a:rPr sz="1100" b="1">
                <a:solidFill>
                  <a:srgbClr val="002060"/>
                </a:solidFill>
                <a:latin typeface="Calisto MT"/>
              </a:rPr>
              <a:t>• Fixing Cornering Drift: </a:t>
            </a:r>
            <a:r>
              <a:rPr sz="1100" b="0">
                <a:solidFill>
                  <a:srgbClr val="334155"/>
                </a:solidFill>
                <a:latin typeface="Calisto MT"/>
              </a:rPr>
              <a:t>During turns, early maps twisted into distorted hourglass shapes because the compass drifted. Merging wheel rotation with compass readings completely eliminated corner distortion, producing straight walls.</a:t>
            </a:r>
          </a:p>
          <a:p>
            <a:pPr algn="l">
              <a:lnSpc>
                <a:spcPct val="115000"/>
              </a:lnSpc>
              <a:spcAft>
                <a:spcPts val="700"/>
              </a:spcAft>
            </a:pPr>
            <a:r>
              <a:rPr sz="1100" b="1">
                <a:solidFill>
                  <a:srgbClr val="002060"/>
                </a:solidFill>
                <a:latin typeface="Calisto MT"/>
              </a:rPr>
              <a:t>• Self-Localization (AMCL): </a:t>
            </a:r>
            <a:r>
              <a:rPr sz="1100" b="0">
                <a:solidFill>
                  <a:srgbClr val="334155"/>
                </a:solidFill>
                <a:latin typeface="Calisto MT"/>
              </a:rPr>
              <a:t>Once the map is saved, the robot constantly compares live laser scans against the map to know its exact physical coordinates (X, Y, and heading angle) within centimeters.</a:t>
            </a:r>
          </a:p>
          <a:p>
            <a:pPr algn="l">
              <a:lnSpc>
                <a:spcPct val="115000"/>
              </a:lnSpc>
              <a:spcAft>
                <a:spcPts val="700"/>
              </a:spcAft>
            </a:pPr>
            <a:r>
              <a:rPr sz="1100" b="1">
                <a:solidFill>
                  <a:srgbClr val="002060"/>
                </a:solidFill>
                <a:latin typeface="Calisto MT"/>
              </a:rPr>
              <a:t>• Safety Padding Costmaps: </a:t>
            </a:r>
            <a:r>
              <a:rPr sz="1100" b="0">
                <a:solidFill>
                  <a:srgbClr val="334155"/>
                </a:solidFill>
                <a:latin typeface="Calisto MT"/>
              </a:rPr>
              <a:t>The navigation software automatically inflates a safety padding cushion around all walls and furniture, preventing the robot from cutting corners too close or bumping table legs.</a:t>
            </a:r>
          </a:p>
          <a:p>
            <a:pPr algn="l">
              <a:lnSpc>
                <a:spcPct val="115000"/>
              </a:lnSpc>
              <a:spcAft>
                <a:spcPts val="0"/>
              </a:spcAft>
            </a:pPr>
            <a:r>
              <a:rPr sz="1100" b="1">
                <a:solidFill>
                  <a:srgbClr val="002060"/>
                </a:solidFill>
                <a:latin typeface="Calisto MT"/>
              </a:rPr>
              <a:t>• Multi-Waypoint Autonomous Patrol: </a:t>
            </a:r>
            <a:r>
              <a:rPr sz="1100" b="0">
                <a:solidFill>
                  <a:srgbClr val="334155"/>
                </a:solidFill>
                <a:latin typeface="Calisto MT"/>
              </a:rPr>
              <a:t>Given a sequence of room destinations (Dock → Central Hub → North Corner → East Post), the robot navigates smoothly across 160 seconds, achieving an average tracking accuracy of 15.5 cm.</a:t>
            </a:r>
          </a:p>
        </p:txBody>
      </p:sp>
      <p:sp>
        <p:nvSpPr>
          <p:cNvPr id="6" name="Nav_Drift_Label"/>
          <p:cNvSpPr txBox="1"/>
          <p:nvPr/>
        </p:nvSpPr>
        <p:spPr>
          <a:xfrm>
            <a:off x="6355080" y="1261872"/>
            <a:ext cx="2423160" cy="201168"/>
          </a:xfrm>
          <a:prstGeom prst="rect">
            <a:avLst/>
          </a:prstGeom>
          <a:noFill/>
        </p:spPr>
        <p:txBody>
          <a:bodyPr wrap="square" lIns="0" rIns="0" tIns="0" bIns="0">
            <a:spAutoFit/>
          </a:bodyPr>
          <a:lstStyle/>
          <a:p>
            <a:pPr algn="ctr">
              <a:lnSpc>
                <a:spcPct val="114000"/>
              </a:lnSpc>
              <a:spcBef>
                <a:spcPts val="0"/>
              </a:spcBef>
              <a:spcAft>
                <a:spcPts val="200"/>
              </a:spcAft>
              <a:defRPr sz="900" b="1" i="0">
                <a:solidFill>
                  <a:srgbClr val="64748B"/>
                </a:solidFill>
                <a:latin typeface="Calisto MT"/>
              </a:defRPr>
            </a:pPr>
            <a:r>
              <a:t>(a) Initial: 45° Corner Drift Defect</a:t>
            </a:r>
          </a:p>
        </p:txBody>
      </p:sp>
      <p:sp>
        <p:nvSpPr>
          <p:cNvPr id="7" name="Nav_Clean_Label"/>
          <p:cNvSpPr txBox="1"/>
          <p:nvPr/>
        </p:nvSpPr>
        <p:spPr>
          <a:xfrm>
            <a:off x="8915400" y="1261872"/>
            <a:ext cx="2423160" cy="201168"/>
          </a:xfrm>
          <a:prstGeom prst="rect">
            <a:avLst/>
          </a:prstGeom>
          <a:noFill/>
        </p:spPr>
        <p:txBody>
          <a:bodyPr wrap="square" lIns="0" rIns="0" tIns="0" bIns="0">
            <a:spAutoFit/>
          </a:bodyPr>
          <a:lstStyle/>
          <a:p>
            <a:pPr algn="ctr">
              <a:lnSpc>
                <a:spcPct val="114000"/>
              </a:lnSpc>
              <a:spcBef>
                <a:spcPts val="0"/>
              </a:spcBef>
              <a:spcAft>
                <a:spcPts val="200"/>
              </a:spcAft>
              <a:defRPr sz="900" b="1" i="0">
                <a:solidFill>
                  <a:srgbClr val="002060"/>
                </a:solidFill>
                <a:latin typeface="Calisto MT"/>
              </a:defRPr>
            </a:pPr>
            <a:r>
              <a:t>(b) Final: Clean Metric Map</a:t>
            </a:r>
          </a:p>
        </p:txBody>
      </p:sp>
      <p:pic>
        <p:nvPicPr>
          <p:cNvPr id="8" name="Nav_Drift_Img" descr="image.png"/>
          <p:cNvPicPr>
            <a:picLocks noChangeAspect="1"/>
          </p:cNvPicPr>
          <p:nvPr/>
        </p:nvPicPr>
        <p:blipFill>
          <a:blip r:embed="rId2"/>
          <a:stretch>
            <a:fillRect/>
          </a:stretch>
        </p:blipFill>
        <p:spPr>
          <a:xfrm>
            <a:off x="6355080" y="1481328"/>
            <a:ext cx="2423160" cy="1417320"/>
          </a:xfrm>
          <a:prstGeom prst="rect">
            <a:avLst/>
          </a:prstGeom>
        </p:spPr>
      </p:pic>
      <p:pic>
        <p:nvPicPr>
          <p:cNvPr id="9" name="Nav_Clean_Img" descr="image.png"/>
          <p:cNvPicPr>
            <a:picLocks noChangeAspect="1"/>
          </p:cNvPicPr>
          <p:nvPr/>
        </p:nvPicPr>
        <p:blipFill>
          <a:blip r:embed="rId3"/>
          <a:stretch>
            <a:fillRect/>
          </a:stretch>
        </p:blipFill>
        <p:spPr>
          <a:xfrm>
            <a:off x="8915400" y="1481328"/>
            <a:ext cx="2423160" cy="1417320"/>
          </a:xfrm>
          <a:prstGeom prst="rect">
            <a:avLst/>
          </a:prstGeom>
        </p:spPr>
      </p:pic>
      <p:sp>
        <p:nvSpPr>
          <p:cNvPr id="10" name="Nav_SLAM_Cap"/>
          <p:cNvSpPr txBox="1"/>
          <p:nvPr/>
        </p:nvSpPr>
        <p:spPr>
          <a:xfrm>
            <a:off x="6355080" y="2971800"/>
            <a:ext cx="5029200" cy="256032"/>
          </a:xfrm>
          <a:prstGeom prst="rect">
            <a:avLst/>
          </a:prstGeom>
          <a:noFill/>
        </p:spPr>
        <p:txBody>
          <a:bodyPr wrap="square" lIns="0" rIns="0" tIns="0" bIns="0">
            <a:spAutoFit/>
          </a:bodyPr>
          <a:lstStyle/>
          <a:p>
            <a:pPr algn="ctr">
              <a:lnSpc>
                <a:spcPct val="114000"/>
              </a:lnSpc>
              <a:spcBef>
                <a:spcPts val="0"/>
              </a:spcBef>
              <a:spcAft>
                <a:spcPts val="200"/>
              </a:spcAft>
              <a:defRPr sz="850" b="0" i="1">
                <a:solidFill>
                  <a:srgbClr val="64748B"/>
                </a:solidFill>
                <a:latin typeface="Calisto MT"/>
              </a:defRPr>
            </a:pPr>
            <a:r>
              <a:t>Figure 3.8: Physical SLAM Calibration — Correcting Yaw Drift via Wheel Odometry Fusion</a:t>
            </a:r>
          </a:p>
        </p:txBody>
      </p:sp>
      <p:pic>
        <p:nvPicPr>
          <p:cNvPr id="11" name="Nav_Patrol_Img" descr="image.png"/>
          <p:cNvPicPr>
            <a:picLocks noChangeAspect="1"/>
          </p:cNvPicPr>
          <p:nvPr/>
        </p:nvPicPr>
        <p:blipFill>
          <a:blip r:embed="rId5"/>
          <a:stretch>
            <a:fillRect/>
          </a:stretch>
        </p:blipFill>
        <p:spPr>
          <a:xfrm>
            <a:off x="6355080" y="3337560"/>
            <a:ext cx="1600200" cy="1965960"/>
          </a:xfrm>
          <a:prstGeom prst="rect">
            <a:avLst/>
          </a:prstGeom>
        </p:spPr>
      </p:pic>
      <p:sp>
        <p:nvSpPr>
          <p:cNvPr id="12" name="Nav_Patrol_Cap"/>
          <p:cNvSpPr txBox="1"/>
          <p:nvPr/>
        </p:nvSpPr>
        <p:spPr>
          <a:xfrm>
            <a:off x="6355080" y="5321808"/>
            <a:ext cx="1600200" cy="237744"/>
          </a:xfrm>
          <a:prstGeom prst="rect">
            <a:avLst/>
          </a:prstGeom>
          <a:noFill/>
        </p:spPr>
        <p:txBody>
          <a:bodyPr wrap="square" lIns="0" rIns="0" tIns="0" bIns="0">
            <a:spAutoFit/>
          </a:bodyPr>
          <a:lstStyle/>
          <a:p>
            <a:pPr algn="ctr">
              <a:lnSpc>
                <a:spcPct val="114000"/>
              </a:lnSpc>
              <a:spcBef>
                <a:spcPts val="0"/>
              </a:spcBef>
              <a:spcAft>
                <a:spcPts val="200"/>
              </a:spcAft>
              <a:defRPr sz="800" b="0" i="1">
                <a:solidFill>
                  <a:srgbClr val="64748B"/>
                </a:solidFill>
                <a:latin typeface="Calisto MT"/>
              </a:defRPr>
            </a:pPr>
            <a:r>
              <a:t>Figure 3.9: 4-Waypoint Patrol</a:t>
            </a:r>
          </a:p>
        </p:txBody>
      </p:sp>
      <p:sp>
        <p:nvSpPr>
          <p:cNvPr id="13" name="Nav_Perf_Text"/>
          <p:cNvSpPr txBox="1"/>
          <p:nvPr/>
        </p:nvSpPr>
        <p:spPr>
          <a:xfrm>
            <a:off x="8138160" y="3337560"/>
            <a:ext cx="3246120" cy="2057400"/>
          </a:xfrm>
          <a:prstGeom prst="rect">
            <a:avLst/>
          </a:prstGeom>
          <a:noFill/>
        </p:spPr>
        <p:txBody>
          <a:bodyPr wrap="square" lIns="0" rIns="0" tIns="0" bIns="0">
            <a:spAutoFit/>
          </a:bodyPr>
          <a:lstStyle/>
          <a:p>
            <a:pPr algn="l">
              <a:lnSpc>
                <a:spcPct val="114000"/>
              </a:lnSpc>
              <a:spcBef>
                <a:spcPts val="0"/>
              </a:spcBef>
              <a:spcAft>
                <a:spcPts val="400"/>
              </a:spcAft>
              <a:defRPr sz="950" b="1" i="0">
                <a:solidFill>
                  <a:srgbClr val="B8860B"/>
                </a:solidFill>
                <a:latin typeface="Calisto MT"/>
              </a:defRPr>
            </a:pPr>
            <a:r>
              <a:t>AUTONOMOUS PATROL PERFORMANCE:</a:t>
            </a:r>
          </a:p>
          <a:p>
            <a:pPr algn="l">
              <a:lnSpc>
                <a:spcPct val="112000"/>
              </a:lnSpc>
              <a:spcAft>
                <a:spcPts val="250"/>
              </a:spcAft>
            </a:pPr>
            <a:r>
              <a:rPr sz="880" b="1">
                <a:solidFill>
                  <a:srgbClr val="002060"/>
                </a:solidFill>
                <a:latin typeface="Calisto MT"/>
              </a:rPr>
              <a:t>• Map Resolution: </a:t>
            </a:r>
            <a:r>
              <a:rPr sz="880" b="0">
                <a:solidFill>
                  <a:srgbClr val="334155"/>
                </a:solidFill>
                <a:latin typeface="Calisto MT"/>
              </a:rPr>
              <a:t>5 cm per grid cell for fine obstacle details</a:t>
            </a:r>
          </a:p>
          <a:p>
            <a:pPr algn="l">
              <a:lnSpc>
                <a:spcPct val="112000"/>
              </a:lnSpc>
              <a:spcAft>
                <a:spcPts val="250"/>
              </a:spcAft>
            </a:pPr>
            <a:r>
              <a:rPr sz="880" b="1">
                <a:solidFill>
                  <a:srgbClr val="002060"/>
                </a:solidFill>
                <a:latin typeface="Calisto MT"/>
              </a:rPr>
              <a:t>• Path Accuracy: </a:t>
            </a:r>
            <a:r>
              <a:rPr sz="880" b="0">
                <a:solidFill>
                  <a:srgbClr val="334155"/>
                </a:solidFill>
                <a:latin typeface="Calisto MT"/>
              </a:rPr>
              <a:t>15.5 cm average tracking error across 160s run</a:t>
            </a:r>
          </a:p>
          <a:p>
            <a:pPr algn="l">
              <a:lnSpc>
                <a:spcPct val="112000"/>
              </a:lnSpc>
              <a:spcAft>
                <a:spcPts val="250"/>
              </a:spcAft>
            </a:pPr>
            <a:r>
              <a:rPr sz="880" b="1">
                <a:solidFill>
                  <a:srgbClr val="002060"/>
                </a:solidFill>
                <a:latin typeface="Calisto MT"/>
              </a:rPr>
              <a:t>• Safe Velocity: </a:t>
            </a:r>
            <a:r>
              <a:rPr sz="880" b="0">
                <a:solidFill>
                  <a:srgbClr val="334155"/>
                </a:solidFill>
                <a:latin typeface="Calisto MT"/>
              </a:rPr>
              <a:t>Speed capped smoothly at 0.25 m/s for lab safety</a:t>
            </a:r>
          </a:p>
          <a:p>
            <a:pPr algn="l">
              <a:lnSpc>
                <a:spcPct val="112000"/>
              </a:lnSpc>
              <a:spcAft>
                <a:spcPts val="250"/>
              </a:spcAft>
            </a:pPr>
            <a:r>
              <a:rPr sz="880" b="1">
                <a:solidFill>
                  <a:srgbClr val="002060"/>
                </a:solidFill>
                <a:latin typeface="Calisto MT"/>
              </a:rPr>
              <a:t>• Goal Verification: </a:t>
            </a:r>
            <a:r>
              <a:rPr sz="880" b="0">
                <a:solidFill>
                  <a:srgbClr val="334155"/>
                </a:solidFill>
                <a:latin typeface="Calisto MT"/>
              </a:rPr>
              <a:t>4 / 4 physical destinations reached (Dock → Hub → Corner → Post)</a:t>
            </a:r>
          </a:p>
          <a:p>
            <a:pPr algn="l">
              <a:lnSpc>
                <a:spcPct val="112000"/>
              </a:lnSpc>
              <a:spcAft>
                <a:spcPts val="0"/>
              </a:spcAft>
            </a:pPr>
            <a:r>
              <a:rPr sz="880" b="1">
                <a:solidFill>
                  <a:srgbClr val="002060"/>
                </a:solidFill>
                <a:latin typeface="Calisto MT"/>
              </a:rPr>
              <a:t>• Obstacle Buffer: </a:t>
            </a:r>
            <a:r>
              <a:rPr sz="880" b="0">
                <a:solidFill>
                  <a:srgbClr val="334155"/>
                </a:solidFill>
                <a:latin typeface="Calisto MT"/>
              </a:rPr>
              <a:t>Safety inflation maintains &gt;0.30 m clearance from walls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03504" y="320040"/>
            <a:ext cx="10972800" cy="548640"/>
          </a:xfrm>
        </p:spPr>
        <p:txBody>
          <a:bodyPr/>
          <a:lstStyle/>
          <a:p>
            <a:pPr algn="ctr">
              <a:lnSpc>
                <a:spcPct val="114000"/>
              </a:lnSpc>
              <a:spcBef>
                <a:spcPts val="0"/>
              </a:spcBef>
              <a:spcAft>
                <a:spcPts val="200"/>
              </a:spcAft>
              <a:defRPr sz="2400" b="1" i="0">
                <a:solidFill>
                  <a:srgbClr val="002060"/>
                </a:solidFill>
                <a:latin typeface="Calisto MT"/>
              </a:defRPr>
            </a:pPr>
            <a:r>
              <a:t>TESTING &amp; RESULTS: SYSTEM LATENCY &amp; ACCURACY</a:t>
            </a:r>
          </a:p>
        </p:txBody>
      </p:sp>
      <p:sp>
        <p:nvSpPr>
          <p:cNvPr id="3" name="Content Placeholder 2"/>
          <p:cNvSpPr>
            <a:spLocks noGrp="1"/>
          </p:cNvSpPr>
          <p:nvPr>
            <p:ph idx="1"/>
          </p:nvPr>
        </p:nvSpPr>
        <p:spPr/>
        <p:txBody>
          <a:bodyPr/>
          <a:lstStyle/>
          <a:p/>
        </p:txBody>
      </p:sp>
      <p:sp>
        <p:nvSpPr>
          <p:cNvPr id="4" name="Latency_Subhead"/>
          <p:cNvSpPr txBox="1"/>
          <p:nvPr/>
        </p:nvSpPr>
        <p:spPr>
          <a:xfrm>
            <a:off x="777240" y="960120"/>
            <a:ext cx="10634472" cy="228600"/>
          </a:xfrm>
          <a:prstGeom prst="rect">
            <a:avLst/>
          </a:prstGeom>
          <a:noFill/>
        </p:spPr>
        <p:txBody>
          <a:bodyPr wrap="square" lIns="0" rIns="0" tIns="0" bIns="0">
            <a:spAutoFit/>
          </a:bodyPr>
          <a:lstStyle/>
          <a:p>
            <a:pPr algn="l">
              <a:lnSpc>
                <a:spcPct val="114000"/>
              </a:lnSpc>
              <a:spcBef>
                <a:spcPts val="0"/>
              </a:spcBef>
              <a:spcAft>
                <a:spcPts val="200"/>
              </a:spcAft>
              <a:defRPr sz="1100" b="1" i="0">
                <a:solidFill>
                  <a:srgbClr val="B8860B"/>
                </a:solidFill>
                <a:latin typeface="Calisto MT"/>
              </a:defRPr>
            </a:pPr>
            <a:r>
              <a:t>REAL-TIME RESPONSE SPEED, GESTURE ACCURACY, AND MULTI-CONDITION RELIABILITY</a:t>
            </a:r>
          </a:p>
        </p:txBody>
      </p:sp>
      <p:sp>
        <p:nvSpPr>
          <p:cNvPr id="5" name="Latency_Points_Text"/>
          <p:cNvSpPr txBox="1"/>
          <p:nvPr/>
        </p:nvSpPr>
        <p:spPr>
          <a:xfrm>
            <a:off x="777240" y="1261872"/>
            <a:ext cx="5349240" cy="4114800"/>
          </a:xfrm>
          <a:prstGeom prst="rect">
            <a:avLst/>
          </a:prstGeom>
          <a:noFill/>
        </p:spPr>
        <p:txBody>
          <a:bodyPr wrap="square" lIns="18288" rIns="18288" tIns="18288" bIns="18288">
            <a:spAutoFit/>
          </a:bodyPr>
          <a:lstStyle/>
          <a:p>
            <a:pPr algn="l">
              <a:lnSpc>
                <a:spcPct val="115000"/>
              </a:lnSpc>
              <a:spcAft>
                <a:spcPts val="1000"/>
              </a:spcAft>
            </a:pPr>
            <a:r>
              <a:rPr sz="1100" b="1">
                <a:solidFill>
                  <a:srgbClr val="002060"/>
                </a:solidFill>
                <a:latin typeface="Calisto MT"/>
              </a:rPr>
              <a:t>• 132 ms Total Response Time: </a:t>
            </a:r>
            <a:r>
              <a:rPr sz="1100" b="0">
                <a:solidFill>
                  <a:srgbClr val="334155"/>
                </a:solidFill>
                <a:latin typeface="Calisto MT"/>
              </a:rPr>
              <a:t>From optical camera capture to physical wheel movement takes 132.0 milliseconds—comfortably within the 150 ms real-time safety deadline for collaborative mobile robots.</a:t>
            </a:r>
          </a:p>
          <a:p>
            <a:pPr algn="l">
              <a:lnSpc>
                <a:spcPct val="115000"/>
              </a:lnSpc>
              <a:spcAft>
                <a:spcPts val="1000"/>
              </a:spcAft>
            </a:pPr>
            <a:r>
              <a:rPr sz="1100" b="1">
                <a:solidFill>
                  <a:srgbClr val="002060"/>
                </a:solidFill>
                <a:latin typeface="Calisto MT"/>
              </a:rPr>
              <a:t>• 1.8 ms AI Classification: </a:t>
            </a:r>
            <a:r>
              <a:rPr sz="1100" b="0">
                <a:solidFill>
                  <a:srgbClr val="334155"/>
                </a:solidFill>
                <a:latin typeface="Calisto MT"/>
              </a:rPr>
              <a:t>The compact neural network evaluates hand features in just 1.8 milliseconds, proving intelligent AI runs efficiently on an embedded CPU without external graphics accelerators.</a:t>
            </a:r>
          </a:p>
          <a:p>
            <a:pPr algn="l">
              <a:lnSpc>
                <a:spcPct val="115000"/>
              </a:lnSpc>
              <a:spcAft>
                <a:spcPts val="1000"/>
              </a:spcAft>
            </a:pPr>
            <a:r>
              <a:rPr sz="1100" b="1">
                <a:solidFill>
                  <a:srgbClr val="002060"/>
                </a:solidFill>
                <a:latin typeface="Calisto MT"/>
              </a:rPr>
              <a:t>• 96.67% Physical Driving Success: </a:t>
            </a:r>
            <a:r>
              <a:rPr sz="1100" b="0">
                <a:solidFill>
                  <a:srgbClr val="334155"/>
                </a:solidFill>
                <a:latin typeface="Calisto MT"/>
              </a:rPr>
              <a:t>In 180 real-world driving trials with operators walking in the lab, the robot correctly recognized and executed commands 96.67% of the time.</a:t>
            </a:r>
          </a:p>
          <a:p>
            <a:pPr algn="l">
              <a:lnSpc>
                <a:spcPct val="115000"/>
              </a:lnSpc>
              <a:spcAft>
                <a:spcPts val="1000"/>
              </a:spcAft>
            </a:pPr>
            <a:r>
              <a:rPr sz="1100" b="1">
                <a:solidFill>
                  <a:srgbClr val="002060"/>
                </a:solidFill>
                <a:latin typeface="Calisto MT"/>
              </a:rPr>
              <a:t>• Reliable Operating Range: </a:t>
            </a:r>
            <a:r>
              <a:rPr sz="1100" b="0">
                <a:solidFill>
                  <a:srgbClr val="334155"/>
                </a:solidFill>
                <a:latin typeface="Calisto MT"/>
              </a:rPr>
              <a:t>Because hand features are scaled automatically by palm size, accuracy stays strong from 1.0 meter (100%) up to 2.5 meters (92.6%) away.</a:t>
            </a:r>
          </a:p>
          <a:p>
            <a:pPr algn="l">
              <a:lnSpc>
                <a:spcPct val="115000"/>
              </a:lnSpc>
              <a:spcAft>
                <a:spcPts val="0"/>
              </a:spcAft>
            </a:pPr>
            <a:r>
              <a:rPr sz="1100" b="1">
                <a:solidFill>
                  <a:srgbClr val="002060"/>
                </a:solidFill>
                <a:latin typeface="Calisto MT"/>
              </a:rPr>
              <a:t>• Consistent in Any Lighting: </a:t>
            </a:r>
            <a:r>
              <a:rPr sz="1100" b="0">
                <a:solidFill>
                  <a:srgbClr val="334155"/>
                </a:solidFill>
                <a:latin typeface="Calisto MT"/>
              </a:rPr>
              <a:t>The robot achieved identical 96.7% accuracy under bright natural sunlight and fluorescent office lights, ensuring reliable all-day operation.</a:t>
            </a:r>
          </a:p>
        </p:txBody>
      </p:sp>
      <p:pic>
        <p:nvPicPr>
          <p:cNvPr id="6" name="Latency_Boxplot_Img" descr="image.png"/>
          <p:cNvPicPr>
            <a:picLocks noChangeAspect="1"/>
          </p:cNvPicPr>
          <p:nvPr/>
        </p:nvPicPr>
        <p:blipFill>
          <a:blip r:embed="rId4"/>
          <a:stretch>
            <a:fillRect/>
          </a:stretch>
        </p:blipFill>
        <p:spPr>
          <a:xfrm>
            <a:off x="6355080" y="1261872"/>
            <a:ext cx="5029200" cy="2084831"/>
          </a:xfrm>
          <a:prstGeom prst="rect">
            <a:avLst/>
          </a:prstGeom>
        </p:spPr>
      </p:pic>
      <p:sp>
        <p:nvSpPr>
          <p:cNvPr id="7" name="Latency_Boxplot_Cap"/>
          <p:cNvSpPr txBox="1"/>
          <p:nvPr/>
        </p:nvSpPr>
        <p:spPr>
          <a:xfrm>
            <a:off x="6355080" y="3383280"/>
            <a:ext cx="5029200" cy="228600"/>
          </a:xfrm>
          <a:prstGeom prst="rect">
            <a:avLst/>
          </a:prstGeom>
          <a:noFill/>
        </p:spPr>
        <p:txBody>
          <a:bodyPr wrap="square" lIns="0" rIns="0" tIns="0" bIns="0">
            <a:spAutoFit/>
          </a:bodyPr>
          <a:lstStyle/>
          <a:p>
            <a:pPr algn="ctr">
              <a:lnSpc>
                <a:spcPct val="114000"/>
              </a:lnSpc>
              <a:spcBef>
                <a:spcPts val="0"/>
              </a:spcBef>
              <a:spcAft>
                <a:spcPts val="200"/>
              </a:spcAft>
              <a:defRPr sz="850" b="0" i="1">
                <a:solidFill>
                  <a:srgbClr val="64748B"/>
                </a:solidFill>
                <a:latin typeface="Calisto MT"/>
              </a:defRPr>
            </a:pPr>
            <a:r>
              <a:t>Figure 4.1: Observed Physical Accuracy Across Gestures, Operating Distances &amp; Lighting (180 Trials)</a:t>
            </a:r>
          </a:p>
        </p:txBody>
      </p:sp>
      <p:sp>
        <p:nvSpPr>
          <p:cNvPr id="8" name="Latency_Bench_Text"/>
          <p:cNvSpPr txBox="1"/>
          <p:nvPr/>
        </p:nvSpPr>
        <p:spPr>
          <a:xfrm>
            <a:off x="6355080" y="3703320"/>
            <a:ext cx="5029200" cy="1783080"/>
          </a:xfrm>
          <a:prstGeom prst="rect">
            <a:avLst/>
          </a:prstGeom>
          <a:noFill/>
        </p:spPr>
        <p:txBody>
          <a:bodyPr wrap="square" lIns="0" rIns="0" tIns="0" bIns="0">
            <a:spAutoFit/>
          </a:bodyPr>
          <a:lstStyle/>
          <a:p>
            <a:pPr algn="l">
              <a:lnSpc>
                <a:spcPct val="114000"/>
              </a:lnSpc>
              <a:spcBef>
                <a:spcPts val="0"/>
              </a:spcBef>
              <a:spcAft>
                <a:spcPts val="300"/>
              </a:spcAft>
              <a:defRPr sz="950" b="1" i="0">
                <a:solidFill>
                  <a:srgbClr val="B8860B"/>
                </a:solidFill>
                <a:latin typeface="Calisto MT"/>
              </a:defRPr>
            </a:pPr>
            <a:r>
              <a:t>END-TO-END LATENCY BUDGET &amp; SPEED BREAKDOWN (132.0 ms TOTAL):</a:t>
            </a:r>
          </a:p>
          <a:p>
            <a:pPr algn="l">
              <a:lnSpc>
                <a:spcPct val="112000"/>
              </a:lnSpc>
              <a:spcAft>
                <a:spcPts val="250"/>
              </a:spcAft>
            </a:pPr>
            <a:r>
              <a:rPr sz="880" b="1">
                <a:solidFill>
                  <a:srgbClr val="002060"/>
                </a:solidFill>
                <a:latin typeface="Calisto MT"/>
              </a:rPr>
              <a:t>• Camera Video Capture: </a:t>
            </a:r>
            <a:r>
              <a:rPr sz="880" b="0">
                <a:solidFill>
                  <a:srgbClr val="334155"/>
                </a:solidFill>
                <a:latin typeface="Calisto MT"/>
              </a:rPr>
              <a:t>50.0 ms (640×480 @ 30 FPS video streaming)</a:t>
            </a:r>
          </a:p>
          <a:p>
            <a:pPr algn="l">
              <a:lnSpc>
                <a:spcPct val="112000"/>
              </a:lnSpc>
              <a:spcAft>
                <a:spcPts val="250"/>
              </a:spcAft>
            </a:pPr>
            <a:r>
              <a:rPr sz="880" b="1">
                <a:solidFill>
                  <a:srgbClr val="002060"/>
                </a:solidFill>
                <a:latin typeface="Calisto MT"/>
              </a:rPr>
              <a:t>• Hand Tracking: </a:t>
            </a:r>
            <a:r>
              <a:rPr sz="880" b="0">
                <a:solidFill>
                  <a:srgbClr val="334155"/>
                </a:solidFill>
                <a:latin typeface="Calisto MT"/>
              </a:rPr>
              <a:t>38.2 ms (MediaPipe landmark extraction on quad-core CPU)</a:t>
            </a:r>
          </a:p>
          <a:p>
            <a:pPr algn="l">
              <a:lnSpc>
                <a:spcPct val="112000"/>
              </a:lnSpc>
              <a:spcAft>
                <a:spcPts val="250"/>
              </a:spcAft>
            </a:pPr>
            <a:r>
              <a:rPr sz="880" b="1">
                <a:solidFill>
                  <a:srgbClr val="002060"/>
                </a:solidFill>
                <a:latin typeface="Calisto MT"/>
              </a:rPr>
              <a:t>• Neural Classifier: </a:t>
            </a:r>
            <a:r>
              <a:rPr sz="880" b="0">
                <a:solidFill>
                  <a:srgbClr val="334155"/>
                </a:solidFill>
                <a:latin typeface="Calisto MT"/>
              </a:rPr>
              <a:t>1.8 ms (instant geometric feature classification)</a:t>
            </a:r>
          </a:p>
          <a:p>
            <a:pPr algn="l">
              <a:lnSpc>
                <a:spcPct val="112000"/>
              </a:lnSpc>
              <a:spcAft>
                <a:spcPts val="250"/>
              </a:spcAft>
            </a:pPr>
            <a:r>
              <a:rPr sz="880" b="1">
                <a:solidFill>
                  <a:srgbClr val="002060"/>
                </a:solidFill>
                <a:latin typeface="Calisto MT"/>
              </a:rPr>
              <a:t>• Motor Communication: </a:t>
            </a:r>
            <a:r>
              <a:rPr sz="880" b="0">
                <a:solidFill>
                  <a:srgbClr val="334155"/>
                </a:solidFill>
                <a:latin typeface="Calisto MT"/>
              </a:rPr>
              <a:t>40.0 ms (micro-ROS UART command delivery to wheels)</a:t>
            </a:r>
          </a:p>
          <a:p>
            <a:pPr algn="l">
              <a:lnSpc>
                <a:spcPct val="112000"/>
              </a:lnSpc>
              <a:spcAft>
                <a:spcPts val="0"/>
              </a:spcAft>
            </a:pPr>
            <a:r>
              <a:rPr sz="880" b="1">
                <a:solidFill>
                  <a:srgbClr val="002060"/>
                </a:solidFill>
                <a:latin typeface="Calisto MT"/>
              </a:rPr>
              <a:t>• Safety Standard: </a:t>
            </a:r>
            <a:r>
              <a:rPr sz="880" b="0">
                <a:solidFill>
                  <a:srgbClr val="334155"/>
                </a:solidFill>
                <a:latin typeface="Calisto MT"/>
              </a:rPr>
              <a:t>100% of runs below 150 ms ISO 15066 safety deadline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03504" y="320040"/>
            <a:ext cx="10972800" cy="548640"/>
          </a:xfrm>
        </p:spPr>
        <p:txBody>
          <a:bodyPr/>
          <a:lstStyle/>
          <a:p>
            <a:pPr algn="ctr">
              <a:lnSpc>
                <a:spcPct val="114000"/>
              </a:lnSpc>
              <a:spcBef>
                <a:spcPts val="0"/>
              </a:spcBef>
              <a:spcAft>
                <a:spcPts val="200"/>
              </a:spcAft>
              <a:defRPr sz="2400" b="1" i="0">
                <a:solidFill>
                  <a:srgbClr val="002060"/>
                </a:solidFill>
                <a:latin typeface="Calisto MT"/>
              </a:defRPr>
            </a:pPr>
            <a:r>
              <a:t>TESTING &amp; RESULTS: PHYSICAL LOCOMOTION &amp; SAFETY</a:t>
            </a:r>
          </a:p>
        </p:txBody>
      </p:sp>
      <p:sp>
        <p:nvSpPr>
          <p:cNvPr id="3" name="Content Placeholder 2"/>
          <p:cNvSpPr>
            <a:spLocks noGrp="1"/>
          </p:cNvSpPr>
          <p:nvPr>
            <p:ph idx="1"/>
          </p:nvPr>
        </p:nvSpPr>
        <p:spPr/>
        <p:txBody>
          <a:bodyPr/>
          <a:lstStyle/>
          <a:p/>
        </p:txBody>
      </p:sp>
      <p:sp>
        <p:nvSpPr>
          <p:cNvPr id="4" name="Safety_Subhead"/>
          <p:cNvSpPr txBox="1"/>
          <p:nvPr/>
        </p:nvSpPr>
        <p:spPr>
          <a:xfrm>
            <a:off x="777240" y="960120"/>
            <a:ext cx="10634472" cy="228600"/>
          </a:xfrm>
          <a:prstGeom prst="rect">
            <a:avLst/>
          </a:prstGeom>
          <a:noFill/>
        </p:spPr>
        <p:txBody>
          <a:bodyPr wrap="square" lIns="0" rIns="0" tIns="0" bIns="0">
            <a:spAutoFit/>
          </a:bodyPr>
          <a:lstStyle/>
          <a:p>
            <a:pPr algn="l">
              <a:lnSpc>
                <a:spcPct val="114000"/>
              </a:lnSpc>
              <a:spcBef>
                <a:spcPts val="0"/>
              </a:spcBef>
              <a:spcAft>
                <a:spcPts val="200"/>
              </a:spcAft>
              <a:defRPr sz="1100" b="1" i="0">
                <a:solidFill>
                  <a:srgbClr val="B8860B"/>
                </a:solidFill>
                <a:latin typeface="Calisto MT"/>
              </a:defRPr>
            </a:pPr>
            <a:r>
              <a:t>PHYSICAL VEHICLE MOTION, EMERGENCY BRAKING, AND 360° LIDAR SAFETY BUBBLE</a:t>
            </a:r>
          </a:p>
        </p:txBody>
      </p:sp>
      <p:sp>
        <p:nvSpPr>
          <p:cNvPr id="5" name="Safety_Points_Text"/>
          <p:cNvSpPr txBox="1"/>
          <p:nvPr/>
        </p:nvSpPr>
        <p:spPr>
          <a:xfrm>
            <a:off x="777240" y="1261872"/>
            <a:ext cx="5349240" cy="4251960"/>
          </a:xfrm>
          <a:prstGeom prst="rect">
            <a:avLst/>
          </a:prstGeom>
          <a:noFill/>
        </p:spPr>
        <p:txBody>
          <a:bodyPr wrap="square" lIns="18288" rIns="18288" tIns="18288" bIns="18288">
            <a:spAutoFit/>
          </a:bodyPr>
          <a:lstStyle/>
          <a:p>
            <a:pPr algn="l">
              <a:lnSpc>
                <a:spcPct val="115000"/>
              </a:lnSpc>
              <a:spcAft>
                <a:spcPts val="700"/>
              </a:spcAft>
            </a:pPr>
            <a:r>
              <a:rPr sz="1100" b="1">
                <a:solidFill>
                  <a:srgbClr val="002060"/>
                </a:solidFill>
                <a:latin typeface="Calisto MT"/>
              </a:rPr>
              <a:t>• Smooth Vehicle Driving: </a:t>
            </a:r>
            <a:r>
              <a:rPr sz="1100" b="0">
                <a:solidFill>
                  <a:srgbClr val="334155"/>
                </a:solidFill>
                <a:latin typeface="Calisto MT"/>
              </a:rPr>
              <a:t>All 6 commands (Forward, Reverse, Left, Right, Stop, Follow) drove the 4WD mobile robot smoothly without motor stalls or wheel skids.</a:t>
            </a:r>
          </a:p>
          <a:p>
            <a:pPr algn="l">
              <a:lnSpc>
                <a:spcPct val="115000"/>
              </a:lnSpc>
              <a:spcAft>
                <a:spcPts val="700"/>
              </a:spcAft>
            </a:pPr>
            <a:r>
              <a:rPr sz="1100" b="1">
                <a:solidFill>
                  <a:srgbClr val="002060"/>
                </a:solidFill>
                <a:latin typeface="Calisto MT"/>
              </a:rPr>
              <a:t>• Safe Dual Power Rails: </a:t>
            </a:r>
            <a:r>
              <a:rPr sz="1100" b="0">
                <a:solidFill>
                  <a:srgbClr val="334155"/>
                </a:solidFill>
                <a:latin typeface="Calisto MT"/>
              </a:rPr>
              <a:t>High motor current spikes during rapid forward-to-reverse driving never restarted the onboard computer, proving isolated power buses protect system stability.</a:t>
            </a:r>
          </a:p>
          <a:p>
            <a:pPr algn="l">
              <a:lnSpc>
                <a:spcPct val="115000"/>
              </a:lnSpc>
              <a:spcAft>
                <a:spcPts val="700"/>
              </a:spcAft>
            </a:pPr>
            <a:r>
              <a:rPr sz="1100" b="1">
                <a:solidFill>
                  <a:srgbClr val="002060"/>
                </a:solidFill>
                <a:latin typeface="Calisto MT"/>
              </a:rPr>
              <a:t>• Verified 98 ms Braking: </a:t>
            </a:r>
            <a:r>
              <a:rPr sz="1100" b="0">
                <a:solidFill>
                  <a:srgbClr val="334155"/>
                </a:solidFill>
                <a:latin typeface="Calisto MT"/>
              </a:rPr>
              <a:t>When the STOP command is shown or an obstacle enters the path, the robot halts completely within 98 milliseconds—well within the 0.36-meter safety margin.</a:t>
            </a:r>
          </a:p>
          <a:p>
            <a:pPr algn="l">
              <a:lnSpc>
                <a:spcPct val="115000"/>
              </a:lnSpc>
              <a:spcAft>
                <a:spcPts val="700"/>
              </a:spcAft>
            </a:pPr>
            <a:r>
              <a:rPr sz="1100" b="1">
                <a:solidFill>
                  <a:srgbClr val="002060"/>
                </a:solidFill>
                <a:latin typeface="Calisto MT"/>
              </a:rPr>
              <a:t>• Smart Hallway Safety Corridor: </a:t>
            </a:r>
            <a:r>
              <a:rPr sz="1100" b="0">
                <a:solidFill>
                  <a:srgbClr val="334155"/>
                </a:solidFill>
                <a:latin typeface="Calisto MT"/>
              </a:rPr>
              <a:t>Replaced the wide sensor cone with a rectangular corridor (|y| &lt;= 0.18 m) that only reacts to obstacles directly ahead, eliminating false alarms from side chairs and tables.</a:t>
            </a:r>
          </a:p>
          <a:p>
            <a:pPr algn="l">
              <a:lnSpc>
                <a:spcPct val="115000"/>
              </a:lnSpc>
              <a:spcAft>
                <a:spcPts val="700"/>
              </a:spcAft>
            </a:pPr>
            <a:r>
              <a:rPr sz="1100" b="1">
                <a:solidFill>
                  <a:srgbClr val="002060"/>
                </a:solidFill>
                <a:latin typeface="Calisto MT"/>
              </a:rPr>
              <a:t>• Rear Collision Guard: </a:t>
            </a:r>
            <a:r>
              <a:rPr sz="1100" b="0">
                <a:solidFill>
                  <a:srgbClr val="334155"/>
                </a:solidFill>
                <a:latin typeface="Calisto MT"/>
              </a:rPr>
              <a:t>Before backing away from a frontal obstacle, the robot checks behind itself; if an object is within 0.25 meters, it stops immediately instead of backing up blindly.</a:t>
            </a:r>
          </a:p>
          <a:p>
            <a:pPr algn="l">
              <a:lnSpc>
                <a:spcPct val="115000"/>
              </a:lnSpc>
              <a:spcAft>
                <a:spcPts val="0"/>
              </a:spcAft>
            </a:pPr>
            <a:r>
              <a:rPr sz="1100" b="1">
                <a:solidFill>
                  <a:srgbClr val="002060"/>
                </a:solidFill>
                <a:latin typeface="Calisto MT"/>
              </a:rPr>
              <a:t>• Certified ISO 15066 Safety: </a:t>
            </a:r>
            <a:r>
              <a:rPr sz="1100" b="0">
                <a:solidFill>
                  <a:srgbClr val="334155"/>
                </a:solidFill>
                <a:latin typeface="Calisto MT"/>
              </a:rPr>
              <a:t>Cruising speed is capped at 0.20 m/s with 12.6 scans per second, ensuring the robot is safe to operate around humans in collaborative workspaces.</a:t>
            </a:r>
          </a:p>
        </p:txBody>
      </p:sp>
      <p:pic>
        <p:nvPicPr>
          <p:cNvPr id="6" name="Safety_Lidar_Img" descr="image.png"/>
          <p:cNvPicPr>
            <a:picLocks noChangeAspect="1"/>
          </p:cNvPicPr>
          <p:nvPr/>
        </p:nvPicPr>
        <p:blipFill>
          <a:blip r:embed="rId2"/>
          <a:stretch>
            <a:fillRect/>
          </a:stretch>
        </p:blipFill>
        <p:spPr>
          <a:xfrm>
            <a:off x="6355080" y="1261872"/>
            <a:ext cx="5029200" cy="2743200"/>
          </a:xfrm>
          <a:prstGeom prst="rect">
            <a:avLst/>
          </a:prstGeom>
        </p:spPr>
      </p:pic>
      <p:sp>
        <p:nvSpPr>
          <p:cNvPr id="7" name="Safety_Lidar_Cap"/>
          <p:cNvSpPr txBox="1"/>
          <p:nvPr/>
        </p:nvSpPr>
        <p:spPr>
          <a:xfrm>
            <a:off x="6355080" y="4041648"/>
            <a:ext cx="5029200" cy="256032"/>
          </a:xfrm>
          <a:prstGeom prst="rect">
            <a:avLst/>
          </a:prstGeom>
          <a:noFill/>
        </p:spPr>
        <p:txBody>
          <a:bodyPr wrap="square" lIns="0" rIns="0" tIns="0" bIns="0">
            <a:spAutoFit/>
          </a:bodyPr>
          <a:lstStyle/>
          <a:p>
            <a:pPr algn="ctr">
              <a:lnSpc>
                <a:spcPct val="114000"/>
              </a:lnSpc>
              <a:spcBef>
                <a:spcPts val="0"/>
              </a:spcBef>
              <a:spcAft>
                <a:spcPts val="200"/>
              </a:spcAft>
              <a:defRPr sz="850" b="0" i="1">
                <a:solidFill>
                  <a:srgbClr val="64748B"/>
                </a:solidFill>
                <a:latin typeface="Calisto MT"/>
              </a:defRPr>
            </a:pPr>
            <a:r>
              <a:t>Figure 4.2: Smart Rectangular Safety Corridor vs. Old Cone (Eliminating False Alarms)</a:t>
            </a:r>
          </a:p>
        </p:txBody>
      </p:sp>
      <p:sp>
        <p:nvSpPr>
          <p:cNvPr id="8" name="Safety_Bench_Text"/>
          <p:cNvSpPr txBox="1"/>
          <p:nvPr/>
        </p:nvSpPr>
        <p:spPr>
          <a:xfrm>
            <a:off x="6355080" y="4370832"/>
            <a:ext cx="5029200" cy="1143000"/>
          </a:xfrm>
          <a:prstGeom prst="rect">
            <a:avLst/>
          </a:prstGeom>
          <a:noFill/>
        </p:spPr>
        <p:txBody>
          <a:bodyPr wrap="square" lIns="0" rIns="0" tIns="0" bIns="0">
            <a:spAutoFit/>
          </a:bodyPr>
          <a:lstStyle/>
          <a:p>
            <a:pPr algn="l">
              <a:lnSpc>
                <a:spcPct val="114000"/>
              </a:lnSpc>
              <a:spcBef>
                <a:spcPts val="0"/>
              </a:spcBef>
              <a:spcAft>
                <a:spcPts val="300"/>
              </a:spcAft>
              <a:defRPr sz="950" b="1" i="0">
                <a:solidFill>
                  <a:srgbClr val="B8860B"/>
                </a:solidFill>
                <a:latin typeface="Calisto MT"/>
              </a:defRPr>
            </a:pPr>
            <a:r>
              <a:t>VERIFIED PHYSICAL SAFETY &amp; LOCOMOTION METRICS:</a:t>
            </a:r>
          </a:p>
          <a:p>
            <a:pPr algn="l">
              <a:lnSpc>
                <a:spcPct val="112000"/>
              </a:lnSpc>
              <a:spcAft>
                <a:spcPts val="250"/>
              </a:spcAft>
            </a:pPr>
            <a:r>
              <a:rPr sz="880" b="1">
                <a:solidFill>
                  <a:srgbClr val="002060"/>
                </a:solidFill>
                <a:latin typeface="Calisto MT"/>
              </a:rPr>
              <a:t>• Braking Speed: </a:t>
            </a:r>
            <a:r>
              <a:rPr sz="880" b="0">
                <a:solidFill>
                  <a:srgbClr val="334155"/>
                </a:solidFill>
                <a:latin typeface="Calisto MT"/>
              </a:rPr>
              <a:t>98 ms average physical emergency stop from 0.20 m/s cruising speed</a:t>
            </a:r>
          </a:p>
          <a:p>
            <a:pPr algn="l">
              <a:lnSpc>
                <a:spcPct val="112000"/>
              </a:lnSpc>
              <a:spcAft>
                <a:spcPts val="250"/>
              </a:spcAft>
            </a:pPr>
            <a:r>
              <a:rPr sz="880" b="1">
                <a:solidFill>
                  <a:srgbClr val="002060"/>
                </a:solidFill>
                <a:latin typeface="Calisto MT"/>
              </a:rPr>
              <a:t>• Front Safety Zones: </a:t>
            </a:r>
            <a:r>
              <a:rPr sz="880" b="0">
                <a:solidFill>
                  <a:srgbClr val="334155"/>
                </a:solidFill>
                <a:latin typeface="Calisto MT"/>
              </a:rPr>
              <a:t>0.36 m danger halt threshold; 0.55 m caution recovery buffer</a:t>
            </a:r>
          </a:p>
          <a:p>
            <a:pPr algn="l">
              <a:lnSpc>
                <a:spcPct val="112000"/>
              </a:lnSpc>
              <a:spcAft>
                <a:spcPts val="250"/>
              </a:spcAft>
            </a:pPr>
            <a:r>
              <a:rPr sz="880" b="1">
                <a:solidFill>
                  <a:srgbClr val="002060"/>
                </a:solidFill>
                <a:latin typeface="Calisto MT"/>
              </a:rPr>
              <a:t>• Rear Guard Clearance: </a:t>
            </a:r>
            <a:r>
              <a:rPr sz="880" b="0">
                <a:solidFill>
                  <a:srgbClr val="334155"/>
                </a:solidFill>
                <a:latin typeface="Calisto MT"/>
              </a:rPr>
              <a:t>Reversing cancelled immediately if obstacles detected within 0.25 m</a:t>
            </a:r>
          </a:p>
          <a:p>
            <a:pPr algn="l">
              <a:lnSpc>
                <a:spcPct val="112000"/>
              </a:lnSpc>
              <a:spcAft>
                <a:spcPts val="0"/>
              </a:spcAft>
            </a:pPr>
            <a:r>
              <a:rPr sz="880" b="1">
                <a:solidFill>
                  <a:srgbClr val="002060"/>
                </a:solidFill>
                <a:latin typeface="Calisto MT"/>
              </a:rPr>
              <a:t>• Safety Compliance: </a:t>
            </a:r>
            <a:r>
              <a:rPr sz="880" b="0">
                <a:solidFill>
                  <a:srgbClr val="334155"/>
                </a:solidFill>
                <a:latin typeface="Calisto MT"/>
              </a:rPr>
              <a:t>100% compliant with ISO 15066 collaborative robotic safety criteria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03504" y="320040"/>
            <a:ext cx="10972800" cy="548640"/>
          </a:xfrm>
        </p:spPr>
        <p:txBody>
          <a:bodyPr/>
          <a:lstStyle/>
          <a:p>
            <a:pPr algn="ctr">
              <a:lnSpc>
                <a:spcPct val="114000"/>
              </a:lnSpc>
              <a:spcBef>
                <a:spcPts val="0"/>
              </a:spcBef>
              <a:spcAft>
                <a:spcPts val="200"/>
              </a:spcAft>
              <a:defRPr sz="2400" b="1" i="0">
                <a:solidFill>
                  <a:srgbClr val="002060"/>
                </a:solidFill>
                <a:latin typeface="Calisto MT"/>
              </a:defRPr>
            </a:pPr>
            <a:r>
              <a:t>CONCLUSION, LIMITATIONS &amp; RECOMMENDATIONS</a:t>
            </a:r>
          </a:p>
        </p:txBody>
      </p:sp>
      <p:sp>
        <p:nvSpPr>
          <p:cNvPr id="3" name="Content Placeholder 2"/>
          <p:cNvSpPr>
            <a:spLocks noGrp="1"/>
          </p:cNvSpPr>
          <p:nvPr>
            <p:ph idx="1"/>
          </p:nvPr>
        </p:nvSpPr>
        <p:spPr/>
        <p:txBody>
          <a:bodyPr/>
          <a:lstStyle/>
          <a:p/>
        </p:txBody>
      </p:sp>
      <p:sp>
        <p:nvSpPr>
          <p:cNvPr id="4" name="Conclusion_Subhead"/>
          <p:cNvSpPr txBox="1"/>
          <p:nvPr/>
        </p:nvSpPr>
        <p:spPr>
          <a:xfrm>
            <a:off x="777240" y="960120"/>
            <a:ext cx="10634472" cy="228600"/>
          </a:xfrm>
          <a:prstGeom prst="rect">
            <a:avLst/>
          </a:prstGeom>
          <a:noFill/>
        </p:spPr>
        <p:txBody>
          <a:bodyPr wrap="square" lIns="0" rIns="0" tIns="0" bIns="0">
            <a:spAutoFit/>
          </a:bodyPr>
          <a:lstStyle/>
          <a:p>
            <a:pPr algn="l">
              <a:lnSpc>
                <a:spcPct val="114000"/>
              </a:lnSpc>
              <a:spcBef>
                <a:spcPts val="0"/>
              </a:spcBef>
              <a:spcAft>
                <a:spcPts val="200"/>
              </a:spcAft>
              <a:defRPr sz="1100" b="1" i="0">
                <a:solidFill>
                  <a:srgbClr val="B8860B"/>
                </a:solidFill>
                <a:latin typeface="Calisto MT"/>
              </a:defRPr>
            </a:pPr>
            <a:r>
              <a:t>PROJECT CONTRIBUTIONS, TECHNICAL LIMITATIONS, AND RECOMMENDATIONS FOR FUTURE WORK</a:t>
            </a:r>
          </a:p>
        </p:txBody>
      </p:sp>
      <p:sp>
        <p:nvSpPr>
          <p:cNvPr id="5" name="Conclusion_Points_Text"/>
          <p:cNvSpPr txBox="1"/>
          <p:nvPr/>
        </p:nvSpPr>
        <p:spPr>
          <a:xfrm>
            <a:off x="777240" y="1261872"/>
            <a:ext cx="5349240" cy="4251960"/>
          </a:xfrm>
          <a:prstGeom prst="rect">
            <a:avLst/>
          </a:prstGeom>
          <a:noFill/>
        </p:spPr>
        <p:txBody>
          <a:bodyPr wrap="square" lIns="18288" rIns="18288" tIns="18288" bIns="18288">
            <a:spAutoFit/>
          </a:bodyPr>
          <a:lstStyle/>
          <a:p>
            <a:pPr algn="l">
              <a:lnSpc>
                <a:spcPct val="114000"/>
              </a:lnSpc>
              <a:spcBef>
                <a:spcPts val="0"/>
              </a:spcBef>
              <a:spcAft>
                <a:spcPts val="300"/>
              </a:spcAft>
              <a:defRPr sz="1000" b="1" i="0">
                <a:solidFill>
                  <a:srgbClr val="B8860B"/>
                </a:solidFill>
                <a:latin typeface="Calisto MT"/>
              </a:defRPr>
            </a:pPr>
            <a:r>
              <a:t>KEY RESEARCH CONCLUSIONS:</a:t>
            </a:r>
          </a:p>
          <a:p>
            <a:pPr algn="l">
              <a:lnSpc>
                <a:spcPct val="113000"/>
              </a:lnSpc>
              <a:spcAft>
                <a:spcPts val="500"/>
              </a:spcAft>
            </a:pPr>
            <a:r>
              <a:rPr sz="1000" b="1">
                <a:solidFill>
                  <a:srgbClr val="002060"/>
                </a:solidFill>
                <a:latin typeface="Calisto MT"/>
              </a:rPr>
              <a:t>• Complete Edge Autonomy: </a:t>
            </a:r>
            <a:r>
              <a:rPr sz="1000" b="0">
                <a:solidFill>
                  <a:srgbClr val="334155"/>
                </a:solidFill>
                <a:latin typeface="Calisto MT"/>
              </a:rPr>
              <a:t>AI vision, gesture recognition, human tracking, and SLAM execute 100% onboard the Raspberry Pi 5 without clouds or external GPUs.</a:t>
            </a:r>
          </a:p>
          <a:p>
            <a:pPr algn="l">
              <a:lnSpc>
                <a:spcPct val="113000"/>
              </a:lnSpc>
              <a:spcAft>
                <a:spcPts val="500"/>
              </a:spcAft>
            </a:pPr>
            <a:r>
              <a:rPr sz="1000" b="1">
                <a:solidFill>
                  <a:srgbClr val="002060"/>
                </a:solidFill>
                <a:latin typeface="Calisto MT"/>
              </a:rPr>
              <a:t>• High Real-World Accuracy: </a:t>
            </a:r>
            <a:r>
              <a:rPr sz="1000" b="0">
                <a:solidFill>
                  <a:srgbClr val="334155"/>
                </a:solidFill>
                <a:latin typeface="Calisto MT"/>
              </a:rPr>
              <a:t>Achieved 99.38% lab test accuracy and 96.67% physical driving success across 180 mobile trials in the laboratory.</a:t>
            </a:r>
          </a:p>
          <a:p>
            <a:pPr algn="l">
              <a:lnSpc>
                <a:spcPct val="113000"/>
              </a:lnSpc>
              <a:spcAft>
                <a:spcPts val="500"/>
              </a:spcAft>
            </a:pPr>
            <a:r>
              <a:rPr sz="1000" b="1">
                <a:solidFill>
                  <a:srgbClr val="002060"/>
                </a:solidFill>
                <a:latin typeface="Calisto MT"/>
              </a:rPr>
              <a:t>• Certified Collaborative Safety: </a:t>
            </a:r>
            <a:r>
              <a:rPr sz="1000" b="0">
                <a:solidFill>
                  <a:srgbClr val="334155"/>
                </a:solidFill>
                <a:latin typeface="Calisto MT"/>
              </a:rPr>
              <a:t>132 ms total response time and 98 ms physical braking fully satisfy ISO 15066 safety standards for human-robot shared spaces.</a:t>
            </a:r>
          </a:p>
          <a:p>
            <a:pPr algn="l">
              <a:lnSpc>
                <a:spcPct val="114000"/>
              </a:lnSpc>
              <a:spcBef>
                <a:spcPts val="0"/>
              </a:spcBef>
              <a:spcAft>
                <a:spcPts val="300"/>
              </a:spcAft>
              <a:defRPr sz="1000" b="1" i="0">
                <a:solidFill>
                  <a:srgbClr val="B8860B"/>
                </a:solidFill>
                <a:latin typeface="Calisto MT"/>
              </a:defRPr>
            </a:pPr>
            <a:r>
              <a:t>TECHNICAL LIMITATIONS OF THE STUDY:</a:t>
            </a:r>
          </a:p>
          <a:p>
            <a:pPr algn="l">
              <a:lnSpc>
                <a:spcPct val="113000"/>
              </a:lnSpc>
              <a:spcAft>
                <a:spcPts val="500"/>
              </a:spcAft>
            </a:pPr>
            <a:r>
              <a:rPr sz="1000" b="1">
                <a:solidFill>
                  <a:srgbClr val="002060"/>
                </a:solidFill>
                <a:latin typeface="Calisto MT"/>
              </a:rPr>
              <a:t>• Single Indoor Environment: </a:t>
            </a:r>
            <a:r>
              <a:rPr sz="1000" b="0">
                <a:solidFill>
                  <a:srgbClr val="334155"/>
                </a:solidFill>
                <a:latin typeface="Calisto MT"/>
              </a:rPr>
              <a:t>Evaluated in a single research lab; extreme direct sunlight washout and transparent glass partitions were not tested.</a:t>
            </a:r>
          </a:p>
          <a:p>
            <a:pPr algn="l">
              <a:lnSpc>
                <a:spcPct val="113000"/>
              </a:lnSpc>
              <a:spcAft>
                <a:spcPts val="500"/>
              </a:spcAft>
            </a:pPr>
            <a:r>
              <a:rPr sz="1000" b="1">
                <a:solidFill>
                  <a:srgbClr val="002060"/>
                </a:solidFill>
                <a:latin typeface="Calisto MT"/>
              </a:rPr>
              <a:t>• Edge CPU Compute Headroom: </a:t>
            </a:r>
            <a:r>
              <a:rPr sz="1000" b="0">
                <a:solidFill>
                  <a:srgbClr val="334155"/>
                </a:solidFill>
                <a:latin typeface="Calisto MT"/>
              </a:rPr>
              <a:t>Running continuous facial recognition alongside hand and person tracking saturated the 4-core CPU, requiring face ID to run offline.</a:t>
            </a:r>
          </a:p>
          <a:p>
            <a:pPr algn="l">
              <a:lnSpc>
                <a:spcPct val="113000"/>
              </a:lnSpc>
              <a:spcAft>
                <a:spcPts val="0"/>
              </a:spcAft>
            </a:pPr>
            <a:r>
              <a:rPr sz="1000" b="1">
                <a:solidFill>
                  <a:srgbClr val="002060"/>
                </a:solidFill>
                <a:latin typeface="Calisto MT"/>
              </a:rPr>
              <a:t>• Evaluation Cohort Size: </a:t>
            </a:r>
            <a:r>
              <a:rPr sz="1000" b="0">
                <a:solidFill>
                  <a:srgbClr val="334155"/>
                </a:solidFill>
                <a:latin typeface="Calisto MT"/>
              </a:rPr>
              <a:t>Physical driving trials involved 3 participants across 180 runs; broader demographic testing across diverse hand shapes is recommended.</a:t>
            </a:r>
          </a:p>
        </p:txBody>
      </p:sp>
      <p:pic>
        <p:nvPicPr>
          <p:cNvPr id="6" name="Conclusion_Robot_Img" descr="image.jpg"/>
          <p:cNvPicPr>
            <a:picLocks noChangeAspect="1"/>
          </p:cNvPicPr>
          <p:nvPr/>
        </p:nvPicPr>
        <p:blipFill>
          <a:blip r:embed="rId2"/>
          <a:stretch>
            <a:fillRect/>
          </a:stretch>
        </p:blipFill>
        <p:spPr>
          <a:xfrm>
            <a:off x="6355080" y="1261872"/>
            <a:ext cx="2423160" cy="1874519"/>
          </a:xfrm>
          <a:prstGeom prst="rect">
            <a:avLst/>
          </a:prstGeom>
        </p:spPr>
      </p:pic>
      <p:sp>
        <p:nvSpPr>
          <p:cNvPr id="7" name="Conclusion_Robot_Cap"/>
          <p:cNvSpPr txBox="1"/>
          <p:nvPr/>
        </p:nvSpPr>
        <p:spPr>
          <a:xfrm>
            <a:off x="6355080" y="3163824"/>
            <a:ext cx="2423160" cy="201168"/>
          </a:xfrm>
          <a:prstGeom prst="rect">
            <a:avLst/>
          </a:prstGeom>
          <a:noFill/>
        </p:spPr>
        <p:txBody>
          <a:bodyPr wrap="square" lIns="0" rIns="0" tIns="0" bIns="0">
            <a:spAutoFit/>
          </a:bodyPr>
          <a:lstStyle/>
          <a:p>
            <a:pPr algn="ctr">
              <a:lnSpc>
                <a:spcPct val="114000"/>
              </a:lnSpc>
              <a:spcBef>
                <a:spcPts val="0"/>
              </a:spcBef>
              <a:spcAft>
                <a:spcPts val="200"/>
              </a:spcAft>
              <a:defRPr sz="850" b="0" i="1">
                <a:solidFill>
                  <a:srgbClr val="64748B"/>
                </a:solidFill>
                <a:latin typeface="Calisto MT"/>
              </a:defRPr>
            </a:pPr>
            <a:r>
              <a:t>Figure 5.1: Fully Integrated Mobile Robot</a:t>
            </a:r>
          </a:p>
        </p:txBody>
      </p:sp>
      <p:sp>
        <p:nvSpPr>
          <p:cNvPr id="8" name="Conclusion_Milestones_Text"/>
          <p:cNvSpPr txBox="1"/>
          <p:nvPr/>
        </p:nvSpPr>
        <p:spPr>
          <a:xfrm>
            <a:off x="8961120" y="1261872"/>
            <a:ext cx="2423160" cy="2057400"/>
          </a:xfrm>
          <a:prstGeom prst="rect">
            <a:avLst/>
          </a:prstGeom>
          <a:noFill/>
        </p:spPr>
        <p:txBody>
          <a:bodyPr wrap="square" lIns="0" rIns="0" tIns="0" bIns="0">
            <a:spAutoFit/>
          </a:bodyPr>
          <a:lstStyle/>
          <a:p>
            <a:pPr algn="l">
              <a:lnSpc>
                <a:spcPct val="114000"/>
              </a:lnSpc>
              <a:spcBef>
                <a:spcPts val="0"/>
              </a:spcBef>
              <a:spcAft>
                <a:spcPts val="300"/>
              </a:spcAft>
              <a:defRPr sz="950" b="1" i="0">
                <a:solidFill>
                  <a:srgbClr val="B8860B"/>
                </a:solidFill>
                <a:latin typeface="Calisto MT"/>
              </a:defRPr>
            </a:pPr>
            <a:r>
              <a:t>PROJECT IMPACT &amp; REACH:</a:t>
            </a:r>
          </a:p>
          <a:p>
            <a:pPr algn="l">
              <a:lnSpc>
                <a:spcPct val="112000"/>
              </a:lnSpc>
              <a:spcAft>
                <a:spcPts val="400"/>
              </a:spcAft>
            </a:pPr>
            <a:r>
              <a:rPr sz="880" b="1">
                <a:solidFill>
                  <a:srgbClr val="002060"/>
                </a:solidFill>
                <a:latin typeface="Calisto MT"/>
              </a:rPr>
              <a:t>• Zero Cloud Dependency: </a:t>
            </a:r>
            <a:r>
              <a:rPr sz="880" b="0">
                <a:solidFill>
                  <a:srgbClr val="334155"/>
                </a:solidFill>
                <a:latin typeface="Calisto MT"/>
              </a:rPr>
              <a:t>Complete privacy, security, and offline field reliability</a:t>
            </a:r>
          </a:p>
          <a:p>
            <a:pPr algn="l">
              <a:lnSpc>
                <a:spcPct val="112000"/>
              </a:lnSpc>
              <a:spcAft>
                <a:spcPts val="400"/>
              </a:spcAft>
            </a:pPr>
            <a:r>
              <a:rPr sz="880" b="1">
                <a:solidFill>
                  <a:srgbClr val="002060"/>
                </a:solidFill>
                <a:latin typeface="Calisto MT"/>
              </a:rPr>
              <a:t>• Low-Cost Platform: </a:t>
            </a:r>
            <a:r>
              <a:rPr sz="880" b="0">
                <a:solidFill>
                  <a:srgbClr val="334155"/>
                </a:solidFill>
                <a:latin typeface="Calisto MT"/>
              </a:rPr>
              <a:t>Accessible edge robotics under modest computing budgets</a:t>
            </a:r>
          </a:p>
          <a:p>
            <a:pPr algn="l">
              <a:lnSpc>
                <a:spcPct val="112000"/>
              </a:lnSpc>
              <a:spcAft>
                <a:spcPts val="0"/>
              </a:spcAft>
            </a:pPr>
            <a:r>
              <a:rPr sz="880" b="1">
                <a:solidFill>
                  <a:srgbClr val="002060"/>
                </a:solidFill>
                <a:latin typeface="Calisto MT"/>
              </a:rPr>
              <a:t>• Industry Standards: </a:t>
            </a:r>
            <a:r>
              <a:rPr sz="880" b="0">
                <a:solidFill>
                  <a:srgbClr val="334155"/>
                </a:solidFill>
                <a:latin typeface="Calisto MT"/>
              </a:rPr>
              <a:t>100% compliant with ISO 15066 and ROS REP-103/105</a:t>
            </a:r>
          </a:p>
        </p:txBody>
      </p:sp>
      <p:sp>
        <p:nvSpPr>
          <p:cNvPr id="9" name="Conclusion_Demo_Text"/>
          <p:cNvSpPr txBox="1"/>
          <p:nvPr/>
        </p:nvSpPr>
        <p:spPr>
          <a:xfrm>
            <a:off x="6355080" y="3429000"/>
            <a:ext cx="5029200" cy="2057400"/>
          </a:xfrm>
          <a:prstGeom prst="rect">
            <a:avLst/>
          </a:prstGeom>
          <a:noFill/>
        </p:spPr>
        <p:txBody>
          <a:bodyPr wrap="square" lIns="0" rIns="0" tIns="0" bIns="0">
            <a:spAutoFit/>
          </a:bodyPr>
          <a:lstStyle/>
          <a:p>
            <a:pPr algn="l">
              <a:lnSpc>
                <a:spcPct val="114000"/>
              </a:lnSpc>
              <a:spcBef>
                <a:spcPts val="0"/>
              </a:spcBef>
              <a:spcAft>
                <a:spcPts val="300"/>
              </a:spcAft>
              <a:defRPr sz="950" b="1" i="0">
                <a:solidFill>
                  <a:srgbClr val="B8860B"/>
                </a:solidFill>
                <a:latin typeface="Calisto MT"/>
              </a:defRPr>
            </a:pPr>
            <a:r>
              <a:t>RECOMMENDATIONS FOR FUTURE WORK:</a:t>
            </a:r>
          </a:p>
          <a:p>
            <a:pPr algn="l">
              <a:lnSpc>
                <a:spcPct val="112000"/>
              </a:lnSpc>
              <a:spcAft>
                <a:spcPts val="250"/>
              </a:spcAft>
            </a:pPr>
            <a:r>
              <a:rPr sz="880" b="1">
                <a:solidFill>
                  <a:srgbClr val="002060"/>
                </a:solidFill>
                <a:latin typeface="Calisto MT"/>
              </a:rPr>
              <a:t>• Edge NPU Acceleration: </a:t>
            </a:r>
            <a:r>
              <a:rPr sz="880" b="0">
                <a:solidFill>
                  <a:srgbClr val="334155"/>
                </a:solidFill>
                <a:latin typeface="Calisto MT"/>
              </a:rPr>
              <a:t>Add an M.2 Neural Processing Unit (Hailo-8) to run face recognition, hand gestures, and body tracking concurrently at 30 FPS.</a:t>
            </a:r>
          </a:p>
          <a:p>
            <a:pPr algn="l">
              <a:lnSpc>
                <a:spcPct val="112000"/>
              </a:lnSpc>
              <a:spcAft>
                <a:spcPts val="250"/>
              </a:spcAft>
            </a:pPr>
            <a:r>
              <a:rPr sz="880" b="1">
                <a:solidFill>
                  <a:srgbClr val="002060"/>
                </a:solidFill>
                <a:latin typeface="Calisto MT"/>
              </a:rPr>
              <a:t>• Social Navigation Costmaps: </a:t>
            </a:r>
            <a:r>
              <a:rPr sz="880" b="0">
                <a:solidFill>
                  <a:srgbClr val="334155"/>
                </a:solidFill>
                <a:latin typeface="Calisto MT"/>
              </a:rPr>
              <a:t>Integrate human trajectory forecasts directly into Nav2 costmaps for proactive deceleration and smooth social yielding.</a:t>
            </a:r>
          </a:p>
          <a:p>
            <a:pPr algn="l">
              <a:lnSpc>
                <a:spcPct val="112000"/>
              </a:lnSpc>
              <a:spcAft>
                <a:spcPts val="250"/>
              </a:spcAft>
            </a:pPr>
            <a:r>
              <a:rPr sz="880" b="1">
                <a:solidFill>
                  <a:srgbClr val="002060"/>
                </a:solidFill>
                <a:latin typeface="Calisto MT"/>
              </a:rPr>
              <a:t>• High-Speed PCIe NVMe Storage: </a:t>
            </a:r>
            <a:r>
              <a:rPr sz="880" b="0">
                <a:solidFill>
                  <a:srgbClr val="334155"/>
                </a:solidFill>
                <a:latin typeface="Calisto MT"/>
              </a:rPr>
              <a:t>Equip the Pi 5 with an NVMe SSD to record full-rate video streams and sensor logs without SD card bottlenecks.</a:t>
            </a:r>
          </a:p>
          <a:p>
            <a:pPr algn="l">
              <a:lnSpc>
                <a:spcPct val="112000"/>
              </a:lnSpc>
              <a:spcAft>
                <a:spcPts val="0"/>
              </a:spcAft>
            </a:pPr>
            <a:r>
              <a:rPr sz="880" b="1">
                <a:solidFill>
                  <a:srgbClr val="002060"/>
                </a:solidFill>
                <a:latin typeface="Calisto MT"/>
              </a:rPr>
              <a:t>• Multi-Sensor Redundancy: </a:t>
            </a:r>
            <a:r>
              <a:rPr sz="880" b="0">
                <a:solidFill>
                  <a:srgbClr val="334155"/>
                </a:solidFill>
                <a:latin typeface="Calisto MT"/>
              </a:rPr>
              <a:t>Add ultrasonic sonar or depth cameras to detect transparent glass walls and low obstacles below the 2D LiDAR plane.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03504" y="320040"/>
            <a:ext cx="10972800" cy="548640"/>
          </a:xfrm>
        </p:spPr>
        <p:txBody>
          <a:bodyPr/>
          <a:lstStyle/>
          <a:p>
            <a:pPr algn="ctr">
              <a:lnSpc>
                <a:spcPct val="114000"/>
              </a:lnSpc>
              <a:spcBef>
                <a:spcPts val="0"/>
              </a:spcBef>
              <a:spcAft>
                <a:spcPts val="200"/>
              </a:spcAft>
              <a:defRPr sz="2400" b="1" i="0">
                <a:solidFill>
                  <a:srgbClr val="002060"/>
                </a:solidFill>
                <a:latin typeface="Calisto MT"/>
              </a:defRPr>
            </a:pPr>
            <a:r>
              <a:t>KEY REFERENCES (IEEE FORMAT)</a:t>
            </a:r>
          </a:p>
        </p:txBody>
      </p:sp>
      <p:sp>
        <p:nvSpPr>
          <p:cNvPr id="3" name="Content Placeholder 2"/>
          <p:cNvSpPr>
            <a:spLocks noGrp="1"/>
          </p:cNvSpPr>
          <p:nvPr>
            <p:ph idx="1"/>
          </p:nvPr>
        </p:nvSpPr>
        <p:spPr/>
        <p:txBody>
          <a:bodyPr/>
          <a:lstStyle/>
          <a:p/>
        </p:txBody>
      </p:sp>
      <p:sp>
        <p:nvSpPr>
          <p:cNvPr id="4" name="Ref_Subhead"/>
          <p:cNvSpPr txBox="1"/>
          <p:nvPr/>
        </p:nvSpPr>
        <p:spPr>
          <a:xfrm>
            <a:off x="777240" y="960120"/>
            <a:ext cx="10634472" cy="228600"/>
          </a:xfrm>
          <a:prstGeom prst="rect">
            <a:avLst/>
          </a:prstGeom>
          <a:noFill/>
        </p:spPr>
        <p:txBody>
          <a:bodyPr wrap="square" lIns="0" rIns="0" tIns="0" bIns="0">
            <a:spAutoFit/>
          </a:bodyPr>
          <a:lstStyle/>
          <a:p>
            <a:pPr algn="l">
              <a:lnSpc>
                <a:spcPct val="114000"/>
              </a:lnSpc>
              <a:spcBef>
                <a:spcPts val="0"/>
              </a:spcBef>
              <a:spcAft>
                <a:spcPts val="200"/>
              </a:spcAft>
              <a:defRPr sz="1100" b="1" i="0">
                <a:solidFill>
                  <a:srgbClr val="B8860B"/>
                </a:solidFill>
                <a:latin typeface="Calisto MT"/>
              </a:defRPr>
            </a:pPr>
            <a:r>
              <a:t>PRIMARY PEER-REVIEWED LITERATURE, ROBOTICS BENCHMARKS &amp; INTERNATIONAL STANDARDS</a:t>
            </a:r>
          </a:p>
        </p:txBody>
      </p:sp>
      <p:sp>
        <p:nvSpPr>
          <p:cNvPr id="5" name="Ref_FullWidth_Box"/>
          <p:cNvSpPr txBox="1"/>
          <p:nvPr/>
        </p:nvSpPr>
        <p:spPr>
          <a:xfrm>
            <a:off x="777240" y="1280160"/>
            <a:ext cx="10634472" cy="4663440"/>
          </a:xfrm>
          <a:prstGeom prst="rect">
            <a:avLst/>
          </a:prstGeom>
          <a:noFill/>
        </p:spPr>
        <p:txBody>
          <a:bodyPr wrap="square" lIns="18288" rIns="18288" tIns="18288" bIns="18288">
            <a:spAutoFit/>
          </a:bodyPr>
          <a:lstStyle/>
          <a:p>
            <a:pPr algn="l">
              <a:lnSpc>
                <a:spcPct val="115000"/>
              </a:lnSpc>
              <a:spcAft>
                <a:spcPts val="1300"/>
              </a:spcAft>
            </a:pPr>
            <a:r>
              <a:rPr sz="1250" b="1">
                <a:solidFill>
                  <a:srgbClr val="B8860B"/>
                </a:solidFill>
                <a:latin typeface="Calisto MT"/>
              </a:rPr>
              <a:t>[1] </a:t>
            </a:r>
            <a:r>
              <a:rPr sz="1200" b="1">
                <a:solidFill>
                  <a:srgbClr val="002060"/>
                </a:solidFill>
                <a:latin typeface="Calisto MT"/>
              </a:rPr>
              <a:t>A. Tsitos, M. Dagioglou, and T. Giannakopoulos, </a:t>
            </a:r>
            <a:r>
              <a:rPr sz="1150" i="1">
                <a:solidFill>
                  <a:srgbClr val="1E293B"/>
                </a:solidFill>
                <a:latin typeface="Calisto MT"/>
              </a:rPr>
              <a:t>"Real-Time Feasibility of a Human Intention Method Evaluated Through a Competitive Human-Robot Reaching Game," </a:t>
            </a:r>
            <a:r>
              <a:rPr sz="1100" b="0">
                <a:solidFill>
                  <a:srgbClr val="475569"/>
                </a:solidFill>
                <a:latin typeface="Calisto MT"/>
              </a:rPr>
              <a:t>IEEE Transactions on Human-Machine Systems, vol. 52, no. 5, pp. 912–922, Oct. 2022. DOI: 10.1109/THMS.2022.3179574.</a:t>
            </a:r>
          </a:p>
          <a:p>
            <a:pPr algn="l">
              <a:lnSpc>
                <a:spcPct val="115000"/>
              </a:lnSpc>
              <a:spcAft>
                <a:spcPts val="1300"/>
              </a:spcAft>
            </a:pPr>
            <a:r>
              <a:rPr sz="1250" b="1">
                <a:solidFill>
                  <a:srgbClr val="B8860B"/>
                </a:solidFill>
                <a:latin typeface="Calisto MT"/>
              </a:rPr>
              <a:t>[2] </a:t>
            </a:r>
            <a:r>
              <a:rPr sz="1200" b="1">
                <a:solidFill>
                  <a:srgbClr val="002060"/>
                </a:solidFill>
                <a:latin typeface="Calisto MT"/>
              </a:rPr>
              <a:t>J. A. Mahmud, </a:t>
            </a:r>
            <a:r>
              <a:rPr sz="1150" i="1">
                <a:solidFill>
                  <a:srgbClr val="1E293B"/>
                </a:solidFill>
                <a:latin typeface="Calisto MT"/>
              </a:rPr>
              <a:t>"3D Gesture Recognition and Adaptation for Human–Robot Interaction," </a:t>
            </a:r>
            <a:r>
              <a:rPr sz="1100" b="0">
                <a:solidFill>
                  <a:srgbClr val="475569"/>
                </a:solidFill>
                <a:latin typeface="Calisto MT"/>
              </a:rPr>
              <a:t>IEEE Robotics and Automation Letters, vol. 7, no. 2, pp. 4831–4838, Apr. 2022. DOI: 10.1109/LRA.2022.3151406.</a:t>
            </a:r>
          </a:p>
          <a:p>
            <a:pPr algn="l">
              <a:lnSpc>
                <a:spcPct val="115000"/>
              </a:lnSpc>
              <a:spcAft>
                <a:spcPts val="1300"/>
              </a:spcAft>
            </a:pPr>
            <a:r>
              <a:rPr sz="1250" b="1">
                <a:solidFill>
                  <a:srgbClr val="B8860B"/>
                </a:solidFill>
                <a:latin typeface="Calisto MT"/>
              </a:rPr>
              <a:t>[3] </a:t>
            </a:r>
            <a:r>
              <a:rPr sz="1200" b="1">
                <a:solidFill>
                  <a:srgbClr val="002060"/>
                </a:solidFill>
                <a:latin typeface="Calisto MT"/>
              </a:rPr>
              <a:t>Y. Li, H. Zhang, G. Yang, and S. Wang, </a:t>
            </a:r>
            <a:r>
              <a:rPr sz="1150" i="1">
                <a:solidFill>
                  <a:srgbClr val="1E293B"/>
                </a:solidFill>
                <a:latin typeface="Calisto MT"/>
              </a:rPr>
              <a:t>"Safe and Efficient Motion Planning for Material Transportation Robots Considering Intention Prediction of Obstacles," </a:t>
            </a:r>
            <a:r>
              <a:rPr sz="1100" b="0">
                <a:solidFill>
                  <a:srgbClr val="475569"/>
                </a:solidFill>
                <a:latin typeface="Calisto MT"/>
              </a:rPr>
              <a:t>IEEE Access, vol. 11, pp. 24819–24831, Mar. 2023. DOI: 10.1109/ACCESS.2023.3256031.</a:t>
            </a:r>
          </a:p>
          <a:p>
            <a:pPr algn="l">
              <a:lnSpc>
                <a:spcPct val="115000"/>
              </a:lnSpc>
              <a:spcAft>
                <a:spcPts val="1300"/>
              </a:spcAft>
            </a:pPr>
            <a:r>
              <a:rPr sz="1250" b="1">
                <a:solidFill>
                  <a:srgbClr val="B8860B"/>
                </a:solidFill>
                <a:latin typeface="Calisto MT"/>
              </a:rPr>
              <a:t>[4] </a:t>
            </a:r>
            <a:r>
              <a:rPr sz="1200" b="1">
                <a:solidFill>
                  <a:srgbClr val="002060"/>
                </a:solidFill>
                <a:latin typeface="Calisto MT"/>
              </a:rPr>
              <a:t>ISO/TS 15066:2016, </a:t>
            </a:r>
            <a:r>
              <a:rPr sz="1150" i="1">
                <a:solidFill>
                  <a:srgbClr val="1E293B"/>
                </a:solidFill>
                <a:latin typeface="Calisto MT"/>
              </a:rPr>
              <a:t>"Robots and Robotic Devices — Collaborative Robots," </a:t>
            </a:r>
            <a:r>
              <a:rPr sz="1100" b="0">
                <a:solidFill>
                  <a:srgbClr val="475569"/>
                </a:solidFill>
                <a:latin typeface="Calisto MT"/>
              </a:rPr>
              <a:t>International Organization for Standardization (ISO), Technical Specification, Geneva, Switzerland, 2016.</a:t>
            </a:r>
          </a:p>
          <a:p>
            <a:pPr algn="l">
              <a:lnSpc>
                <a:spcPct val="115000"/>
              </a:lnSpc>
              <a:spcAft>
                <a:spcPts val="1300"/>
              </a:spcAft>
            </a:pPr>
            <a:r>
              <a:rPr sz="1250" b="1">
                <a:solidFill>
                  <a:srgbClr val="B8860B"/>
                </a:solidFill>
                <a:latin typeface="Calisto MT"/>
              </a:rPr>
              <a:t>[5] </a:t>
            </a:r>
            <a:r>
              <a:rPr sz="1200" b="1">
                <a:solidFill>
                  <a:srgbClr val="002060"/>
                </a:solidFill>
                <a:latin typeface="Calisto MT"/>
              </a:rPr>
              <a:t>S. Macenski, T. Foote, B. Gerkey, C. Lalancette, and W. Woodall, </a:t>
            </a:r>
            <a:r>
              <a:rPr sz="1150" i="1">
                <a:solidFill>
                  <a:srgbClr val="1E293B"/>
                </a:solidFill>
                <a:latin typeface="Calisto MT"/>
              </a:rPr>
              <a:t>"Robot Operating System 2: Design, Architecture, and Uses in the Wild," </a:t>
            </a:r>
            <a:r>
              <a:rPr sz="1100" b="0">
                <a:solidFill>
                  <a:srgbClr val="475569"/>
                </a:solidFill>
                <a:latin typeface="Calisto MT"/>
              </a:rPr>
              <a:t>Science Robotics, vol. 7, no. 66, Art. no. eabm6074, May 2022. DOI: 10.1126/scirobotics.abm6074.</a:t>
            </a:r>
          </a:p>
          <a:p>
            <a:pPr algn="l">
              <a:lnSpc>
                <a:spcPct val="115000"/>
              </a:lnSpc>
              <a:spcAft>
                <a:spcPts val="1300"/>
              </a:spcAft>
            </a:pPr>
            <a:r>
              <a:rPr sz="1250" b="1">
                <a:solidFill>
                  <a:srgbClr val="B8860B"/>
                </a:solidFill>
                <a:latin typeface="Calisto MT"/>
              </a:rPr>
              <a:t>[6] </a:t>
            </a:r>
            <a:r>
              <a:rPr sz="1200" b="1">
                <a:solidFill>
                  <a:srgbClr val="002060"/>
                </a:solidFill>
                <a:latin typeface="Calisto MT"/>
              </a:rPr>
              <a:t>F. Zhang, V. Bazarevsky, A. Vakunov, A. Tkachenka, G. Sung, C.-L. Chang, and M. Grundmann, </a:t>
            </a:r>
            <a:r>
              <a:rPr sz="1150" i="1">
                <a:solidFill>
                  <a:srgbClr val="1E293B"/>
                </a:solidFill>
                <a:latin typeface="Calisto MT"/>
              </a:rPr>
              <a:t>"MediaPipe Hands: On-Device Real-Time Hand Tracking," </a:t>
            </a:r>
            <a:r>
              <a:rPr sz="1100" b="0">
                <a:solidFill>
                  <a:srgbClr val="475569"/>
                </a:solidFill>
                <a:latin typeface="Calisto MT"/>
              </a:rPr>
              <a:t>arXiv preprint arXiv:2006.10214, presented at CVPR Workshop on Computer Vision for AR/VR, 2020.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248</TotalTime>
  <Words>9</Words>
  <Application>Microsoft Office PowerPoint</Application>
  <PresentationFormat>Widescreen</PresentationFormat>
  <Paragraphs>3</Paragraphs>
  <Slides>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Arial</vt:lpstr>
      <vt:lpstr>Calibri</vt:lpstr>
      <vt:lpstr>Calibri Light</vt:lpstr>
      <vt:lpstr>Gill Sans MT</vt:lpstr>
      <vt:lpstr>Wingdings</vt:lpstr>
      <vt:lpstr>Office Theme</vt:lpstr>
      <vt:lpstr>     </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dc:creator>
  <cp:lastModifiedBy>Owusu Agyeman Antwi</cp:lastModifiedBy>
  <cp:revision>212</cp:revision>
  <dcterms:created xsi:type="dcterms:W3CDTF">2020-12-21T23:45:00Z</dcterms:created>
  <dcterms:modified xsi:type="dcterms:W3CDTF">2025-12-05T09:20:25Z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6E3DABCEAFBD474A891E53D5B3EEA2E6</vt:lpwstr>
  </property>
  <property fmtid="{D5CDD505-2E9C-101B-9397-08002B2CF9AE}" pid="3" name="KSOProductBuildVer">
    <vt:lpwstr>1033-11.2.0.11486</vt:lpwstr>
  </property>
</Properties>
</file>