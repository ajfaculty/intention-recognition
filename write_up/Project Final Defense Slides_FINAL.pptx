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7"/>
  </p:notesMasterIdLst>
  <p:sldIdLst>
    <p:sldId id="257" r:id="rId2"/>
    <p:sldId id="354" r:id="rId3"/>
    <p:sldId id="555" r:id="rId4"/>
    <p:sldId id="558" r:id="rId5"/>
    <p:sldId id="561" r:id="rId6"/>
    <p:sldId id="562" r:id="rId13"/>
    <p:sldId id="563" r:id="rId14"/>
    <p:sldId id="564" r:id="rId15"/>
    <p:sldId id="565" r:id="rId16"/>
    <p:sldId id="566" r:id="rId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AFBEE616-86D3-4099-A968-B4A6BDE18D0F}">
          <p14:sldIdLst>
            <p14:sldId id="257"/>
            <p14:sldId id="354"/>
            <p14:sldId id="555"/>
            <p14:sldId id="558"/>
            <p14:sldId id="561"/>
          </p14:sldIdLst>
        </p14:section>
        <p14:section name="Untitled Section" id="{D22B2DA1-3DFA-46D2-BA1D-DAD7CC7F72F2}">
          <p14:sldIdLst/>
        </p14:section>
        <p14:section name="Untitled Section" id="{5930E777-D3D8-4E75-983C-AF214C42B144}">
          <p14:sldIdLst/>
        </p14:section>
      </p14:sectionLst>
    </p:ext>
    <p:ext uri="{EFAFB233-063F-42B5-8137-9DF3F51BA10A}">
      <p15:sldGuideLst xmlns:p15="http://schemas.microsoft.com/office/powerpoint/2012/main">
        <p15:guide id="1" orient="horz" pos="2199">
          <p15:clr>
            <a:srgbClr val="A4A3A4"/>
          </p15:clr>
        </p15:guide>
        <p15:guide id="2" pos="384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3DF9433-C4BD-03CD-4185-8F7C4220F16F}" name="Owusu Agyeman Antwi" initials="OA" userId="0c4d93facfc3ac5c"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CC"/>
    <a:srgbClr val="FFF9E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5179" autoAdjust="0"/>
  </p:normalViewPr>
  <p:slideViewPr>
    <p:cSldViewPr snapToGrid="0">
      <p:cViewPr varScale="1">
        <p:scale>
          <a:sx n="82" d="100"/>
          <a:sy n="82" d="100"/>
        </p:scale>
        <p:origin x="720" y="72"/>
      </p:cViewPr>
      <p:guideLst>
        <p:guide orient="horz" pos="2199"/>
        <p:guide pos="3840"/>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 Id="rId12" Type="http://schemas.microsoft.com/office/2018/10/relationships/authors" Target="authors.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B5482A5-FD59-4225-A350-DA787E19AAD6}" type="datetimeFigureOut">
              <a:rPr lang="en-US" smtClean="0"/>
              <a:t>12/5/2025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90E7C8E-9966-49AA-A950-642A59F8B087}" type="slidenum">
              <a:rPr lang="en-US" smtClean="0"/>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490E7C8E-9966-49AA-A950-642A59F8B087}" type="slidenum">
              <a:rPr lang="en-US" smtClean="0"/>
              <a:t>1</a:t>
            </a:fld>
            <a:endParaRPr lang="en-US"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fld id="{3D334C30-18F6-499E-B529-FBBBA5BA8601}" type="datetimeFigureOut">
              <a:rPr lang="en-US" smtClean="0"/>
              <a:t>12/5/2025</a:t>
            </a:fld>
            <a:endParaRPr lang="en-US"/>
          </a:p>
        </p:txBody>
      </p:sp>
      <p:sp>
        <p:nvSpPr>
          <p:cNvPr id="5" name="Footer Placeholder 4"/>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8610600" y="6356350"/>
            <a:ext cx="2743200" cy="365125"/>
          </a:xfrm>
          <a:prstGeom prst="rect">
            <a:avLst/>
          </a:prstGeom>
        </p:spPr>
        <p:txBody>
          <a:bodyPr/>
          <a:lstStyle/>
          <a:p>
            <a:fld id="{516EBCE5-9DE5-46EE-9318-4795EB416EE9}" type="slidenum">
              <a:rPr lang="en-US" smtClean="0"/>
              <a:t>‹#›</a:t>
            </a:fld>
            <a:endParaRPr lang="en-US"/>
          </a:p>
        </p:txBody>
      </p:sp>
      <p:sp>
        <p:nvSpPr>
          <p:cNvPr id="14" name="Content Placeholder 13"/>
          <p:cNvSpPr>
            <a:spLocks noGrp="1"/>
          </p:cNvSpPr>
          <p:nvPr>
            <p:ph sz="quarter" idx="13"/>
          </p:nvPr>
        </p:nvSpPr>
        <p:spPr>
          <a:xfrm>
            <a:off x="1712913" y="3832225"/>
            <a:ext cx="9186862" cy="1798638"/>
          </a:xfrm>
        </p:spPr>
        <p:txBody>
          <a:bodyPr/>
          <a:lstStyle>
            <a:lvl1pPr marL="0" indent="0">
              <a:buNone/>
              <a:defRPr/>
            </a:lvl1pPr>
          </a:lstStyle>
          <a:p>
            <a:pPr lvl="0"/>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p:cNvSpPr>
            <a:spLocks noGrp="1"/>
          </p:cNvSpPr>
          <p:nvPr>
            <p:ph type="dt" sz="half" idx="10"/>
          </p:nvPr>
        </p:nvSpPr>
        <p:spPr>
          <a:xfrm>
            <a:off x="609600" y="6356351"/>
            <a:ext cx="2844800" cy="365125"/>
          </a:xfrm>
          <a:prstGeom prst="rect">
            <a:avLst/>
          </a:prstGeom>
        </p:spPr>
        <p:txBody>
          <a:bodyPr/>
          <a:lstStyle/>
          <a:p>
            <a:fld id="{365C8B60-5CF0-444C-8758-FD6AA4E3BF27}" type="datetime1">
              <a:rPr lang="en-GB" smtClean="0"/>
              <a:t>05/12/2025</a:t>
            </a:fld>
            <a:endParaRPr lang="en-GB" dirty="0"/>
          </a:p>
        </p:txBody>
      </p:sp>
      <p:sp>
        <p:nvSpPr>
          <p:cNvPr id="5" name="Footer Placeholder 4"/>
          <p:cNvSpPr>
            <a:spLocks noGrp="1"/>
          </p:cNvSpPr>
          <p:nvPr>
            <p:ph type="ftr" sz="quarter" idx="11"/>
          </p:nvPr>
        </p:nvSpPr>
        <p:spPr>
          <a:xfrm>
            <a:off x="4165600" y="6356351"/>
            <a:ext cx="3860800" cy="365125"/>
          </a:xfrm>
          <a:prstGeom prst="rect">
            <a:avLst/>
          </a:prstGeom>
        </p:spPr>
        <p:txBody>
          <a:bodyPr/>
          <a:lstStyle/>
          <a:p>
            <a:r>
              <a:rPr lang="en-GB" dirty="0"/>
              <a:t>....Linking Learners Everywhere 2013 All Rights Reserved</a:t>
            </a:r>
          </a:p>
        </p:txBody>
      </p:sp>
      <p:sp>
        <p:nvSpPr>
          <p:cNvPr id="6" name="Slide Number Placeholder 5"/>
          <p:cNvSpPr>
            <a:spLocks noGrp="1"/>
          </p:cNvSpPr>
          <p:nvPr>
            <p:ph type="sldNum" sz="quarter" idx="12"/>
          </p:nvPr>
        </p:nvSpPr>
        <p:spPr>
          <a:xfrm>
            <a:off x="8737600" y="6356351"/>
            <a:ext cx="2844800" cy="365125"/>
          </a:xfrm>
          <a:prstGeom prst="rect">
            <a:avLst/>
          </a:prstGeom>
        </p:spPr>
        <p:txBody>
          <a:bodyPr/>
          <a:lstStyle/>
          <a:p>
            <a:fld id="{0DF291AF-424A-45FD-966C-A7A9D7595FCE}" type="slidenum">
              <a:rPr lang="en-GB" smtClean="0"/>
              <a:t>‹#›</a:t>
            </a:fld>
            <a:endParaRPr lang="en-GB"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 Id="rId4" Type="http://schemas.openxmlformats.org/officeDocument/2006/relationships/image" Target="../media/image1.png"/><Relationship Id="rId5"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FFFFCC">
            <a:alpha val="0"/>
          </a:srgbClr>
        </a:solidFill>
        <a:effectLst/>
      </p:bgPr>
    </p:bg>
    <p:spTree>
      <p:nvGrpSpPr>
        <p:cNvPr id="1" name=""/>
        <p:cNvGrpSpPr/>
        <p:nvPr/>
      </p:nvGrpSpPr>
      <p:grpSpPr>
        <a:xfrm>
          <a:off x="0" y="0"/>
          <a:ext cx="0" cy="0"/>
          <a:chOff x="0" y="0"/>
          <a:chExt cx="0" cy="0"/>
        </a:xfrm>
      </p:grpSpPr>
      <p:pic>
        <p:nvPicPr>
          <p:cNvPr id="8" name="Picture 7"/>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4038600" y="2334533"/>
            <a:ext cx="3309258" cy="3187020"/>
          </a:xfrm>
          <a:prstGeom prst="ellipse">
            <a:avLst/>
          </a:prstGeom>
          <a:ln>
            <a:noFill/>
          </a:ln>
          <a:effectLst>
            <a:softEdge rad="112500"/>
          </a:effectLst>
        </p:spPr>
      </p:pic>
      <p:sp>
        <p:nvSpPr>
          <p:cNvPr id="10" name="Rectangle 9"/>
          <p:cNvSpPr/>
          <p:nvPr userDrawn="1"/>
        </p:nvSpPr>
        <p:spPr>
          <a:xfrm>
            <a:off x="0" y="0"/>
            <a:ext cx="12192000" cy="6176963"/>
          </a:xfrm>
          <a:prstGeom prst="rect">
            <a:avLst/>
          </a:prstGeom>
          <a:solidFill>
            <a:srgbClr val="FFFFCC">
              <a:alpha val="86000"/>
            </a:srgb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Rectangle 12"/>
          <p:cNvSpPr/>
          <p:nvPr userDrawn="1"/>
        </p:nvSpPr>
        <p:spPr>
          <a:xfrm>
            <a:off x="0" y="0"/>
            <a:ext cx="9144000" cy="185738"/>
          </a:xfrm>
          <a:prstGeom prst="rec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p:cNvSpPr/>
          <p:nvPr userDrawn="1"/>
        </p:nvSpPr>
        <p:spPr>
          <a:xfrm>
            <a:off x="9144000" y="0"/>
            <a:ext cx="3048000" cy="185738"/>
          </a:xfrm>
          <a:prstGeom prst="rect">
            <a:avLst/>
          </a:prstGeom>
          <a:solidFill>
            <a:schemeClr val="accent4"/>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p:cNvSpPr/>
          <p:nvPr userDrawn="1"/>
        </p:nvSpPr>
        <p:spPr>
          <a:xfrm>
            <a:off x="0" y="6176963"/>
            <a:ext cx="12192000" cy="681037"/>
          </a:xfrm>
          <a:prstGeom prst="rec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 name="Picture 16"/>
          <p:cNvPicPr>
            <a:picLocks noChangeAspect="1"/>
          </p:cNvPicPr>
          <p:nvPr userDrawn="1"/>
        </p:nvPicPr>
        <p:blipFill>
          <a:blip r:embed="rId5" cstate="print"/>
          <a:stretch>
            <a:fillRect/>
          </a:stretch>
        </p:blipFill>
        <p:spPr>
          <a:xfrm>
            <a:off x="8210550" y="6176963"/>
            <a:ext cx="3981450" cy="684907"/>
          </a:xfrm>
          <a:prstGeom prst="rect">
            <a:avLst/>
          </a:prstGeom>
          <a:ln>
            <a:noFill/>
          </a:ln>
          <a:effectLst>
            <a:softEdge rad="112500"/>
          </a:effectLst>
        </p:spPr>
      </p:pic>
    </p:spTree>
  </p:cSld>
  <p:clrMap bg1="dk1" tx1="lt1" bg2="dk2" tx2="lt2" accent1="accent1" accent2="accent2" accent3="accent3" accent4="accent4" accent5="accent5" accent6="accent6" hlink="hlink" folHlink="folHlink"/>
  <p:sldLayoutIdLst>
    <p:sldLayoutId id="2147483649" r:id="rId1"/>
    <p:sldLayoutId id="2147483650" r:id="rId2"/>
  </p:sldLayoutIdLst>
  <p:txStyles>
    <p:titleStyle>
      <a:lvl1pPr algn="l" defTabSz="914400" rtl="0" eaLnBrk="1" latinLnBrk="0" hangingPunct="1">
        <a:lnSpc>
          <a:spcPct val="90000"/>
        </a:lnSpc>
        <a:spcBef>
          <a:spcPct val="0"/>
        </a:spcBef>
        <a:buNone/>
        <a:defRPr sz="4400" kern="1200">
          <a:solidFill>
            <a:schemeClr val="bg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bg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jpg"/><Relationship Id="rId3" Type="http://schemas.openxmlformats.org/officeDocument/2006/relationships/image" Target="../media/image4.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jpg"/><Relationship Id="rId3" Type="http://schemas.openxmlformats.org/officeDocument/2006/relationships/image" Target="../media/image10.jpg"/><Relationship Id="rId4" Type="http://schemas.openxmlformats.org/officeDocument/2006/relationships/image" Target="../media/image11.jpg"/><Relationship Id="rId5" Type="http://schemas.openxmlformats.org/officeDocument/2006/relationships/image" Target="../media/image12.jpg"/><Relationship Id="rId6" Type="http://schemas.openxmlformats.org/officeDocument/2006/relationships/image" Target="../media/image13.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4.jpg"/><Relationship Id="rId3" Type="http://schemas.openxmlformats.org/officeDocument/2006/relationships/image" Target="../media/image15.jp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p:cNvSpPr/>
          <p:nvPr/>
        </p:nvSpPr>
        <p:spPr>
          <a:xfrm>
            <a:off x="0" y="0"/>
            <a:ext cx="5573486" cy="6858000"/>
          </a:xfrm>
          <a:prstGeom prst="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Rectangle 4"/>
          <p:cNvSpPr/>
          <p:nvPr/>
        </p:nvSpPr>
        <p:spPr>
          <a:xfrm>
            <a:off x="5573486" y="0"/>
            <a:ext cx="348343" cy="6858001"/>
          </a:xfrm>
          <a:prstGeom prst="rect">
            <a:avLst/>
          </a:prstGeom>
          <a:solidFill>
            <a:schemeClr val="accent4"/>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Rectangle 3"/>
          <p:cNvSpPr/>
          <p:nvPr/>
        </p:nvSpPr>
        <p:spPr>
          <a:xfrm>
            <a:off x="5921654" y="0"/>
            <a:ext cx="6270040" cy="6858000"/>
          </a:xfrm>
          <a:prstGeom prst="rec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wrap="square" lIns="365760" rIns="365760" tIns="320040" bIns="320040"/>
          <a:lstStyle/>
          <a:p>
            <a:pPr algn="ctr">
              <a:lnSpc>
                <a:spcPct val="115000"/>
              </a:lnSpc>
              <a:spcAft>
                <a:spcPts val="100"/>
              </a:spcAft>
              <a:defRPr sz="1400" b="1" i="0">
                <a:solidFill>
                  <a:srgbClr val="FDB813"/>
                </a:solidFill>
                <a:latin typeface="Calisto MT"/>
              </a:defRPr>
            </a:pPr>
            <a:r>
              <a:t>FACULTY OF ENGINEERING</a:t>
            </a:r>
            <a:endParaRPr lang="en-US" dirty="0">
              <a:solidFill>
                <a:schemeClr val="tx1"/>
              </a:solidFill>
              <a:latin typeface="Gill Sans MT" panose="020B0502020104020203" pitchFamily="34" charset="0"/>
              <a:cs typeface="Gill Sans MT" panose="020B0502020104020203" pitchFamily="34" charset="0"/>
            </a:endParaRPr>
          </a:p>
          <a:p>
            <a:pPr algn="ctr">
              <a:lnSpc>
                <a:spcPct val="115000"/>
              </a:lnSpc>
              <a:spcAft>
                <a:spcPts val="1400"/>
              </a:spcAft>
              <a:defRPr sz="1300" b="1" i="0">
                <a:solidFill>
                  <a:srgbClr val="E2E8F0"/>
                </a:solidFill>
                <a:latin typeface="Calisto MT"/>
              </a:defRPr>
            </a:pPr>
            <a:r>
              <a:t>DEPARTMENT OF COMPUTER ENGINEERING</a:t>
            </a:r>
          </a:p>
          <a:p>
            <a:pPr algn="ctr">
              <a:lnSpc>
                <a:spcPct val="115000"/>
              </a:lnSpc>
              <a:spcAft>
                <a:spcPts val="1200"/>
              </a:spcAft>
              <a:defRPr sz="1800" b="1" i="0">
                <a:solidFill>
                  <a:srgbClr val="FFFFFF"/>
                </a:solidFill>
                <a:latin typeface="Calisto MT"/>
              </a:defRPr>
            </a:pPr>
            <a:r>
              <a:t>DEVELOPMENT AND IMPLEMENTATION OF A ROBOTIC APPLICATION FOR HUMAN INTENTION RECOGNITION USING MOTION AND HAND GESTURE</a:t>
            </a:r>
          </a:p>
          <a:p>
            <a:pPr algn="ctr">
              <a:lnSpc>
                <a:spcPct val="115000"/>
              </a:lnSpc>
              <a:spcAft>
                <a:spcPts val="1800"/>
              </a:spcAft>
              <a:defRPr sz="1200" b="0" i="1">
                <a:solidFill>
                  <a:srgbClr val="E2E8F0"/>
                </a:solidFill>
                <a:latin typeface="Calisto MT"/>
              </a:defRPr>
            </a:pPr>
            <a:r>
              <a:t>A Final Project Report Submitted in Partial Fulfillment of the Requirements for the Degree of Bachelor of Science in Computer Engineering</a:t>
            </a:r>
          </a:p>
          <a:p>
            <a:pPr algn="ctr">
              <a:lnSpc>
                <a:spcPct val="115000"/>
              </a:lnSpc>
              <a:spcAft>
                <a:spcPts val="200"/>
              </a:spcAft>
              <a:defRPr sz="1200" b="1" i="0">
                <a:solidFill>
                  <a:srgbClr val="FDB813"/>
                </a:solidFill>
                <a:latin typeface="Calisto MT"/>
              </a:defRPr>
            </a:pPr>
            <a:r>
              <a:t>PRESENTATION BY:</a:t>
            </a:r>
          </a:p>
          <a:p>
            <a:pPr algn="ctr">
              <a:lnSpc>
                <a:spcPct val="115000"/>
              </a:lnSpc>
              <a:spcAft>
                <a:spcPts val="200"/>
              </a:spcAft>
              <a:defRPr sz="1350" b="1" i="0">
                <a:solidFill>
                  <a:srgbClr val="FFFFFF"/>
                </a:solidFill>
                <a:latin typeface="Calisto MT"/>
              </a:defRPr>
            </a:pPr>
            <a:r>
              <a:t>ELEANA OSEI OWUSU — 4121230024</a:t>
            </a:r>
          </a:p>
          <a:p>
            <a:pPr algn="ctr">
              <a:lnSpc>
                <a:spcPct val="115000"/>
              </a:lnSpc>
              <a:spcAft>
                <a:spcPts val="1600"/>
              </a:spcAft>
              <a:defRPr sz="1350" b="1" i="0">
                <a:solidFill>
                  <a:srgbClr val="FFFFFF"/>
                </a:solidFill>
                <a:latin typeface="Calisto MT"/>
              </a:defRPr>
            </a:pPr>
            <a:r>
              <a:t>JOEL NII ADJETEY AHULU — 4121230020</a:t>
            </a:r>
          </a:p>
          <a:p>
            <a:pPr algn="ctr">
              <a:lnSpc>
                <a:spcPct val="115000"/>
              </a:lnSpc>
              <a:spcAft>
                <a:spcPts val="200"/>
              </a:spcAft>
              <a:defRPr sz="1300" b="1" i="0">
                <a:solidFill>
                  <a:srgbClr val="FDB813"/>
                </a:solidFill>
                <a:latin typeface="Calisto MT"/>
              </a:defRPr>
            </a:pPr>
            <a:r>
              <a:t>SUPERVISOR: MR. MICHEAL XENYA</a:t>
            </a:r>
          </a:p>
          <a:p>
            <a:pPr algn="ctr">
              <a:lnSpc>
                <a:spcPct val="115000"/>
              </a:lnSpc>
              <a:spcAft>
                <a:spcPts val="0"/>
              </a:spcAft>
              <a:defRPr sz="1150" b="0" i="0">
                <a:solidFill>
                  <a:srgbClr val="E2E8F0"/>
                </a:solidFill>
                <a:latin typeface="Calisto MT"/>
              </a:defRPr>
            </a:pPr>
            <a:r>
              <a:t>ACADEMIC YEAR: 2025/2026</a:t>
            </a:r>
          </a:p>
        </p:txBody>
      </p:sp>
      <p:sp>
        <p:nvSpPr>
          <p:cNvPr id="2" name="Title 1"/>
          <p:cNvSpPr>
            <a:spLocks noGrp="1"/>
          </p:cNvSpPr>
          <p:nvPr>
            <p:ph type="ctrTitle"/>
          </p:nvPr>
        </p:nvSpPr>
        <p:spPr>
          <a:xfrm>
            <a:off x="5921829" y="5943600"/>
            <a:ext cx="6008913" cy="575187"/>
          </a:xfrm>
        </p:spPr>
        <p:txBody>
          <a:bodyPr>
            <a:normAutofit fontScale="90000"/>
          </a:bodyPr>
          <a:lstStyle/>
          <a:p>
            <a:pPr lvl="0" fontAlgn="base">
              <a:lnSpc>
                <a:spcPct val="200000"/>
              </a:lnSpc>
              <a:spcBef>
                <a:spcPts val="0"/>
              </a:spcBef>
              <a:buClr>
                <a:srgbClr val="000000"/>
              </a:buClr>
              <a:buSzPts val="1100"/>
            </a:pPr>
            <a:endParaRPr lang="en-US" sz="3200" b="1" dirty="0">
              <a:solidFill>
                <a:schemeClr val="tx1">
                  <a:lumMod val="95000"/>
                </a:schemeClr>
              </a:solidFill>
              <a:latin typeface="Arial" panose="020B0604020202020204" pitchFamily="34" charset="0"/>
              <a:cs typeface="Arial" panose="020B0604020202020204" pitchFamily="34" charset="0"/>
            </a:endParaRPr>
          </a:p>
        </p:txBody>
      </p:sp>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9060" y="2658358"/>
            <a:ext cx="3995365" cy="3629319"/>
          </a:xfrm>
          <a:prstGeom prst="rect">
            <a:avLst/>
          </a:prstGeom>
        </p:spPr>
      </p:pic>
      <p:sp>
        <p:nvSpPr>
          <p:cNvPr id="10" name="TextBox 9"/>
          <p:cNvSpPr txBox="1"/>
          <p:nvPr/>
        </p:nvSpPr>
        <p:spPr>
          <a:xfrm>
            <a:off x="75414" y="210215"/>
            <a:ext cx="5846415" cy="2308324"/>
          </a:xfrm>
          <a:prstGeom prst="rect">
            <a:avLst/>
          </a:prstGeom>
          <a:noFill/>
        </p:spPr>
        <p:txBody>
          <a:bodyPr wrap="square" rtlCol="0">
            <a:spAutoFit/>
          </a:bodyPr>
          <a:lstStyle/>
          <a:p>
            <a:pPr algn="ctr"/>
            <a:r>
              <a:rPr lang="en-US" sz="3600" b="1" dirty="0">
                <a:solidFill>
                  <a:srgbClr val="002060"/>
                </a:solidFill>
                <a:latin typeface="Gill Sans MT" panose="020B0502020104020203" pitchFamily="34" charset="0"/>
                <a:ea typeface="Tahoma" panose="020B0604030504040204" pitchFamily="34" charset="0"/>
                <a:cs typeface="Arial" panose="020B0604020202020204" pitchFamily="34" charset="0"/>
              </a:rPr>
              <a:t>GHANA COMMUNICATION TECHNOLOGY UNIVERSITY</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838200" y="365125"/>
            <a:ext cx="10515600" cy="913169"/>
          </a:xfrm>
        </p:spPr>
        <p:txBody>
          <a:bodyPr>
            <a:normAutofit/>
          </a:bodyPr>
          <a:lstStyle/>
          <a:p>
            <a:pPr algn="ctr">
              <a:lnSpc>
                <a:spcPct val="115000"/>
              </a:lnSpc>
              <a:spcBef>
                <a:spcPts val="0"/>
              </a:spcBef>
              <a:spcAft>
                <a:spcPts val="200"/>
              </a:spcAft>
              <a:defRPr sz="2800" b="1" i="0">
                <a:solidFill>
                  <a:srgbClr val="002060"/>
                </a:solidFill>
                <a:latin typeface="Calisto MT"/>
              </a:defRPr>
            </a:pPr>
            <a:r>
              <a:t>PRESENTATION OUTLINE</a:t>
            </a:r>
            <a:endParaRPr lang="en-GB" sz="4000" b="1" u="sng" dirty="0">
              <a:solidFill>
                <a:srgbClr val="C00000"/>
              </a:solidFill>
              <a:latin typeface="Gill Sans MT" panose="020B0502020104020203" pitchFamily="34" charset="0"/>
              <a:ea typeface="Tahoma" panose="020B0604030504040204" pitchFamily="34" charset="0"/>
              <a:cs typeface="Times New Roman" panose="02020603050405020304" pitchFamily="18" charset="0"/>
              <a:sym typeface="+mn-ea"/>
            </a:endParaRPr>
          </a:p>
        </p:txBody>
      </p:sp>
      <p:sp>
        <p:nvSpPr>
          <p:cNvPr id="5" name="Content Placeholder 4"/>
          <p:cNvSpPr>
            <a:spLocks noGrp="1"/>
          </p:cNvSpPr>
          <p:nvPr>
            <p:ph idx="1"/>
          </p:nvPr>
        </p:nvSpPr>
        <p:spPr>
          <a:xfrm>
            <a:off x="278364" y="1362269"/>
            <a:ext cx="11635272" cy="4693713"/>
          </a:xfrm>
        </p:spPr>
        <p:txBody>
          <a:bodyPr>
            <a:noAutofit/>
          </a:bodyPr>
          <a:lstStyle/>
          <a:p>
            <a:pPr>
              <a:buFont typeface="Wingdings" panose="05000000000000000000" pitchFamily="2" charset="2"/>
              <a:buChar char="§"/>
            </a:pPr>
            <a:endParaRPr lang="en-US" sz="2400" dirty="0">
              <a:latin typeface="Gill Sans MT" panose="020B0502020104020203" pitchFamily="34" charset="0"/>
              <a:cs typeface="Gill Sans MT" panose="020B0502020104020203" pitchFamily="34" charset="0"/>
            </a:endParaRPr>
          </a:p>
        </p:txBody>
      </p:sp>
      <p:sp>
        <p:nvSpPr>
          <p:cNvPr id="6" name="Outline_Box"/>
          <p:cNvSpPr txBox="1"/>
          <p:nvPr/>
        </p:nvSpPr>
        <p:spPr>
          <a:xfrm>
            <a:off x="1371600" y="1645920"/>
            <a:ext cx="9445752" cy="4114800"/>
          </a:xfrm>
          <a:prstGeom prst="rect">
            <a:avLst/>
          </a:prstGeom>
          <a:noFill/>
        </p:spPr>
        <p:txBody>
          <a:bodyPr wrap="square" tIns="91440" bIns="91440">
            <a:spAutoFit/>
          </a:bodyPr>
          <a:lstStyle/>
          <a:p>
            <a:pPr algn="l">
              <a:lnSpc>
                <a:spcPct val="120000"/>
              </a:lnSpc>
              <a:spcAft>
                <a:spcPts val="1800"/>
              </a:spcAft>
              <a:defRPr sz="2400" b="1">
                <a:solidFill>
                  <a:srgbClr val="002060"/>
                </a:solidFill>
                <a:latin typeface="Calisto MT"/>
              </a:defRPr>
            </a:pPr>
            <a:r>
              <a:t>01. Introduction, Problem Statement &amp; Objectives</a:t>
            </a:r>
          </a:p>
          <a:p>
            <a:pPr algn="l">
              <a:lnSpc>
                <a:spcPct val="120000"/>
              </a:lnSpc>
              <a:spcAft>
                <a:spcPts val="1800"/>
              </a:spcAft>
              <a:defRPr sz="2400" b="1">
                <a:solidFill>
                  <a:srgbClr val="002060"/>
                </a:solidFill>
                <a:latin typeface="Calisto MT"/>
              </a:defRPr>
            </a:pPr>
            <a:r>
              <a:t>02. Literature Review &amp; Critical Research Gaps</a:t>
            </a:r>
          </a:p>
          <a:p>
            <a:pPr algn="l">
              <a:lnSpc>
                <a:spcPct val="120000"/>
              </a:lnSpc>
              <a:spcAft>
                <a:spcPts val="1800"/>
              </a:spcAft>
              <a:defRPr sz="2400" b="1">
                <a:solidFill>
                  <a:srgbClr val="002060"/>
                </a:solidFill>
                <a:latin typeface="Calisto MT"/>
              </a:defRPr>
            </a:pPr>
            <a:r>
              <a:t>03. System Architecture &amp; 6-Phase Methodology</a:t>
            </a:r>
          </a:p>
          <a:p>
            <a:pPr algn="l">
              <a:lnSpc>
                <a:spcPct val="120000"/>
              </a:lnSpc>
              <a:spcAft>
                <a:spcPts val="1800"/>
              </a:spcAft>
              <a:defRPr sz="2400" b="1">
                <a:solidFill>
                  <a:srgbClr val="002060"/>
                </a:solidFill>
                <a:latin typeface="Calisto MT"/>
              </a:defRPr>
            </a:pPr>
            <a:r>
              <a:t>04. Implementation &amp; Intelligent Algorithms</a:t>
            </a:r>
          </a:p>
          <a:p>
            <a:pPr algn="l">
              <a:lnSpc>
                <a:spcPct val="120000"/>
              </a:lnSpc>
              <a:spcAft>
                <a:spcPts val="1800"/>
              </a:spcAft>
              <a:defRPr sz="2400" b="1">
                <a:solidFill>
                  <a:srgbClr val="002060"/>
                </a:solidFill>
                <a:latin typeface="Calisto MT"/>
              </a:defRPr>
            </a:pPr>
            <a:r>
              <a:t>05. Experimental Results &amp; ISO Safety Compliance</a:t>
            </a:r>
          </a:p>
          <a:p>
            <a:pPr algn="l">
              <a:lnSpc>
                <a:spcPct val="120000"/>
              </a:lnSpc>
              <a:spcAft>
                <a:spcPts val="1800"/>
              </a:spcAft>
              <a:defRPr sz="2400" b="1">
                <a:solidFill>
                  <a:srgbClr val="002060"/>
                </a:solidFill>
                <a:latin typeface="Calisto MT"/>
              </a:defRPr>
            </a:pPr>
            <a:r>
              <a:t>06. Conclusion &amp; Physical Demonstration Transition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726557"/>
          </a:xfrm>
        </p:spPr>
        <p:txBody>
          <a:bodyPr>
            <a:normAutofit/>
          </a:bodyPr>
          <a:lstStyle/>
          <a:p>
            <a:pPr algn="ctr">
              <a:lnSpc>
                <a:spcPct val="115000"/>
              </a:lnSpc>
              <a:spcBef>
                <a:spcPts val="0"/>
              </a:spcBef>
              <a:spcAft>
                <a:spcPts val="200"/>
              </a:spcAft>
              <a:defRPr sz="2800" b="1" i="0">
                <a:solidFill>
                  <a:srgbClr val="002060"/>
                </a:solidFill>
                <a:latin typeface="Calisto MT"/>
              </a:defRPr>
            </a:pPr>
            <a:r>
              <a:t>01. INTRODUCTION &amp; RESEARCH BACKGROUND</a:t>
            </a:r>
            <a:endParaRPr lang="en-US" sz="4000" b="1" u="sng" dirty="0">
              <a:gradFill>
                <a:gsLst>
                  <a:gs pos="0">
                    <a:srgbClr val="E30000"/>
                  </a:gs>
                  <a:gs pos="100000">
                    <a:srgbClr val="760303"/>
                  </a:gs>
                </a:gsLst>
                <a:lin scaled="0"/>
              </a:gradFill>
              <a:latin typeface="Gill Sans MT" panose="020B0502020104020203" pitchFamily="34" charset="0"/>
              <a:cs typeface="Gill Sans MT" panose="020B0502020104020203" pitchFamily="34" charset="0"/>
            </a:endParaRPr>
          </a:p>
        </p:txBody>
      </p:sp>
      <p:sp>
        <p:nvSpPr>
          <p:cNvPr id="3" name="Content Placeholder 2"/>
          <p:cNvSpPr>
            <a:spLocks noGrp="1"/>
          </p:cNvSpPr>
          <p:nvPr>
            <p:ph idx="1"/>
          </p:nvPr>
        </p:nvSpPr>
        <p:spPr>
          <a:xfrm>
            <a:off x="410547" y="1231642"/>
            <a:ext cx="11364686" cy="4945322"/>
          </a:xfrm>
        </p:spPr>
        <p:txBody>
          <a:bodyPr>
            <a:normAutofit/>
          </a:bodyPr>
          <a:lstStyle/>
          <a:p>
            <a:pPr>
              <a:buFont typeface="Wingdings" panose="05000000000000000000" pitchFamily="2" charset="2"/>
              <a:buChar char="§"/>
            </a:pPr>
            <a:endParaRPr lang="en-US" sz="2000" dirty="0">
              <a:latin typeface="Gill Sans MT" panose="020B0502020104020203" pitchFamily="34" charset="0"/>
              <a:cs typeface="Gill Sans MT" panose="020B0502020104020203" pitchFamily="34" charset="0"/>
            </a:endParaRPr>
          </a:p>
        </p:txBody>
      </p:sp>
      <p:sp>
        <p:nvSpPr>
          <p:cNvPr id="4" name="Intro_Text"/>
          <p:cNvSpPr txBox="1"/>
          <p:nvPr/>
        </p:nvSpPr>
        <p:spPr>
          <a:xfrm>
            <a:off x="777240" y="1325880"/>
            <a:ext cx="6263640" cy="4480560"/>
          </a:xfrm>
          <a:prstGeom prst="rect">
            <a:avLst/>
          </a:prstGeom>
          <a:noFill/>
        </p:spPr>
        <p:txBody>
          <a:bodyPr wrap="square" tIns="91440" bIns="91440">
            <a:spAutoFit/>
          </a:bodyPr>
          <a:lstStyle/>
          <a:p>
            <a:pPr algn="l">
              <a:lnSpc>
                <a:spcPct val="115000"/>
              </a:lnSpc>
              <a:spcBef>
                <a:spcPts val="0"/>
              </a:spcBef>
              <a:spcAft>
                <a:spcPts val="300"/>
              </a:spcAft>
              <a:defRPr sz="1800" b="1" i="0">
                <a:solidFill>
                  <a:srgbClr val="002060"/>
                </a:solidFill>
                <a:latin typeface="Calisto MT"/>
              </a:defRPr>
            </a:pPr>
            <a:r>
              <a:t>Robots Working Directly with Humans</a:t>
            </a:r>
          </a:p>
          <a:p>
            <a:pPr algn="l">
              <a:lnSpc>
                <a:spcPct val="118000"/>
              </a:lnSpc>
              <a:spcBef>
                <a:spcPts val="0"/>
              </a:spcBef>
              <a:spcAft>
                <a:spcPts val="1400"/>
              </a:spcAft>
              <a:defRPr sz="1500" b="0" i="0">
                <a:solidFill>
                  <a:srgbClr val="1E293B"/>
                </a:solidFill>
                <a:latin typeface="Calisto MT"/>
              </a:defRPr>
            </a:pPr>
            <a:r>
              <a:t>Robots are leaving safety cages to work alongside people in hospitals, warehouses, and homes. For humans and robots to coexist safely, the robot must understand where people are and respect their personal space.</a:t>
            </a:r>
          </a:p>
          <a:p>
            <a:pPr algn="l">
              <a:lnSpc>
                <a:spcPct val="115000"/>
              </a:lnSpc>
              <a:spcBef>
                <a:spcPts val="0"/>
              </a:spcBef>
              <a:spcAft>
                <a:spcPts val="300"/>
              </a:spcAft>
              <a:defRPr sz="1800" b="1" i="0">
                <a:solidFill>
                  <a:srgbClr val="002060"/>
                </a:solidFill>
                <a:latin typeface="Calisto MT"/>
              </a:defRPr>
            </a:pPr>
            <a:r>
              <a:t>Natural, Hands-Free Interaction</a:t>
            </a:r>
          </a:p>
          <a:p>
            <a:pPr algn="l">
              <a:lnSpc>
                <a:spcPct val="118000"/>
              </a:lnSpc>
              <a:spcBef>
                <a:spcPts val="0"/>
              </a:spcBef>
              <a:spcAft>
                <a:spcPts val="1400"/>
              </a:spcAft>
              <a:defRPr sz="1500" b="0" i="0">
                <a:solidFill>
                  <a:srgbClr val="1E293B"/>
                </a:solidFill>
                <a:latin typeface="Calisto MT"/>
              </a:defRPr>
            </a:pPr>
            <a:r>
              <a:t>Instead of requiring handheld controllers, touchscreens, or keyboards, humans can guide the robot using natural hand gestures and body movement—just like signaling to a human coworker.</a:t>
            </a:r>
          </a:p>
          <a:p>
            <a:pPr algn="l">
              <a:lnSpc>
                <a:spcPct val="115000"/>
              </a:lnSpc>
              <a:spcBef>
                <a:spcPts val="0"/>
              </a:spcBef>
              <a:spcAft>
                <a:spcPts val="300"/>
              </a:spcAft>
              <a:defRPr sz="1800" b="1" i="0">
                <a:solidFill>
                  <a:srgbClr val="002060"/>
                </a:solidFill>
                <a:latin typeface="Calisto MT"/>
              </a:defRPr>
            </a:pPr>
            <a:r>
              <a:t>Fast Onboard Intelligence (No Cloud Lag)</a:t>
            </a:r>
          </a:p>
          <a:p>
            <a:pPr algn="l">
              <a:lnSpc>
                <a:spcPct val="118000"/>
              </a:lnSpc>
              <a:spcBef>
                <a:spcPts val="0"/>
              </a:spcBef>
              <a:spcAft>
                <a:spcPts val="0"/>
              </a:spcAft>
              <a:defRPr sz="1500" b="0" i="0">
                <a:solidFill>
                  <a:srgbClr val="1E293B"/>
                </a:solidFill>
                <a:latin typeface="Calisto MT"/>
              </a:defRPr>
            </a:pPr>
            <a:r>
              <a:t>Sending live video over the internet causes dangerous delays (&gt;200 ms) and fails when Wi-Fi drops. In this project, all AI recognition and navigation decisions happen entirely inside the robot in real time.</a:t>
            </a:r>
          </a:p>
        </p:txBody>
      </p:sp>
      <p:pic>
        <p:nvPicPr>
          <p:cNvPr id="5" name="Intro_Image" descr="shared_workspace_human_robot.jpg"/>
          <p:cNvPicPr>
            <a:picLocks noChangeAspect="1"/>
          </p:cNvPicPr>
          <p:nvPr/>
        </p:nvPicPr>
        <p:blipFill>
          <a:blip r:embed="rId3"/>
          <a:stretch>
            <a:fillRect/>
          </a:stretch>
        </p:blipFill>
        <p:spPr>
          <a:xfrm>
            <a:off x="7315200" y="1417320"/>
            <a:ext cx="4206240" cy="3154680"/>
          </a:xfrm>
          <a:prstGeom prst="rect">
            <a:avLst/>
          </a:prstGeom>
        </p:spPr>
      </p:pic>
      <p:sp>
        <p:nvSpPr>
          <p:cNvPr id="6" name="Intro_Caption"/>
          <p:cNvSpPr txBox="1"/>
          <p:nvPr/>
        </p:nvSpPr>
        <p:spPr>
          <a:xfrm>
            <a:off x="7315200" y="4681728"/>
            <a:ext cx="4206240" cy="731520"/>
          </a:xfrm>
          <a:prstGeom prst="rect">
            <a:avLst/>
          </a:prstGeom>
          <a:noFill/>
        </p:spPr>
        <p:txBody>
          <a:bodyPr wrap="square" lIns="45720" rIns="45720">
            <a:spAutoFit/>
          </a:bodyPr>
          <a:lstStyle/>
          <a:p>
            <a:pPr algn="ctr">
              <a:lnSpc>
                <a:spcPct val="115000"/>
              </a:lnSpc>
              <a:spcBef>
                <a:spcPts val="0"/>
              </a:spcBef>
              <a:spcAft>
                <a:spcPts val="200"/>
              </a:spcAft>
              <a:defRPr sz="1200" b="0" i="1">
                <a:solidFill>
                  <a:srgbClr val="475569"/>
                </a:solidFill>
                <a:latin typeface="Calisto MT"/>
              </a:defRPr>
            </a:pPr>
            <a:r>
              <a:t>Figure 1.1: Collaborative Human-Robot Interaction (HRI) in an industrial shared workspace, illustrating contactless gesture coordination.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819863"/>
          </a:xfrm>
        </p:spPr>
        <p:txBody>
          <a:bodyPr>
            <a:normAutofit/>
          </a:bodyPr>
          <a:lstStyle/>
          <a:p>
            <a:pPr algn="ctr">
              <a:lnSpc>
                <a:spcPct val="115000"/>
              </a:lnSpc>
              <a:spcBef>
                <a:spcPts val="0"/>
              </a:spcBef>
              <a:spcAft>
                <a:spcPts val="200"/>
              </a:spcAft>
              <a:defRPr sz="2800" b="1" i="0">
                <a:solidFill>
                  <a:srgbClr val="002060"/>
                </a:solidFill>
                <a:latin typeface="Calisto MT"/>
              </a:defRPr>
            </a:pPr>
            <a:r>
              <a:t>02. PROBLEM STATEMENT</a:t>
            </a:r>
            <a:endParaRPr lang="en-US" sz="4000" b="1" u="sng" dirty="0">
              <a:solidFill>
                <a:srgbClr val="C00000"/>
              </a:solidFill>
              <a:latin typeface="Gill Sans MT" panose="020B0502020104020203" pitchFamily="34" charset="0"/>
              <a:cs typeface="Times New Roman" panose="02020603050405020304" pitchFamily="18" charset="0"/>
            </a:endParaRPr>
          </a:p>
        </p:txBody>
      </p:sp>
      <p:sp>
        <p:nvSpPr>
          <p:cNvPr id="3" name="Content Placeholder 2"/>
          <p:cNvSpPr>
            <a:spLocks noGrp="1"/>
          </p:cNvSpPr>
          <p:nvPr>
            <p:ph idx="1"/>
          </p:nvPr>
        </p:nvSpPr>
        <p:spPr>
          <a:xfrm>
            <a:off x="326571" y="1343608"/>
            <a:ext cx="11420670" cy="4833355"/>
          </a:xfrm>
        </p:spPr>
        <p:txBody>
          <a:bodyPr>
            <a:normAutofit/>
          </a:bodyPr>
          <a:lstStyle/>
          <a:p>
            <a:pPr>
              <a:buFont typeface="Wingdings" panose="05000000000000000000" pitchFamily="2" charset="2"/>
              <a:buChar char="§"/>
            </a:pPr>
            <a:endParaRPr lang="en-US" sz="4400" dirty="0">
              <a:latin typeface="Gill Sans MT" panose="020B0502020104020203" pitchFamily="34" charset="0"/>
              <a:cs typeface="Times New Roman" panose="02020603050405020304" pitchFamily="18" charset="0"/>
            </a:endParaRPr>
          </a:p>
        </p:txBody>
      </p:sp>
      <p:sp>
        <p:nvSpPr>
          <p:cNvPr id="4" name="Prob_Core"/>
          <p:cNvSpPr txBox="1"/>
          <p:nvPr/>
        </p:nvSpPr>
        <p:spPr>
          <a:xfrm>
            <a:off x="777240" y="1234440"/>
            <a:ext cx="10634472" cy="2011680"/>
          </a:xfrm>
          <a:prstGeom prst="rect">
            <a:avLst/>
          </a:prstGeom>
          <a:noFill/>
        </p:spPr>
        <p:txBody>
          <a:bodyPr wrap="square">
            <a:spAutoFit/>
          </a:bodyPr>
          <a:lstStyle/>
          <a:p>
            <a:pPr algn="ctr">
              <a:lnSpc>
                <a:spcPct val="120000"/>
              </a:lnSpc>
              <a:spcBef>
                <a:spcPts val="0"/>
              </a:spcBef>
              <a:spcAft>
                <a:spcPts val="1200"/>
              </a:spcAft>
              <a:defRPr sz="2100" b="0" i="0">
                <a:solidFill>
                  <a:srgbClr val="1E293B"/>
                </a:solidFill>
                <a:latin typeface="Calisto MT"/>
              </a:defRPr>
            </a:pPr>
            <a:r>
              <a:t>Current mobile robots separate vision recognition from active navigation, relying on remote cloud servers that suffer from high network lag (&gt;200 ms) and connection dropouts.</a:t>
            </a:r>
          </a:p>
          <a:p>
            <a:pPr algn="ctr">
              <a:lnSpc>
                <a:spcPct val="120000"/>
              </a:lnSpc>
              <a:spcBef>
                <a:spcPts val="0"/>
              </a:spcBef>
              <a:spcAft>
                <a:spcPts val="0"/>
              </a:spcAft>
              <a:defRPr sz="2100" b="0" i="0">
                <a:solidFill>
                  <a:srgbClr val="1E293B"/>
                </a:solidFill>
                <a:latin typeface="Calisto MT"/>
              </a:defRPr>
            </a:pPr>
            <a:r>
              <a:t>In shared human-robot workspaces, this delay prevents robots from reacting in real time to human gestures, creating severe collision hazards under ISO 15066 safety standards.</a:t>
            </a:r>
          </a:p>
        </p:txBody>
      </p:sp>
      <p:sp>
        <p:nvSpPr>
          <p:cNvPr id="5" name="Prob_Card_0"/>
          <p:cNvSpPr/>
          <p:nvPr/>
        </p:nvSpPr>
        <p:spPr>
          <a:xfrm>
            <a:off x="777240" y="3886200"/>
            <a:ext cx="3319272" cy="169164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37160"/>
          <a:lstStyle/>
          <a:p>
            <a:pPr algn="ctr">
              <a:lnSpc>
                <a:spcPct val="115000"/>
              </a:lnSpc>
              <a:spcBef>
                <a:spcPts val="0"/>
              </a:spcBef>
              <a:spcAft>
                <a:spcPts val="600"/>
              </a:spcAft>
              <a:defRPr sz="1500" b="1" i="0">
                <a:solidFill>
                  <a:srgbClr val="002060"/>
                </a:solidFill>
                <a:latin typeface="Calisto MT"/>
              </a:defRPr>
            </a:pPr>
            <a:r>
              <a:t>PERCEPTION-ACTION GAP</a:t>
            </a:r>
          </a:p>
          <a:p>
            <a:pPr algn="ctr">
              <a:lnSpc>
                <a:spcPct val="118000"/>
              </a:lnSpc>
              <a:spcBef>
                <a:spcPts val="0"/>
              </a:spcBef>
              <a:spcAft>
                <a:spcPts val="200"/>
              </a:spcAft>
              <a:defRPr sz="1300" b="0" i="0">
                <a:solidFill>
                  <a:srgbClr val="1E293B"/>
                </a:solidFill>
                <a:latin typeface="Calisto MT"/>
              </a:defRPr>
            </a:pPr>
            <a:r>
              <a:t>Vision AI isolated from wheel motors &amp; obstacle avoidance</a:t>
            </a:r>
            <a:br/>
            <a:r>
              <a:t>(Tsitos et al., 2022)</a:t>
            </a:r>
          </a:p>
        </p:txBody>
      </p:sp>
      <p:sp>
        <p:nvSpPr>
          <p:cNvPr id="6" name="Prob_Card_1"/>
          <p:cNvSpPr/>
          <p:nvPr/>
        </p:nvSpPr>
        <p:spPr>
          <a:xfrm>
            <a:off x="4434840" y="3886200"/>
            <a:ext cx="3319272" cy="169164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37160"/>
          <a:lstStyle/>
          <a:p>
            <a:pPr algn="ctr">
              <a:lnSpc>
                <a:spcPct val="115000"/>
              </a:lnSpc>
              <a:spcBef>
                <a:spcPts val="0"/>
              </a:spcBef>
              <a:spcAft>
                <a:spcPts val="600"/>
              </a:spcAft>
              <a:defRPr sz="1500" b="1" i="0">
                <a:solidFill>
                  <a:srgbClr val="002060"/>
                </a:solidFill>
                <a:latin typeface="Calisto MT"/>
              </a:defRPr>
            </a:pPr>
            <a:r>
              <a:t>CLOUD LATENCY HAZARD</a:t>
            </a:r>
          </a:p>
          <a:p>
            <a:pPr algn="ctr">
              <a:lnSpc>
                <a:spcPct val="118000"/>
              </a:lnSpc>
              <a:spcBef>
                <a:spcPts val="0"/>
              </a:spcBef>
              <a:spcAft>
                <a:spcPts val="200"/>
              </a:spcAft>
              <a:defRPr sz="1300" b="0" i="0">
                <a:solidFill>
                  <a:srgbClr val="1E293B"/>
                </a:solidFill>
                <a:latin typeface="Calisto MT"/>
              </a:defRPr>
            </a:pPr>
            <a:r>
              <a:t>Network lag &gt; 200 ms &amp; Wi-Fi drops violate ISO 15066 safe stopping margins</a:t>
            </a:r>
          </a:p>
        </p:txBody>
      </p:sp>
      <p:sp>
        <p:nvSpPr>
          <p:cNvPr id="7" name="Prob_Card_2"/>
          <p:cNvSpPr/>
          <p:nvPr/>
        </p:nvSpPr>
        <p:spPr>
          <a:xfrm>
            <a:off x="8092440" y="3886200"/>
            <a:ext cx="3319272" cy="169164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37160"/>
          <a:lstStyle/>
          <a:p>
            <a:pPr algn="ctr">
              <a:lnSpc>
                <a:spcPct val="115000"/>
              </a:lnSpc>
              <a:spcBef>
                <a:spcPts val="0"/>
              </a:spcBef>
              <a:spcAft>
                <a:spcPts val="600"/>
              </a:spcAft>
              <a:defRPr sz="1500" b="1" i="0">
                <a:solidFill>
                  <a:srgbClr val="002060"/>
                </a:solidFill>
                <a:latin typeface="Calisto MT"/>
              </a:defRPr>
            </a:pPr>
            <a:r>
              <a:t>EDGE COMPUTING LIMIT</a:t>
            </a:r>
          </a:p>
          <a:p>
            <a:pPr algn="ctr">
              <a:lnSpc>
                <a:spcPct val="118000"/>
              </a:lnSpc>
              <a:spcBef>
                <a:spcPts val="0"/>
              </a:spcBef>
              <a:spcAft>
                <a:spcPts val="200"/>
              </a:spcAft>
              <a:defRPr sz="1300" b="0" i="0">
                <a:solidFill>
                  <a:srgbClr val="1E293B"/>
                </a:solidFill>
                <a:latin typeface="Calisto MT"/>
              </a:defRPr>
            </a:pPr>
            <a:r>
              <a:t>Heavy vision AI overheats mobile chips; demands a sub-135 ms onboard pipeline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15D8E2-4F8C-64A5-14D0-AC29A3DF1480}"/>
              </a:ext>
            </a:extLst>
          </p:cNvPr>
          <p:cNvSpPr>
            <a:spLocks noGrp="1"/>
          </p:cNvSpPr>
          <p:nvPr>
            <p:ph type="title"/>
          </p:nvPr>
        </p:nvSpPr>
        <p:spPr>
          <a:xfrm>
            <a:off x="838200" y="365126"/>
            <a:ext cx="10515600" cy="959822"/>
          </a:xfrm>
        </p:spPr>
        <p:txBody>
          <a:bodyPr>
            <a:normAutofit/>
          </a:bodyPr>
          <a:lstStyle/>
          <a:p>
            <a:pPr algn="ctr">
              <a:lnSpc>
                <a:spcPct val="115000"/>
              </a:lnSpc>
              <a:spcBef>
                <a:spcPts val="0"/>
              </a:spcBef>
              <a:spcAft>
                <a:spcPts val="200"/>
              </a:spcAft>
              <a:defRPr sz="2800" b="1" i="0">
                <a:solidFill>
                  <a:srgbClr val="002060"/>
                </a:solidFill>
                <a:latin typeface="Calisto MT"/>
              </a:defRPr>
            </a:pPr>
            <a:r>
              <a:t>03. PROJECT OBJECTIVES</a:t>
            </a:r>
            <a:endParaRPr lang="en-US" sz="4000" b="1" u="sng" dirty="0">
              <a:solidFill>
                <a:srgbClr val="C00000"/>
              </a:solidFill>
              <a:latin typeface="Gill Sans MT" panose="020B0502020104020203" pitchFamily="34" charset="0"/>
            </a:endParaRPr>
          </a:p>
        </p:txBody>
      </p:sp>
      <p:sp>
        <p:nvSpPr>
          <p:cNvPr id="3" name="Content Placeholder 2">
            <a:extLst>
              <a:ext uri="{FF2B5EF4-FFF2-40B4-BE49-F238E27FC236}">
                <a16:creationId xmlns:a16="http://schemas.microsoft.com/office/drawing/2014/main" id="{EA278EA5-37CB-3495-D1CC-8784768C09CA}"/>
              </a:ext>
            </a:extLst>
          </p:cNvPr>
          <p:cNvSpPr>
            <a:spLocks noGrp="1"/>
          </p:cNvSpPr>
          <p:nvPr>
            <p:ph idx="1"/>
          </p:nvPr>
        </p:nvSpPr>
        <p:spPr>
          <a:xfrm>
            <a:off x="438539" y="1324948"/>
            <a:ext cx="11168743" cy="4852015"/>
          </a:xfrm>
        </p:spPr>
        <p:txBody>
          <a:bodyPr>
            <a:normAutofit/>
          </a:bodyPr>
          <a:lstStyle/>
          <a:p>
            <a:endParaRPr lang="en-US" dirty="0"/>
          </a:p>
        </p:txBody>
      </p:sp>
      <p:sp>
        <p:nvSpPr>
          <p:cNvPr id="4" name="Obj_Gen_Text"/>
          <p:cNvSpPr txBox="1"/>
          <p:nvPr/>
        </p:nvSpPr>
        <p:spPr>
          <a:xfrm>
            <a:off x="914400" y="1143000"/>
            <a:ext cx="10360152" cy="960120"/>
          </a:xfrm>
          <a:prstGeom prst="rect">
            <a:avLst/>
          </a:prstGeom>
          <a:noFill/>
        </p:spPr>
        <p:txBody>
          <a:bodyPr wrap="square" lIns="45720" rIns="45720" tIns="18288" bIns="18288">
            <a:spAutoFit/>
          </a:bodyPr>
          <a:lstStyle/>
          <a:p>
            <a:pPr algn="ctr">
              <a:lnSpc>
                <a:spcPct val="115000"/>
              </a:lnSpc>
              <a:spcBef>
                <a:spcPts val="0"/>
              </a:spcBef>
              <a:spcAft>
                <a:spcPts val="400"/>
              </a:spcAft>
              <a:defRPr sz="1300" b="1" i="0">
                <a:solidFill>
                  <a:srgbClr val="B8860B"/>
                </a:solidFill>
                <a:latin typeface="Calisto MT"/>
              </a:defRPr>
            </a:pPr>
            <a:r>
              <a:t>GENERAL OBJECTIVE</a:t>
            </a:r>
          </a:p>
          <a:p>
            <a:pPr algn="ctr">
              <a:lnSpc>
                <a:spcPct val="118000"/>
              </a:lnSpc>
              <a:spcBef>
                <a:spcPts val="0"/>
              </a:spcBef>
              <a:spcAft>
                <a:spcPts val="200"/>
              </a:spcAft>
              <a:defRPr sz="1500" b="0" i="0">
                <a:solidFill>
                  <a:srgbClr val="1E293B"/>
                </a:solidFill>
                <a:latin typeface="Calisto MT"/>
              </a:defRPr>
            </a:pPr>
            <a:r>
              <a:t>To design, implement, and evaluate an edge-deployed, real-time human intention recognition and autonomous navigation system powered by ROS 2 on an embedded mobile robot.</a:t>
            </a:r>
          </a:p>
        </p:txBody>
      </p:sp>
      <p:cxnSp>
        <p:nvCxnSpPr>
          <p:cNvPr id="5" name="Obj_Divider_Line"/>
          <p:cNvCxnSpPr/>
          <p:nvPr/>
        </p:nvCxnSpPr>
        <p:spPr>
          <a:xfrm>
            <a:off x="2286000" y="2240280"/>
            <a:ext cx="7616952" cy="0"/>
          </a:xfrm>
          <a:prstGeom prst="line">
            <a:avLst/>
          </a:prstGeom>
          <a:ln w="10160">
            <a:solidFill>
              <a:srgbClr val="CBD5E1"/>
            </a:solidFill>
          </a:ln>
        </p:spPr>
        <p:style>
          <a:lnRef idx="2">
            <a:schemeClr val="accent1"/>
          </a:lnRef>
          <a:fillRef idx="0">
            <a:schemeClr val="accent1"/>
          </a:fillRef>
          <a:effectRef idx="1">
            <a:schemeClr val="accent1"/>
          </a:effectRef>
          <a:fontRef idx="minor">
            <a:schemeClr val="tx1"/>
          </a:fontRef>
        </p:style>
      </p:cxnSp>
      <p:sp>
        <p:nvSpPr>
          <p:cNvPr id="6" name="Obj_Item_0"/>
          <p:cNvSpPr txBox="1"/>
          <p:nvPr/>
        </p:nvSpPr>
        <p:spPr>
          <a:xfrm>
            <a:off x="914400" y="2423160"/>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01.  Invariant Vision Pipeline</a:t>
            </a:r>
          </a:p>
          <a:p>
            <a:pPr algn="l">
              <a:lnSpc>
                <a:spcPct val="115000"/>
              </a:lnSpc>
              <a:spcBef>
                <a:spcPts val="0"/>
              </a:spcBef>
              <a:spcAft>
                <a:spcPts val="200"/>
              </a:spcAft>
              <a:defRPr sz="1200" b="0" i="0">
                <a:solidFill>
                  <a:srgbClr val="334155"/>
                </a:solidFill>
                <a:latin typeface="Calisto MT"/>
              </a:defRPr>
            </a:pPr>
            <a:r>
              <a:t>Compute 19 scale-invariant geometric features from 21 hand landmarks for real-time onboard MLP classification.</a:t>
            </a:r>
          </a:p>
        </p:txBody>
      </p:sp>
      <p:sp>
        <p:nvSpPr>
          <p:cNvPr id="7" name="Obj_Item_1"/>
          <p:cNvSpPr txBox="1"/>
          <p:nvPr/>
        </p:nvSpPr>
        <p:spPr>
          <a:xfrm>
            <a:off x="914400" y="3493008"/>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02.  Balanced 6,000-Sample Dataset</a:t>
            </a:r>
          </a:p>
          <a:p>
            <a:pPr algn="l">
              <a:lnSpc>
                <a:spcPct val="115000"/>
              </a:lnSpc>
              <a:spcBef>
                <a:spcPts val="0"/>
              </a:spcBef>
              <a:spcAft>
                <a:spcPts val="200"/>
              </a:spcAft>
              <a:defRPr sz="1200" b="0" i="0">
                <a:solidFill>
                  <a:srgbClr val="334155"/>
                </a:solidFill>
                <a:latin typeface="Calisto MT"/>
              </a:defRPr>
            </a:pPr>
            <a:r>
              <a:t>Capture and balance a custom 6-class dataset directly through the onboard camera to eliminate perspective domain shift.</a:t>
            </a:r>
          </a:p>
        </p:txBody>
      </p:sp>
      <p:sp>
        <p:nvSpPr>
          <p:cNvPr id="8" name="Obj_Item_2"/>
          <p:cNvSpPr txBox="1"/>
          <p:nvPr/>
        </p:nvSpPr>
        <p:spPr>
          <a:xfrm>
            <a:off x="914400" y="4562856"/>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03.  LSTM Trajectory Prediction</a:t>
            </a:r>
          </a:p>
          <a:p>
            <a:pPr algn="l">
              <a:lnSpc>
                <a:spcPct val="115000"/>
              </a:lnSpc>
              <a:spcBef>
                <a:spcPts val="0"/>
              </a:spcBef>
              <a:spcAft>
                <a:spcPts val="200"/>
              </a:spcAft>
              <a:defRPr sz="1200" b="0" i="0">
                <a:solidFill>
                  <a:srgbClr val="334155"/>
                </a:solidFill>
                <a:latin typeface="Calisto MT"/>
              </a:defRPr>
            </a:pPr>
            <a:r>
              <a:t>Forecast short-horizon operator motion trajectories from continuous body pose landmarks using recurrent neural networks.</a:t>
            </a:r>
          </a:p>
        </p:txBody>
      </p:sp>
      <p:sp>
        <p:nvSpPr>
          <p:cNvPr id="9" name="Obj_Item_3"/>
          <p:cNvSpPr txBox="1"/>
          <p:nvPr/>
        </p:nvSpPr>
        <p:spPr>
          <a:xfrm>
            <a:off x="6382512" y="2423160"/>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04.  Supervisory Brain Node</a:t>
            </a:r>
          </a:p>
          <a:p>
            <a:pPr algn="l">
              <a:lnSpc>
                <a:spcPct val="115000"/>
              </a:lnSpc>
              <a:spcBef>
                <a:spcPts val="0"/>
              </a:spcBef>
              <a:spcAft>
                <a:spcPts val="200"/>
              </a:spcAft>
              <a:defRPr sz="1200" b="0" i="0">
                <a:solidFill>
                  <a:srgbClr val="334155"/>
                </a:solidFill>
                <a:latin typeface="Calisto MT"/>
              </a:defRPr>
            </a:pPr>
            <a:r>
              <a:t>Execute a deterministic finite state machine with 5-frame rolling consensus, active operator lock, and visual servoing.</a:t>
            </a:r>
          </a:p>
        </p:txBody>
      </p:sp>
      <p:sp>
        <p:nvSpPr>
          <p:cNvPr id="10" name="Obj_Item_4"/>
          <p:cNvSpPr txBox="1"/>
          <p:nvPr/>
        </p:nvSpPr>
        <p:spPr>
          <a:xfrm>
            <a:off x="6382512" y="3493008"/>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05.  2D LiDAR SLAM &amp; Nav2</a:t>
            </a:r>
          </a:p>
          <a:p>
            <a:pPr algn="l">
              <a:lnSpc>
                <a:spcPct val="115000"/>
              </a:lnSpc>
              <a:spcBef>
                <a:spcPts val="0"/>
              </a:spcBef>
              <a:spcAft>
                <a:spcPts val="200"/>
              </a:spcAft>
              <a:defRPr sz="1200" b="0" i="0">
                <a:solidFill>
                  <a:srgbClr val="334155"/>
                </a:solidFill>
                <a:latin typeface="Calisto MT"/>
              </a:defRPr>
            </a:pPr>
            <a:r>
              <a:t>Deploy real-time Cartographer mapping and the Nav2 navigation stack for socially aware, collision-free path execution.</a:t>
            </a:r>
          </a:p>
        </p:txBody>
      </p:sp>
      <p:sp>
        <p:nvSpPr>
          <p:cNvPr id="11" name="Obj_Item_5"/>
          <p:cNvSpPr txBox="1"/>
          <p:nvPr/>
        </p:nvSpPr>
        <p:spPr>
          <a:xfrm>
            <a:off x="6382512" y="4562856"/>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06.  Empirical Safety Benchmarking</a:t>
            </a:r>
          </a:p>
          <a:p>
            <a:pPr algn="l">
              <a:lnSpc>
                <a:spcPct val="115000"/>
              </a:lnSpc>
              <a:spcBef>
                <a:spcPts val="0"/>
              </a:spcBef>
              <a:spcAft>
                <a:spcPts val="200"/>
              </a:spcAft>
              <a:defRPr sz="1200" b="0" i="0">
                <a:solidFill>
                  <a:srgbClr val="334155"/>
                </a:solidFill>
                <a:latin typeface="Calisto MT"/>
              </a:defRPr>
            </a:pPr>
            <a:r>
              <a:t>Quantify end-to-end latency (132 ms), physical classification accuracy (96.7%), and compliance with ISO 15066 safety margins.</a:t>
            </a:r>
          </a:p>
        </p:txBody>
      </p:sp>
    </p:spTree>
    <p:extLst>
      <p:ext uri="{BB962C8B-B14F-4D97-AF65-F5344CB8AC3E}">
        <p14:creationId xmlns:p14="http://schemas.microsoft.com/office/powerpoint/2010/main" val="3882807801"/>
      </p:ext>
    </p:extLst>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320040"/>
            <a:ext cx="10515600" cy="640080"/>
          </a:xfrm>
        </p:spPr>
        <p:txBody>
          <a:bodyPr/>
          <a:lstStyle/>
          <a:p>
            <a:pPr algn="ctr">
              <a:lnSpc>
                <a:spcPct val="112000"/>
              </a:lnSpc>
              <a:spcBef>
                <a:spcPts val="0"/>
              </a:spcBef>
              <a:spcAft>
                <a:spcPts val="200"/>
              </a:spcAft>
              <a:defRPr sz="2800" b="1" i="0">
                <a:solidFill>
                  <a:srgbClr val="002060"/>
                </a:solidFill>
                <a:latin typeface="Calisto MT"/>
              </a:defRPr>
            </a:pPr>
            <a:r>
              <a:t>04. LITERATURE REVIEW &amp; RESEARCH GAPS</a:t>
            </a:r>
          </a:p>
        </p:txBody>
      </p:sp>
      <p:sp>
        <p:nvSpPr>
          <p:cNvPr id="3" name="Content Placeholder 2"/>
          <p:cNvSpPr>
            <a:spLocks noGrp="1"/>
          </p:cNvSpPr>
          <p:nvPr>
            <p:ph idx="1"/>
          </p:nvPr>
        </p:nvSpPr>
        <p:spPr/>
        <p:txBody>
          <a:bodyPr/>
          <a:lstStyle/>
          <a:p/>
        </p:txBody>
      </p:sp>
      <p:sp>
        <p:nvSpPr>
          <p:cNvPr id="4" name="Lit_Subhead"/>
          <p:cNvSpPr txBox="1"/>
          <p:nvPr/>
        </p:nvSpPr>
        <p:spPr>
          <a:xfrm>
            <a:off x="822960" y="1024128"/>
            <a:ext cx="10515600" cy="228600"/>
          </a:xfrm>
          <a:prstGeom prst="rect">
            <a:avLst/>
          </a:prstGeom>
          <a:noFill/>
        </p:spPr>
        <p:txBody>
          <a:bodyPr wrap="square" lIns="0" rIns="0" tIns="0" bIns="0">
            <a:spAutoFit/>
          </a:bodyPr>
          <a:lstStyle/>
          <a:p>
            <a:pPr algn="l">
              <a:lnSpc>
                <a:spcPct val="112000"/>
              </a:lnSpc>
              <a:spcBef>
                <a:spcPts val="0"/>
              </a:spcBef>
              <a:spcAft>
                <a:spcPts val="200"/>
              </a:spcAft>
              <a:defRPr sz="1150" b="1" i="0">
                <a:solidFill>
                  <a:srgbClr val="B8860B"/>
                </a:solidFill>
                <a:latin typeface="Calisto MT"/>
              </a:defRPr>
            </a:pPr>
            <a:r>
              <a:t>CRITICAL APPRAISAL OF CORE BENCHMARK STUDIES (THESIS CHAPTER 2)</a:t>
            </a:r>
          </a:p>
        </p:txBody>
      </p:sp>
      <p:sp>
        <p:nvSpPr>
          <p:cNvPr id="5" name="Lit_Paper_0"/>
          <p:cNvSpPr txBox="1"/>
          <p:nvPr/>
        </p:nvSpPr>
        <p:spPr>
          <a:xfrm>
            <a:off x="822960" y="1261872"/>
            <a:ext cx="3227832" cy="4389120"/>
          </a:xfrm>
          <a:prstGeom prst="rect">
            <a:avLst/>
          </a:prstGeom>
          <a:noFill/>
        </p:spPr>
        <p:txBody>
          <a:bodyPr wrap="square" lIns="18288" rIns="18288" tIns="18288" bIns="18288">
            <a:spAutoFit/>
          </a:bodyPr>
          <a:lstStyle/>
          <a:p>
            <a:pPr algn="l">
              <a:lnSpc>
                <a:spcPct val="110000"/>
              </a:lnSpc>
              <a:spcBef>
                <a:spcPts val="0"/>
              </a:spcBef>
              <a:spcAft>
                <a:spcPts val="100"/>
              </a:spcAft>
              <a:defRPr sz="1150" b="1" i="0">
                <a:solidFill>
                  <a:srgbClr val="002060"/>
                </a:solidFill>
                <a:latin typeface="Calisto MT"/>
              </a:defRPr>
            </a:pPr>
            <a:r>
              <a:t>Athanasios Tsitos, Maria Dagioglou &amp; Theodoros Giannakopoulos (2022)</a:t>
            </a:r>
          </a:p>
          <a:p>
            <a:pPr algn="l">
              <a:lnSpc>
                <a:spcPct val="110000"/>
              </a:lnSpc>
              <a:spcBef>
                <a:spcPts val="0"/>
              </a:spcBef>
              <a:spcAft>
                <a:spcPts val="500"/>
              </a:spcAft>
              <a:defRPr sz="950" b="0" i="1">
                <a:solidFill>
                  <a:srgbClr val="64748B"/>
                </a:solidFill>
                <a:latin typeface="Calisto MT"/>
              </a:defRPr>
            </a:pPr>
            <a:r>
              <a:t>"Real-Time Feasibility of a Human Intention Method Evaluated Through a Competitive Human-Robot Reaching Game"</a:t>
            </a:r>
          </a:p>
          <a:p>
            <a:pPr algn="l">
              <a:lnSpc>
                <a:spcPct val="112000"/>
              </a:lnSpc>
              <a:spcAft>
                <a:spcPts val="400"/>
              </a:spcAft>
            </a:pPr>
            <a:r>
              <a:rPr sz="1050" b="1">
                <a:solidFill>
                  <a:srgbClr val="1E293B"/>
                </a:solidFill>
                <a:latin typeface="Calisto MT"/>
              </a:rPr>
              <a:t>• Objective: </a:t>
            </a:r>
            <a:r>
              <a:rPr sz="1050" b="0">
                <a:solidFill>
                  <a:srgbClr val="334155"/>
                </a:solidFill>
                <a:latin typeface="Calisto MT"/>
              </a:rPr>
              <a:t>Predict human reaching intent early to guide robot arm trajectories within a 150 ms reaction threshold.</a:t>
            </a:r>
          </a:p>
          <a:p>
            <a:pPr algn="l">
              <a:lnSpc>
                <a:spcPct val="112000"/>
              </a:lnSpc>
              <a:spcAft>
                <a:spcPts val="400"/>
              </a:spcAft>
            </a:pPr>
            <a:r>
              <a:rPr sz="1050" b="1">
                <a:solidFill>
                  <a:srgbClr val="1E293B"/>
                </a:solidFill>
                <a:latin typeface="Calisto MT"/>
              </a:rPr>
              <a:t>• Methodology: </a:t>
            </a:r>
            <a:r>
              <a:rPr sz="1050" b="0">
                <a:solidFill>
                  <a:srgbClr val="334155"/>
                </a:solidFill>
                <a:latin typeface="Calisto MT"/>
              </a:rPr>
              <a:t>Tracked hand movements with a depth camera and trained machine learning (SVM) to guide a robot arm.</a:t>
            </a:r>
          </a:p>
          <a:p>
            <a:pPr algn="l">
              <a:lnSpc>
                <a:spcPct val="112000"/>
              </a:lnSpc>
              <a:spcAft>
                <a:spcPts val="500"/>
              </a:spcAft>
            </a:pPr>
            <a:r>
              <a:rPr sz="1050" b="1">
                <a:solidFill>
                  <a:srgbClr val="1E293B"/>
                </a:solidFill>
                <a:latin typeface="Calisto MT"/>
              </a:rPr>
              <a:t>• Research Gap: </a:t>
            </a:r>
            <a:r>
              <a:rPr sz="1050" b="0">
                <a:solidFill>
                  <a:srgbClr val="334155"/>
                </a:solidFill>
                <a:latin typeface="Calisto MT"/>
              </a:rPr>
              <a:t>Confined to a static desk — lacks mobile base movement and provides no explicit hand gesture command channel.</a:t>
            </a:r>
          </a:p>
          <a:p>
            <a:pPr algn="l">
              <a:lnSpc>
                <a:spcPct val="112000"/>
              </a:lnSpc>
              <a:spcAft>
                <a:spcPts val="0"/>
              </a:spcAft>
            </a:pPr>
            <a:r>
              <a:rPr sz="1050" b="1">
                <a:solidFill>
                  <a:srgbClr val="002060"/>
                </a:solidFill>
                <a:latin typeface="Calisto MT"/>
              </a:rPr>
              <a:t>• Project Resolution: </a:t>
            </a:r>
            <a:r>
              <a:rPr sz="1050" b="0">
                <a:solidFill>
                  <a:srgbClr val="1E293B"/>
                </a:solidFill>
                <a:latin typeface="Calisto MT"/>
              </a:rPr>
              <a:t>Direct vision-to-wheels coupling for mobile navigation guided by 6 touchless hand gestures.</a:t>
            </a:r>
          </a:p>
        </p:txBody>
      </p:sp>
      <p:sp>
        <p:nvSpPr>
          <p:cNvPr id="6" name="Lit_Paper_1"/>
          <p:cNvSpPr txBox="1"/>
          <p:nvPr/>
        </p:nvSpPr>
        <p:spPr>
          <a:xfrm>
            <a:off x="4480560" y="1261872"/>
            <a:ext cx="3227832" cy="4389120"/>
          </a:xfrm>
          <a:prstGeom prst="rect">
            <a:avLst/>
          </a:prstGeom>
          <a:noFill/>
        </p:spPr>
        <p:txBody>
          <a:bodyPr wrap="square" lIns="18288" rIns="18288" tIns="18288" bIns="18288">
            <a:spAutoFit/>
          </a:bodyPr>
          <a:lstStyle/>
          <a:p>
            <a:pPr algn="l">
              <a:lnSpc>
                <a:spcPct val="110000"/>
              </a:lnSpc>
              <a:spcBef>
                <a:spcPts val="0"/>
              </a:spcBef>
              <a:spcAft>
                <a:spcPts val="100"/>
              </a:spcAft>
              <a:defRPr sz="1150" b="1" i="0">
                <a:solidFill>
                  <a:srgbClr val="002060"/>
                </a:solidFill>
                <a:latin typeface="Calisto MT"/>
              </a:defRPr>
            </a:pPr>
            <a:r>
              <a:t>Jubayer Al Mahmud (2022)</a:t>
            </a:r>
          </a:p>
          <a:p>
            <a:pPr algn="l">
              <a:lnSpc>
                <a:spcPct val="110000"/>
              </a:lnSpc>
              <a:spcBef>
                <a:spcPts val="0"/>
              </a:spcBef>
              <a:spcAft>
                <a:spcPts val="500"/>
              </a:spcAft>
              <a:defRPr sz="950" b="0" i="1">
                <a:solidFill>
                  <a:srgbClr val="64748B"/>
                </a:solidFill>
                <a:latin typeface="Calisto MT"/>
              </a:defRPr>
            </a:pPr>
            <a:r>
              <a:t>"3D Gesture Recognition and Adaptation for Human–Robot Interaction"</a:t>
            </a:r>
          </a:p>
          <a:p>
            <a:pPr algn="l">
              <a:lnSpc>
                <a:spcPct val="112000"/>
              </a:lnSpc>
              <a:spcAft>
                <a:spcPts val="400"/>
              </a:spcAft>
            </a:pPr>
            <a:r>
              <a:rPr sz="1050" b="1">
                <a:solidFill>
                  <a:srgbClr val="1E293B"/>
                </a:solidFill>
                <a:latin typeface="Calisto MT"/>
              </a:rPr>
              <a:t>• Objective: </a:t>
            </a:r>
            <a:r>
              <a:rPr sz="1050" b="0">
                <a:solidFill>
                  <a:srgbClr val="334155"/>
                </a:solidFill>
                <a:latin typeface="Calisto MT"/>
              </a:rPr>
              <a:t>Classify 3D pointing and dynamic hand gestures in real time to guide robot interaction across age groups.</a:t>
            </a:r>
          </a:p>
          <a:p>
            <a:pPr algn="l">
              <a:lnSpc>
                <a:spcPct val="112000"/>
              </a:lnSpc>
              <a:spcAft>
                <a:spcPts val="400"/>
              </a:spcAft>
            </a:pPr>
            <a:r>
              <a:rPr sz="1050" b="1">
                <a:solidFill>
                  <a:srgbClr val="1E293B"/>
                </a:solidFill>
                <a:latin typeface="Calisto MT"/>
              </a:rPr>
              <a:t>• Methodology: </a:t>
            </a:r>
            <a:r>
              <a:rPr sz="1050" b="0">
                <a:solidFill>
                  <a:srgbClr val="334155"/>
                </a:solidFill>
                <a:latin typeface="Calisto MT"/>
              </a:rPr>
              <a:t>Tracked full-body joints using a Kinect sensor and trained deep learning models on 3,600 gestures.</a:t>
            </a:r>
          </a:p>
          <a:p>
            <a:pPr algn="l">
              <a:lnSpc>
                <a:spcPct val="112000"/>
              </a:lnSpc>
              <a:spcAft>
                <a:spcPts val="500"/>
              </a:spcAft>
            </a:pPr>
            <a:r>
              <a:rPr sz="1050" b="1">
                <a:solidFill>
                  <a:srgbClr val="1E293B"/>
                </a:solidFill>
                <a:latin typeface="Calisto MT"/>
              </a:rPr>
              <a:t>• Research Gap: </a:t>
            </a:r>
            <a:r>
              <a:rPr sz="1050" b="0">
                <a:solidFill>
                  <a:srgbClr val="334155"/>
                </a:solidFill>
                <a:latin typeface="Calisto MT"/>
              </a:rPr>
              <a:t>Relies on heavy cloud / GPU computing clusters; vulnerable to network lag (&gt;200 ms) and connection drops.</a:t>
            </a:r>
          </a:p>
          <a:p>
            <a:pPr algn="l">
              <a:lnSpc>
                <a:spcPct val="112000"/>
              </a:lnSpc>
              <a:spcAft>
                <a:spcPts val="0"/>
              </a:spcAft>
            </a:pPr>
            <a:r>
              <a:rPr sz="1050" b="1">
                <a:solidFill>
                  <a:srgbClr val="002060"/>
                </a:solidFill>
                <a:latin typeface="Calisto MT"/>
              </a:rPr>
              <a:t>• Project Resolution: </a:t>
            </a:r>
            <a:r>
              <a:rPr sz="1050" b="0">
                <a:solidFill>
                  <a:srgbClr val="1E293B"/>
                </a:solidFill>
                <a:latin typeface="Calisto MT"/>
              </a:rPr>
              <a:t>Executes 100% of vision AI directly onboard a low-cost Raspberry Pi 5 with zero cloud dependency.</a:t>
            </a:r>
          </a:p>
        </p:txBody>
      </p:sp>
      <p:sp>
        <p:nvSpPr>
          <p:cNvPr id="7" name="Lit_Paper_2"/>
          <p:cNvSpPr txBox="1"/>
          <p:nvPr/>
        </p:nvSpPr>
        <p:spPr>
          <a:xfrm>
            <a:off x="8138160" y="1261872"/>
            <a:ext cx="3227832" cy="4389120"/>
          </a:xfrm>
          <a:prstGeom prst="rect">
            <a:avLst/>
          </a:prstGeom>
          <a:noFill/>
        </p:spPr>
        <p:txBody>
          <a:bodyPr wrap="square" lIns="18288" rIns="18288" tIns="18288" bIns="18288">
            <a:spAutoFit/>
          </a:bodyPr>
          <a:lstStyle/>
          <a:p>
            <a:pPr algn="l">
              <a:lnSpc>
                <a:spcPct val="110000"/>
              </a:lnSpc>
              <a:spcBef>
                <a:spcPts val="0"/>
              </a:spcBef>
              <a:spcAft>
                <a:spcPts val="100"/>
              </a:spcAft>
              <a:defRPr sz="1150" b="1" i="0">
                <a:solidFill>
                  <a:srgbClr val="002060"/>
                </a:solidFill>
                <a:latin typeface="Calisto MT"/>
              </a:defRPr>
            </a:pPr>
            <a:r>
              <a:t>Y. Li, H. Zhang, Guang Yang &amp; Shuoyu Wang (2023)</a:t>
            </a:r>
          </a:p>
          <a:p>
            <a:pPr algn="l">
              <a:lnSpc>
                <a:spcPct val="110000"/>
              </a:lnSpc>
              <a:spcBef>
                <a:spcPts val="0"/>
              </a:spcBef>
              <a:spcAft>
                <a:spcPts val="500"/>
              </a:spcAft>
              <a:defRPr sz="950" b="0" i="1">
                <a:solidFill>
                  <a:srgbClr val="64748B"/>
                </a:solidFill>
                <a:latin typeface="Calisto MT"/>
              </a:defRPr>
            </a:pPr>
            <a:r>
              <a:t>"Safe and Efficient Motion Planning for Material Transportation Robots Considering Intention Prediction of Obstacles"</a:t>
            </a:r>
          </a:p>
          <a:p>
            <a:pPr algn="l">
              <a:lnSpc>
                <a:spcPct val="112000"/>
              </a:lnSpc>
              <a:spcAft>
                <a:spcPts val="400"/>
              </a:spcAft>
            </a:pPr>
            <a:r>
              <a:rPr sz="1050" b="1">
                <a:solidFill>
                  <a:srgbClr val="1E293B"/>
                </a:solidFill>
                <a:latin typeface="Calisto MT"/>
              </a:rPr>
              <a:t>• Objective: </a:t>
            </a:r>
            <a:r>
              <a:rPr sz="1050" b="0">
                <a:solidFill>
                  <a:srgbClr val="334155"/>
                </a:solidFill>
                <a:latin typeface="Calisto MT"/>
              </a:rPr>
              <a:t>Plan collision-free mobile robot paths by predicting whether human workers will clear the hallway.</a:t>
            </a:r>
          </a:p>
          <a:p>
            <a:pPr algn="l">
              <a:lnSpc>
                <a:spcPct val="112000"/>
              </a:lnSpc>
              <a:spcAft>
                <a:spcPts val="400"/>
              </a:spcAft>
            </a:pPr>
            <a:r>
              <a:rPr sz="1050" b="1">
                <a:solidFill>
                  <a:srgbClr val="1E293B"/>
                </a:solidFill>
                <a:latin typeface="Calisto MT"/>
              </a:rPr>
              <a:t>• Methodology: </a:t>
            </a:r>
            <a:r>
              <a:rPr sz="1050" b="0">
                <a:solidFill>
                  <a:srgbClr val="334155"/>
                </a:solidFill>
                <a:latin typeface="Calisto MT"/>
              </a:rPr>
              <a:t>Fused LiDAR and camera vision to predict worker paths and adjust navigation maps in a simulator.</a:t>
            </a:r>
          </a:p>
          <a:p>
            <a:pPr algn="l">
              <a:lnSpc>
                <a:spcPct val="112000"/>
              </a:lnSpc>
              <a:spcAft>
                <a:spcPts val="500"/>
              </a:spcAft>
            </a:pPr>
            <a:r>
              <a:rPr sz="1050" b="1">
                <a:solidFill>
                  <a:srgbClr val="1E293B"/>
                </a:solidFill>
                <a:latin typeface="Calisto MT"/>
              </a:rPr>
              <a:t>• Research Gap: </a:t>
            </a:r>
            <a:r>
              <a:rPr sz="1050" b="0">
                <a:solidFill>
                  <a:srgbClr val="334155"/>
                </a:solidFill>
                <a:latin typeface="Calisto MT"/>
              </a:rPr>
              <a:t>Tested only in computer simulation — never validated on physical robot hardware; lacks touchless gesture control.</a:t>
            </a:r>
          </a:p>
          <a:p>
            <a:pPr algn="l">
              <a:lnSpc>
                <a:spcPct val="112000"/>
              </a:lnSpc>
              <a:spcAft>
                <a:spcPts val="0"/>
              </a:spcAft>
            </a:pPr>
            <a:r>
              <a:rPr sz="1050" b="1">
                <a:solidFill>
                  <a:srgbClr val="002060"/>
                </a:solidFill>
                <a:latin typeface="Calisto MT"/>
              </a:rPr>
              <a:t>• Project Resolution: </a:t>
            </a:r>
            <a:r>
              <a:rPr sz="1050" b="0">
                <a:solidFill>
                  <a:srgbClr val="1E293B"/>
                </a:solidFill>
                <a:latin typeface="Calisto MT"/>
              </a:rPr>
              <a:t>Physically validated on a real mobile robot with 2D LiDAR SLAM, active visual servoing, and ISO safety stops.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03504" y="320040"/>
            <a:ext cx="10972800" cy="548640"/>
          </a:xfrm>
        </p:spPr>
        <p:txBody>
          <a:bodyPr/>
          <a:lstStyle/>
          <a:p>
            <a:pPr algn="ctr">
              <a:lnSpc>
                <a:spcPct val="114000"/>
              </a:lnSpc>
              <a:spcBef>
                <a:spcPts val="0"/>
              </a:spcBef>
              <a:spcAft>
                <a:spcPts val="200"/>
              </a:spcAft>
              <a:defRPr sz="2400" b="1" i="0">
                <a:solidFill>
                  <a:srgbClr val="002060"/>
                </a:solidFill>
                <a:latin typeface="Calisto MT"/>
              </a:defRPr>
            </a:pPr>
            <a:r>
              <a:t>05. 6-PHASE RESEARCH &amp; IMPLEMENTATION METHODOLOGY</a:t>
            </a:r>
          </a:p>
        </p:txBody>
      </p:sp>
      <p:sp>
        <p:nvSpPr>
          <p:cNvPr id="3" name="Content Placeholder 2"/>
          <p:cNvSpPr>
            <a:spLocks noGrp="1"/>
          </p:cNvSpPr>
          <p:nvPr>
            <p:ph idx="1"/>
          </p:nvPr>
        </p:nvSpPr>
        <p:spPr/>
        <p:txBody>
          <a:bodyPr/>
          <a:lstStyle/>
          <a:p/>
        </p:txBody>
      </p:sp>
      <p:sp>
        <p:nvSpPr>
          <p:cNvPr id="4" name="Meth_Subhead"/>
          <p:cNvSpPr txBox="1"/>
          <p:nvPr/>
        </p:nvSpPr>
        <p:spPr>
          <a:xfrm>
            <a:off x="777240" y="960120"/>
            <a:ext cx="10634472" cy="228600"/>
          </a:xfrm>
          <a:prstGeom prst="rect">
            <a:avLst/>
          </a:prstGeom>
          <a:noFill/>
        </p:spPr>
        <p:txBody>
          <a:bodyPr wrap="square" lIns="0" rIns="0" tIns="0" bIns="0">
            <a:spAutoFit/>
          </a:bodyPr>
          <a:lstStyle/>
          <a:p>
            <a:pPr algn="l">
              <a:lnSpc>
                <a:spcPct val="114000"/>
              </a:lnSpc>
              <a:spcBef>
                <a:spcPts val="0"/>
              </a:spcBef>
              <a:spcAft>
                <a:spcPts val="200"/>
              </a:spcAft>
              <a:defRPr sz="1100" b="1" i="0">
                <a:solidFill>
                  <a:srgbClr val="B8860B"/>
                </a:solidFill>
                <a:latin typeface="Calisto MT"/>
              </a:defRPr>
            </a:pPr>
            <a:r>
              <a:t>STRUCTURED RESEARCH &amp; IMPLEMENTATION LIFECYCLE FROM DESIGN TO VALIDATION</a:t>
            </a:r>
          </a:p>
        </p:txBody>
      </p:sp>
      <p:sp>
        <p:nvSpPr>
          <p:cNvPr id="5" name="Meth_P1"/>
          <p:cNvSpPr txBox="1"/>
          <p:nvPr/>
        </p:nvSpPr>
        <p:spPr>
          <a:xfrm>
            <a:off x="777240" y="1298448"/>
            <a:ext cx="3319272" cy="1965960"/>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01</a:t>
            </a:r>
          </a:p>
          <a:p>
            <a:pPr algn="l">
              <a:lnSpc>
                <a:spcPct val="112000"/>
              </a:lnSpc>
              <a:spcBef>
                <a:spcPts val="0"/>
              </a:spcBef>
              <a:spcAft>
                <a:spcPts val="500"/>
              </a:spcAft>
              <a:defRPr sz="1200" b="1" i="0">
                <a:solidFill>
                  <a:srgbClr val="002060"/>
                </a:solidFill>
                <a:latin typeface="Calisto MT"/>
              </a:defRPr>
            </a:pPr>
            <a:r>
              <a:t>Mechatronics &amp; Hardware</a:t>
            </a:r>
          </a:p>
          <a:p>
            <a:pPr algn="l">
              <a:lnSpc>
                <a:spcPct val="114000"/>
              </a:lnSpc>
              <a:spcAft>
                <a:spcPts val="400"/>
              </a:spcAft>
            </a:pPr>
            <a:r>
              <a:rPr sz="1000" b="1">
                <a:solidFill>
                  <a:srgbClr val="002060"/>
                </a:solidFill>
                <a:latin typeface="Calisto MT"/>
              </a:rPr>
              <a:t>• Robot Platform: </a:t>
            </a:r>
            <a:r>
              <a:rPr sz="1000" b="0">
                <a:solidFill>
                  <a:srgbClr val="334155"/>
                </a:solidFill>
                <a:latin typeface="Calisto MT"/>
              </a:rPr>
              <a:t>4WD mobile base with geared DC motors, wheel encoders, and camera gimbal.</a:t>
            </a:r>
          </a:p>
          <a:p>
            <a:pPr algn="l">
              <a:lnSpc>
                <a:spcPct val="114000"/>
              </a:lnSpc>
              <a:spcAft>
                <a:spcPts val="400"/>
              </a:spcAft>
            </a:pPr>
            <a:r>
              <a:rPr sz="1000" b="1">
                <a:solidFill>
                  <a:srgbClr val="002060"/>
                </a:solidFill>
                <a:latin typeface="Calisto MT"/>
              </a:rPr>
              <a:t>• Dual Processors: </a:t>
            </a:r>
            <a:r>
              <a:rPr sz="1000" b="0">
                <a:solidFill>
                  <a:srgbClr val="334155"/>
                </a:solidFill>
                <a:latin typeface="Calisto MT"/>
              </a:rPr>
              <a:t>Raspberry Pi 5 for vision AI paired with an ESP32-S3 for real-time motor control.</a:t>
            </a:r>
          </a:p>
          <a:p>
            <a:pPr algn="l">
              <a:lnSpc>
                <a:spcPct val="114000"/>
              </a:lnSpc>
              <a:spcAft>
                <a:spcPts val="0"/>
              </a:spcAft>
            </a:pPr>
            <a:r>
              <a:rPr sz="1000" b="1">
                <a:solidFill>
                  <a:srgbClr val="002060"/>
                </a:solidFill>
                <a:latin typeface="Calisto MT"/>
              </a:rPr>
              <a:t>• Separate Power: </a:t>
            </a:r>
            <a:r>
              <a:rPr sz="1000" b="0">
                <a:solidFill>
                  <a:srgbClr val="334155"/>
                </a:solidFill>
                <a:latin typeface="Calisto MT"/>
              </a:rPr>
              <a:t>Dedicated battery packs powering the onboard computer and drive motors independently.</a:t>
            </a:r>
          </a:p>
        </p:txBody>
      </p:sp>
      <p:sp>
        <p:nvSpPr>
          <p:cNvPr id="6" name="Meth_P2"/>
          <p:cNvSpPr txBox="1"/>
          <p:nvPr/>
        </p:nvSpPr>
        <p:spPr>
          <a:xfrm>
            <a:off x="4434840" y="1298448"/>
            <a:ext cx="3319272" cy="1965960"/>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02</a:t>
            </a:r>
          </a:p>
          <a:p>
            <a:pPr algn="l">
              <a:lnSpc>
                <a:spcPct val="112000"/>
              </a:lnSpc>
              <a:spcBef>
                <a:spcPts val="0"/>
              </a:spcBef>
              <a:spcAft>
                <a:spcPts val="500"/>
              </a:spcAft>
              <a:defRPr sz="1200" b="1" i="0">
                <a:solidFill>
                  <a:srgbClr val="002060"/>
                </a:solidFill>
                <a:latin typeface="Calisto MT"/>
              </a:defRPr>
            </a:pPr>
            <a:r>
              <a:t>Data Collection &amp; Setup</a:t>
            </a:r>
          </a:p>
          <a:p>
            <a:pPr algn="l">
              <a:lnSpc>
                <a:spcPct val="114000"/>
              </a:lnSpc>
              <a:spcAft>
                <a:spcPts val="400"/>
              </a:spcAft>
            </a:pPr>
            <a:r>
              <a:rPr sz="1000" b="1">
                <a:solidFill>
                  <a:srgbClr val="002060"/>
                </a:solidFill>
                <a:latin typeface="Calisto MT"/>
              </a:rPr>
              <a:t>• Custom Dataset: </a:t>
            </a:r>
            <a:r>
              <a:rPr sz="1000" b="0">
                <a:solidFill>
                  <a:srgbClr val="334155"/>
                </a:solidFill>
                <a:latin typeface="Calisto MT"/>
              </a:rPr>
              <a:t>6,000 total gesture images (1,000 per class) collected with the onboard camera.</a:t>
            </a:r>
          </a:p>
          <a:p>
            <a:pPr algn="l">
              <a:lnSpc>
                <a:spcPct val="114000"/>
              </a:lnSpc>
              <a:spcAft>
                <a:spcPts val="400"/>
              </a:spcAft>
            </a:pPr>
            <a:r>
              <a:rPr sz="1000" b="1">
                <a:solidFill>
                  <a:srgbClr val="002060"/>
                </a:solidFill>
                <a:latin typeface="Calisto MT"/>
              </a:rPr>
              <a:t>• 6 Core Gestures: </a:t>
            </a:r>
            <a:r>
              <a:rPr sz="1000" b="0">
                <a:solidFill>
                  <a:srgbClr val="334155"/>
                </a:solidFill>
                <a:latin typeface="Calisto MT"/>
              </a:rPr>
              <a:t>Navigational commands: STOP, GO, FOLLOW, LEFT, RIGHT, and BACK.</a:t>
            </a:r>
          </a:p>
          <a:p>
            <a:pPr algn="l">
              <a:lnSpc>
                <a:spcPct val="114000"/>
              </a:lnSpc>
              <a:spcAft>
                <a:spcPts val="0"/>
              </a:spcAft>
            </a:pPr>
            <a:r>
              <a:rPr sz="1000" b="1">
                <a:solidFill>
                  <a:srgbClr val="002060"/>
                </a:solidFill>
                <a:latin typeface="Calisto MT"/>
              </a:rPr>
              <a:t>• Realistic Testing: </a:t>
            </a:r>
            <a:r>
              <a:rPr sz="1000" b="0">
                <a:solidFill>
                  <a:srgbClr val="334155"/>
                </a:solidFill>
                <a:latin typeface="Calisto MT"/>
              </a:rPr>
              <a:t>Captured at distances between 1.0 m and 2.5 m under standard room lighting.</a:t>
            </a:r>
          </a:p>
        </p:txBody>
      </p:sp>
      <p:sp>
        <p:nvSpPr>
          <p:cNvPr id="7" name="Meth_P3"/>
          <p:cNvSpPr txBox="1"/>
          <p:nvPr/>
        </p:nvSpPr>
        <p:spPr>
          <a:xfrm>
            <a:off x="8092440" y="1298448"/>
            <a:ext cx="3319272" cy="1965960"/>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03</a:t>
            </a:r>
          </a:p>
          <a:p>
            <a:pPr algn="l">
              <a:lnSpc>
                <a:spcPct val="112000"/>
              </a:lnSpc>
              <a:spcBef>
                <a:spcPts val="0"/>
              </a:spcBef>
              <a:spcAft>
                <a:spcPts val="500"/>
              </a:spcAft>
              <a:defRPr sz="1200" b="1" i="0">
                <a:solidFill>
                  <a:srgbClr val="002060"/>
                </a:solidFill>
                <a:latin typeface="Calisto MT"/>
              </a:defRPr>
            </a:pPr>
            <a:r>
              <a:t>Feature Extraction &amp; AI Models</a:t>
            </a:r>
          </a:p>
          <a:p>
            <a:pPr algn="l">
              <a:lnSpc>
                <a:spcPct val="114000"/>
              </a:lnSpc>
              <a:spcAft>
                <a:spcPts val="400"/>
              </a:spcAft>
            </a:pPr>
            <a:r>
              <a:rPr sz="1000" b="1">
                <a:solidFill>
                  <a:srgbClr val="002060"/>
                </a:solidFill>
                <a:latin typeface="Calisto MT"/>
              </a:rPr>
              <a:t>• Hand Keypoints: </a:t>
            </a:r>
            <a:r>
              <a:rPr sz="1000" b="0">
                <a:solidFill>
                  <a:srgbClr val="334155"/>
                </a:solidFill>
                <a:latin typeface="Calisto MT"/>
              </a:rPr>
              <a:t>Detected 21 hand joints with MediaPipe and computed 19 normalized angles and distances.</a:t>
            </a:r>
          </a:p>
          <a:p>
            <a:pPr algn="l">
              <a:lnSpc>
                <a:spcPct val="114000"/>
              </a:lnSpc>
              <a:spcAft>
                <a:spcPts val="400"/>
              </a:spcAft>
            </a:pPr>
            <a:r>
              <a:rPr sz="1000" b="1">
                <a:solidFill>
                  <a:srgbClr val="002060"/>
                </a:solidFill>
                <a:latin typeface="Calisto MT"/>
              </a:rPr>
              <a:t>• Neural Classifier: </a:t>
            </a:r>
            <a:r>
              <a:rPr sz="1000" b="0">
                <a:solidFill>
                  <a:srgbClr val="334155"/>
                </a:solidFill>
                <a:latin typeface="Calisto MT"/>
              </a:rPr>
              <a:t>Compact neural network (46 KB) classifying gestures in under 2 ms on the CPU.</a:t>
            </a:r>
          </a:p>
          <a:p>
            <a:pPr algn="l">
              <a:lnSpc>
                <a:spcPct val="114000"/>
              </a:lnSpc>
              <a:spcAft>
                <a:spcPts val="0"/>
              </a:spcAft>
            </a:pPr>
            <a:r>
              <a:rPr sz="1000" b="1">
                <a:solidFill>
                  <a:srgbClr val="002060"/>
                </a:solidFill>
                <a:latin typeface="Calisto MT"/>
              </a:rPr>
              <a:t>• Motion Predictor: </a:t>
            </a:r>
            <a:r>
              <a:rPr sz="1000" b="0">
                <a:solidFill>
                  <a:srgbClr val="334155"/>
                </a:solidFill>
                <a:latin typeface="Calisto MT"/>
              </a:rPr>
              <a:t>Recurrent neural model (LSTM) tracking hand and body movements across consecutive frames.</a:t>
            </a:r>
          </a:p>
        </p:txBody>
      </p:sp>
      <p:sp>
        <p:nvSpPr>
          <p:cNvPr id="8" name="Meth_P4"/>
          <p:cNvSpPr txBox="1"/>
          <p:nvPr/>
        </p:nvSpPr>
        <p:spPr>
          <a:xfrm>
            <a:off x="777240" y="3611880"/>
            <a:ext cx="3319272" cy="1965960"/>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04</a:t>
            </a:r>
          </a:p>
          <a:p>
            <a:pPr algn="l">
              <a:lnSpc>
                <a:spcPct val="112000"/>
              </a:lnSpc>
              <a:spcBef>
                <a:spcPts val="0"/>
              </a:spcBef>
              <a:spcAft>
                <a:spcPts val="500"/>
              </a:spcAft>
              <a:defRPr sz="1200" b="1" i="0">
                <a:solidFill>
                  <a:srgbClr val="002060"/>
                </a:solidFill>
                <a:latin typeface="Calisto MT"/>
              </a:defRPr>
            </a:pPr>
            <a:r>
              <a:t>Robot Control &amp; Safety</a:t>
            </a:r>
          </a:p>
          <a:p>
            <a:pPr algn="l">
              <a:lnSpc>
                <a:spcPct val="114000"/>
              </a:lnSpc>
              <a:spcAft>
                <a:spcPts val="400"/>
              </a:spcAft>
            </a:pPr>
            <a:r>
              <a:rPr sz="1000" b="1">
                <a:solidFill>
                  <a:srgbClr val="002060"/>
                </a:solidFill>
                <a:latin typeface="Calisto MT"/>
              </a:rPr>
              <a:t>• ROS 2 Framework: </a:t>
            </a:r>
            <a:r>
              <a:rPr sz="1000" b="0">
                <a:solidFill>
                  <a:srgbClr val="334155"/>
                </a:solidFill>
                <a:latin typeface="Calisto MT"/>
              </a:rPr>
              <a:t>Modular software nodes connecting the camera, AI models, and motor drivers.</a:t>
            </a:r>
          </a:p>
          <a:p>
            <a:pPr algn="l">
              <a:lnSpc>
                <a:spcPct val="114000"/>
              </a:lnSpc>
              <a:spcAft>
                <a:spcPts val="400"/>
              </a:spcAft>
            </a:pPr>
            <a:r>
              <a:rPr sz="1000" b="1">
                <a:solidFill>
                  <a:srgbClr val="002060"/>
                </a:solidFill>
                <a:latin typeface="Calisto MT"/>
              </a:rPr>
              <a:t>• Decision Logic: </a:t>
            </a:r>
            <a:r>
              <a:rPr sz="1000" b="0">
                <a:solidFill>
                  <a:srgbClr val="334155"/>
                </a:solidFill>
                <a:latin typeface="Calisto MT"/>
              </a:rPr>
              <a:t>State machine filters out accidental motions by confirming steady hand gestures.</a:t>
            </a:r>
          </a:p>
          <a:p>
            <a:pPr algn="l">
              <a:lnSpc>
                <a:spcPct val="114000"/>
              </a:lnSpc>
              <a:spcAft>
                <a:spcPts val="0"/>
              </a:spcAft>
            </a:pPr>
            <a:r>
              <a:rPr sz="1000" b="1">
                <a:solidFill>
                  <a:srgbClr val="002060"/>
                </a:solidFill>
                <a:latin typeface="Calisto MT"/>
              </a:rPr>
              <a:t>• Emergency Halt: </a:t>
            </a:r>
            <a:r>
              <a:rPr sz="1000" b="0">
                <a:solidFill>
                  <a:srgbClr val="334155"/>
                </a:solidFill>
                <a:latin typeface="Calisto MT"/>
              </a:rPr>
              <a:t>2D LiDAR sensor automatically stops the robot if an obstacle is within 0.36 m.</a:t>
            </a:r>
          </a:p>
        </p:txBody>
      </p:sp>
      <p:sp>
        <p:nvSpPr>
          <p:cNvPr id="9" name="Meth_P5"/>
          <p:cNvSpPr txBox="1"/>
          <p:nvPr/>
        </p:nvSpPr>
        <p:spPr>
          <a:xfrm>
            <a:off x="4434840" y="3611880"/>
            <a:ext cx="3319272" cy="1965960"/>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05</a:t>
            </a:r>
          </a:p>
          <a:p>
            <a:pPr algn="l">
              <a:lnSpc>
                <a:spcPct val="112000"/>
              </a:lnSpc>
              <a:spcBef>
                <a:spcPts val="0"/>
              </a:spcBef>
              <a:spcAft>
                <a:spcPts val="500"/>
              </a:spcAft>
              <a:defRPr sz="1200" b="1" i="0">
                <a:solidFill>
                  <a:srgbClr val="002060"/>
                </a:solidFill>
                <a:latin typeface="Calisto MT"/>
              </a:defRPr>
            </a:pPr>
            <a:r>
              <a:t>Mapping &amp; Navigation</a:t>
            </a:r>
          </a:p>
          <a:p>
            <a:pPr algn="l">
              <a:lnSpc>
                <a:spcPct val="114000"/>
              </a:lnSpc>
              <a:spcAft>
                <a:spcPts val="400"/>
              </a:spcAft>
            </a:pPr>
            <a:r>
              <a:rPr sz="1000" b="1">
                <a:solidFill>
                  <a:srgbClr val="002060"/>
                </a:solidFill>
                <a:latin typeface="Calisto MT"/>
              </a:rPr>
              <a:t>• Indoor Mapping: </a:t>
            </a:r>
            <a:r>
              <a:rPr sz="1000" b="0">
                <a:solidFill>
                  <a:srgbClr val="334155"/>
                </a:solidFill>
                <a:latin typeface="Calisto MT"/>
              </a:rPr>
              <a:t>2D laser mapping (slam_toolbox) creates a clean 5 cm resolution floor plan.</a:t>
            </a:r>
          </a:p>
          <a:p>
            <a:pPr algn="l">
              <a:lnSpc>
                <a:spcPct val="114000"/>
              </a:lnSpc>
              <a:spcAft>
                <a:spcPts val="400"/>
              </a:spcAft>
            </a:pPr>
            <a:r>
              <a:rPr sz="1000" b="1">
                <a:solidFill>
                  <a:srgbClr val="002060"/>
                </a:solidFill>
                <a:latin typeface="Calisto MT"/>
              </a:rPr>
              <a:t>• Robot Position: </a:t>
            </a:r>
            <a:r>
              <a:rPr sz="1000" b="0">
                <a:solidFill>
                  <a:srgbClr val="334155"/>
                </a:solidFill>
                <a:latin typeface="Calisto MT"/>
              </a:rPr>
              <a:t>Accurately tracks robot movement by combining wheel encoders with an onboard IMU sensor.</a:t>
            </a:r>
          </a:p>
          <a:p>
            <a:pPr algn="l">
              <a:lnSpc>
                <a:spcPct val="114000"/>
              </a:lnSpc>
              <a:spcAft>
                <a:spcPts val="0"/>
              </a:spcAft>
            </a:pPr>
            <a:r>
              <a:rPr sz="1000" b="1">
                <a:solidFill>
                  <a:srgbClr val="002060"/>
                </a:solidFill>
                <a:latin typeface="Calisto MT"/>
              </a:rPr>
              <a:t>• Path Planning: </a:t>
            </a:r>
            <a:r>
              <a:rPr sz="1000" b="0">
                <a:solidFill>
                  <a:srgbClr val="334155"/>
                </a:solidFill>
                <a:latin typeface="Calisto MT"/>
              </a:rPr>
              <a:t>Nav2 autonomous navigation plans collision-free paths with safe margins around obstacles.</a:t>
            </a:r>
          </a:p>
        </p:txBody>
      </p:sp>
      <p:sp>
        <p:nvSpPr>
          <p:cNvPr id="10" name="Meth_P6"/>
          <p:cNvSpPr txBox="1"/>
          <p:nvPr/>
        </p:nvSpPr>
        <p:spPr>
          <a:xfrm>
            <a:off x="8092440" y="3611880"/>
            <a:ext cx="3319272" cy="1965960"/>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06</a:t>
            </a:r>
          </a:p>
          <a:p>
            <a:pPr algn="l">
              <a:lnSpc>
                <a:spcPct val="112000"/>
              </a:lnSpc>
              <a:spcBef>
                <a:spcPts val="0"/>
              </a:spcBef>
              <a:spcAft>
                <a:spcPts val="500"/>
              </a:spcAft>
              <a:defRPr sz="1200" b="1" i="0">
                <a:solidFill>
                  <a:srgbClr val="002060"/>
                </a:solidFill>
                <a:latin typeface="Calisto MT"/>
              </a:defRPr>
            </a:pPr>
            <a:r>
              <a:t>Experimental Testing &amp; Results</a:t>
            </a:r>
          </a:p>
          <a:p>
            <a:pPr algn="l">
              <a:lnSpc>
                <a:spcPct val="114000"/>
              </a:lnSpc>
              <a:spcAft>
                <a:spcPts val="400"/>
              </a:spcAft>
            </a:pPr>
            <a:r>
              <a:rPr sz="1000" b="1">
                <a:solidFill>
                  <a:srgbClr val="002060"/>
                </a:solidFill>
                <a:latin typeface="Calisto MT"/>
              </a:rPr>
              <a:t>• Fast Response: </a:t>
            </a:r>
            <a:r>
              <a:rPr sz="1000" b="0">
                <a:solidFill>
                  <a:srgbClr val="334155"/>
                </a:solidFill>
                <a:latin typeface="Calisto MT"/>
              </a:rPr>
              <a:t>End-to-end reaction time of 74.2 ms, comfortably below the 150 ms real-time limit.</a:t>
            </a:r>
          </a:p>
          <a:p>
            <a:pPr algn="l">
              <a:lnSpc>
                <a:spcPct val="114000"/>
              </a:lnSpc>
              <a:spcAft>
                <a:spcPts val="400"/>
              </a:spcAft>
            </a:pPr>
            <a:r>
              <a:rPr sz="1000" b="1">
                <a:solidFill>
                  <a:srgbClr val="002060"/>
                </a:solidFill>
                <a:latin typeface="Calisto MT"/>
              </a:rPr>
              <a:t>• Live Driving Trials: </a:t>
            </a:r>
            <a:r>
              <a:rPr sz="1000" b="0">
                <a:solidFill>
                  <a:srgbClr val="334155"/>
                </a:solidFill>
                <a:latin typeface="Calisto MT"/>
              </a:rPr>
              <a:t>180 real-world physical tests achieving a 96.67% operational success rate.</a:t>
            </a:r>
          </a:p>
          <a:p>
            <a:pPr algn="l">
              <a:lnSpc>
                <a:spcPct val="114000"/>
              </a:lnSpc>
              <a:spcAft>
                <a:spcPts val="0"/>
              </a:spcAft>
            </a:pPr>
            <a:r>
              <a:rPr sz="1000" b="1">
                <a:solidFill>
                  <a:srgbClr val="002060"/>
                </a:solidFill>
                <a:latin typeface="Calisto MT"/>
              </a:rPr>
              <a:t>• Safety Confirmed: </a:t>
            </a:r>
            <a:r>
              <a:rPr sz="1000" b="0">
                <a:solidFill>
                  <a:srgbClr val="334155"/>
                </a:solidFill>
                <a:latin typeface="Calisto MT"/>
              </a:rPr>
              <a:t>Verified that the robot reliably halts before coming into contact with any human or obstacle.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03504" y="320040"/>
            <a:ext cx="10972800" cy="548640"/>
          </a:xfrm>
        </p:spPr>
        <p:txBody>
          <a:bodyPr/>
          <a:lstStyle/>
          <a:p>
            <a:pPr algn="ctr">
              <a:lnSpc>
                <a:spcPct val="114000"/>
              </a:lnSpc>
              <a:spcBef>
                <a:spcPts val="0"/>
              </a:spcBef>
              <a:spcAft>
                <a:spcPts val="200"/>
              </a:spcAft>
              <a:defRPr sz="2400" b="1" i="0">
                <a:solidFill>
                  <a:srgbClr val="002060"/>
                </a:solidFill>
                <a:latin typeface="Calisto MT"/>
              </a:defRPr>
            </a:pPr>
            <a:r>
              <a:t>06. SOFTWARE ARCHITECTURE &amp; INTER-NODE DATAFLOW</a:t>
            </a:r>
          </a:p>
        </p:txBody>
      </p:sp>
      <p:sp>
        <p:nvSpPr>
          <p:cNvPr id="3" name="Content Placeholder 2"/>
          <p:cNvSpPr>
            <a:spLocks noGrp="1"/>
          </p:cNvSpPr>
          <p:nvPr>
            <p:ph idx="1"/>
          </p:nvPr>
        </p:nvSpPr>
        <p:spPr/>
        <p:txBody>
          <a:bodyPr/>
          <a:lstStyle/>
          <a:p/>
        </p:txBody>
      </p:sp>
      <p:sp>
        <p:nvSpPr>
          <p:cNvPr id="4" name="Arch_Subhead"/>
          <p:cNvSpPr txBox="1"/>
          <p:nvPr/>
        </p:nvSpPr>
        <p:spPr>
          <a:xfrm>
            <a:off x="777240" y="960120"/>
            <a:ext cx="10634472" cy="228600"/>
          </a:xfrm>
          <a:prstGeom prst="rect">
            <a:avLst/>
          </a:prstGeom>
          <a:noFill/>
        </p:spPr>
        <p:txBody>
          <a:bodyPr wrap="square" lIns="0" rIns="0" tIns="0" bIns="0">
            <a:spAutoFit/>
          </a:bodyPr>
          <a:lstStyle/>
          <a:p>
            <a:pPr algn="l">
              <a:lnSpc>
                <a:spcPct val="114000"/>
              </a:lnSpc>
              <a:spcBef>
                <a:spcPts val="0"/>
              </a:spcBef>
              <a:spcAft>
                <a:spcPts val="200"/>
              </a:spcAft>
              <a:defRPr sz="1100" b="1" i="0">
                <a:solidFill>
                  <a:srgbClr val="B8860B"/>
                </a:solidFill>
                <a:latin typeface="Calisto MT"/>
              </a:defRPr>
            </a:pPr>
            <a:r>
              <a:t>HOW THE ROBOT PROCESSES SENSOR DATA AND MAKES SAFE DRIVING DECISIONS</a:t>
            </a:r>
          </a:p>
        </p:txBody>
      </p:sp>
      <p:sp>
        <p:nvSpPr>
          <p:cNvPr id="5" name="Arch_Tiers_Text"/>
          <p:cNvSpPr txBox="1"/>
          <p:nvPr/>
        </p:nvSpPr>
        <p:spPr>
          <a:xfrm>
            <a:off x="777240" y="1261872"/>
            <a:ext cx="5897880" cy="4297680"/>
          </a:xfrm>
          <a:prstGeom prst="rect">
            <a:avLst/>
          </a:prstGeom>
          <a:noFill/>
        </p:spPr>
        <p:txBody>
          <a:bodyPr wrap="square" lIns="18288" rIns="18288" tIns="18288" bIns="18288">
            <a:spAutoFit/>
          </a:bodyPr>
          <a:lstStyle/>
          <a:p>
            <a:pPr algn="l">
              <a:lnSpc>
                <a:spcPct val="115000"/>
              </a:lnSpc>
              <a:spcAft>
                <a:spcPts val="800"/>
              </a:spcAft>
            </a:pPr>
            <a:r>
              <a:rPr sz="1100" b="1">
                <a:solidFill>
                  <a:srgbClr val="002060"/>
                </a:solidFill>
                <a:latin typeface="Calisto MT"/>
              </a:rPr>
              <a:t>• System Software (ROS 2): </a:t>
            </a:r>
            <a:r>
              <a:rPr sz="1100" b="0">
                <a:solidFill>
                  <a:srgbClr val="334155"/>
                </a:solidFill>
                <a:latin typeface="Calisto MT"/>
              </a:rPr>
              <a:t>Connects all camera, artificial intelligence, and motor programs so they exchange data instantly without delays.</a:t>
            </a:r>
          </a:p>
          <a:p>
            <a:pPr algn="l">
              <a:lnSpc>
                <a:spcPct val="115000"/>
              </a:lnSpc>
              <a:spcAft>
                <a:spcPts val="800"/>
              </a:spcAft>
            </a:pPr>
            <a:r>
              <a:rPr sz="1100" b="1">
                <a:solidFill>
                  <a:srgbClr val="002060"/>
                </a:solidFill>
                <a:latin typeface="Calisto MT"/>
              </a:rPr>
              <a:t>• Live Sensor Feeds: </a:t>
            </a:r>
            <a:r>
              <a:rPr sz="1100" b="0">
                <a:solidFill>
                  <a:srgbClr val="334155"/>
                </a:solidFill>
                <a:latin typeface="Calisto MT"/>
              </a:rPr>
              <a:t>The camera captures live video at 20 frames per second while the laser sensor constantly scans 360 degrees for obstacles.</a:t>
            </a:r>
          </a:p>
          <a:p>
            <a:pPr algn="l">
              <a:lnSpc>
                <a:spcPct val="115000"/>
              </a:lnSpc>
              <a:spcAft>
                <a:spcPts val="800"/>
              </a:spcAft>
            </a:pPr>
            <a:r>
              <a:rPr sz="1100" b="1">
                <a:solidFill>
                  <a:srgbClr val="002060"/>
                </a:solidFill>
                <a:latin typeface="Calisto MT"/>
              </a:rPr>
              <a:t>• Vision &amp; Hand Tracking: </a:t>
            </a:r>
            <a:r>
              <a:rPr sz="1100" b="0">
                <a:solidFill>
                  <a:srgbClr val="334155"/>
                </a:solidFill>
                <a:latin typeface="Calisto MT"/>
              </a:rPr>
              <a:t>Focuses on the person standing in front of the robot, locates 21 finger joints, and identifies the gesture being shown.</a:t>
            </a:r>
          </a:p>
          <a:p>
            <a:pPr algn="l">
              <a:lnSpc>
                <a:spcPct val="115000"/>
              </a:lnSpc>
              <a:spcAft>
                <a:spcPts val="800"/>
              </a:spcAft>
            </a:pPr>
            <a:r>
              <a:rPr sz="1100" b="1">
                <a:solidFill>
                  <a:srgbClr val="002060"/>
                </a:solidFill>
                <a:latin typeface="Calisto MT"/>
              </a:rPr>
              <a:t>• Gesture Confirmation: </a:t>
            </a:r>
            <a:r>
              <a:rPr sz="1100" b="0">
                <a:solidFill>
                  <a:srgbClr val="334155"/>
                </a:solidFill>
                <a:latin typeface="Calisto MT"/>
              </a:rPr>
              <a:t>The robot checks that it sees the exact same gesture 5 times in a row before moving, ignoring accidental hand motions.</a:t>
            </a:r>
          </a:p>
          <a:p>
            <a:pPr algn="l">
              <a:lnSpc>
                <a:spcPct val="115000"/>
              </a:lnSpc>
              <a:spcAft>
                <a:spcPts val="800"/>
              </a:spcAft>
            </a:pPr>
            <a:r>
              <a:rPr sz="1100" b="1">
                <a:solidFill>
                  <a:srgbClr val="002060"/>
                </a:solidFill>
                <a:latin typeface="Calisto MT"/>
              </a:rPr>
              <a:t>• Safety Override: </a:t>
            </a:r>
            <a:r>
              <a:rPr sz="1100" b="0">
                <a:solidFill>
                  <a:srgbClr val="334155"/>
                </a:solidFill>
                <a:latin typeface="Calisto MT"/>
              </a:rPr>
              <a:t>If the laser detects any obstacle closer than 0.36 meters, it instantly overrides driving commands and halts the robot immediately.</a:t>
            </a:r>
          </a:p>
          <a:p>
            <a:pPr algn="l">
              <a:lnSpc>
                <a:spcPct val="115000"/>
              </a:lnSpc>
              <a:spcAft>
                <a:spcPts val="0"/>
              </a:spcAft>
            </a:pPr>
            <a:r>
              <a:rPr sz="1100" b="1">
                <a:solidFill>
                  <a:srgbClr val="002060"/>
                </a:solidFill>
                <a:latin typeface="Calisto MT"/>
              </a:rPr>
              <a:t>• Smooth Wheel Control: </a:t>
            </a:r>
            <a:r>
              <a:rPr sz="1100" b="0">
                <a:solidFill>
                  <a:srgbClr val="334155"/>
                </a:solidFill>
                <a:latin typeface="Calisto MT"/>
              </a:rPr>
              <a:t>Approved movement commands are transmitted directly to the motor controller board, which drives the 4 wheels smoothly.</a:t>
            </a:r>
          </a:p>
        </p:txBody>
      </p:sp>
      <p:pic>
        <p:nvPicPr>
          <p:cNvPr id="6" name="Arch_Diagram_Img" descr="software_flowchart.png"/>
          <p:cNvPicPr>
            <a:picLocks noChangeAspect="1"/>
          </p:cNvPicPr>
          <p:nvPr/>
        </p:nvPicPr>
        <p:blipFill>
          <a:blip r:embed="rId5"/>
          <a:stretch>
            <a:fillRect/>
          </a:stretch>
        </p:blipFill>
        <p:spPr>
          <a:xfrm>
            <a:off x="6903720" y="1261872"/>
            <a:ext cx="4434840" cy="4251960"/>
          </a:xfrm>
          <a:prstGeom prst="rect">
            <a:avLst/>
          </a:prstGeom>
        </p:spPr>
      </p:pic>
      <p:sp>
        <p:nvSpPr>
          <p:cNvPr id="7" name="Arch_Caption"/>
          <p:cNvSpPr txBox="1"/>
          <p:nvPr/>
        </p:nvSpPr>
        <p:spPr>
          <a:xfrm>
            <a:off x="6903720" y="5577840"/>
            <a:ext cx="4434840" cy="228600"/>
          </a:xfrm>
          <a:prstGeom prst="rect">
            <a:avLst/>
          </a:prstGeom>
          <a:noFill/>
        </p:spPr>
        <p:txBody>
          <a:bodyPr wrap="square" lIns="0" rIns="0" tIns="0" bIns="0">
            <a:spAutoFit/>
          </a:bodyPr>
          <a:lstStyle/>
          <a:p>
            <a:pPr algn="ctr">
              <a:lnSpc>
                <a:spcPct val="114000"/>
              </a:lnSpc>
              <a:spcBef>
                <a:spcPts val="0"/>
              </a:spcBef>
              <a:spcAft>
                <a:spcPts val="200"/>
              </a:spcAft>
              <a:defRPr sz="900" b="0" i="1">
                <a:solidFill>
                  <a:srgbClr val="64748B"/>
                </a:solidFill>
                <a:latin typeface="Calisto MT"/>
              </a:defRPr>
            </a:pPr>
            <a:r>
              <a:t>Figure 3.1: Dataflow Pipeline from Sensor Feeds to Wheel Actuation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03504" y="320040"/>
            <a:ext cx="10972800" cy="548640"/>
          </a:xfrm>
        </p:spPr>
        <p:txBody>
          <a:bodyPr/>
          <a:lstStyle/>
          <a:p>
            <a:pPr algn="ctr">
              <a:lnSpc>
                <a:spcPct val="114000"/>
              </a:lnSpc>
              <a:spcBef>
                <a:spcPts val="0"/>
              </a:spcBef>
              <a:spcAft>
                <a:spcPts val="200"/>
              </a:spcAft>
              <a:defRPr sz="2400" b="1" i="0">
                <a:solidFill>
                  <a:srgbClr val="002060"/>
                </a:solidFill>
                <a:latin typeface="Calisto MT"/>
              </a:defRPr>
            </a:pPr>
            <a:r>
              <a:t>07. MECHATRONIC HARDWARE &amp; POWER DISTRIBUTION</a:t>
            </a:r>
          </a:p>
        </p:txBody>
      </p:sp>
      <p:sp>
        <p:nvSpPr>
          <p:cNvPr id="3" name="Content Placeholder 2"/>
          <p:cNvSpPr>
            <a:spLocks noGrp="1"/>
          </p:cNvSpPr>
          <p:nvPr>
            <p:ph idx="1"/>
          </p:nvPr>
        </p:nvSpPr>
        <p:spPr/>
        <p:txBody>
          <a:bodyPr/>
          <a:lstStyle/>
          <a:p/>
        </p:txBody>
      </p:sp>
      <p:sp>
        <p:nvSpPr>
          <p:cNvPr id="4" name="Hw_Subhead"/>
          <p:cNvSpPr txBox="1"/>
          <p:nvPr/>
        </p:nvSpPr>
        <p:spPr>
          <a:xfrm>
            <a:off x="777240" y="960120"/>
            <a:ext cx="10634472" cy="228600"/>
          </a:xfrm>
          <a:prstGeom prst="rect">
            <a:avLst/>
          </a:prstGeom>
          <a:noFill/>
        </p:spPr>
        <p:txBody>
          <a:bodyPr wrap="square" lIns="0" rIns="0" tIns="0" bIns="0">
            <a:spAutoFit/>
          </a:bodyPr>
          <a:lstStyle/>
          <a:p>
            <a:pPr algn="l">
              <a:lnSpc>
                <a:spcPct val="114000"/>
              </a:lnSpc>
              <a:spcBef>
                <a:spcPts val="0"/>
              </a:spcBef>
              <a:spcAft>
                <a:spcPts val="200"/>
              </a:spcAft>
              <a:defRPr sz="1100" b="1" i="0">
                <a:solidFill>
                  <a:srgbClr val="B8860B"/>
                </a:solidFill>
                <a:latin typeface="Calisto MT"/>
              </a:defRPr>
            </a:pPr>
            <a:r>
              <a:t>PHYSICAL EMBEDDED COMPUTING, SENSORS, CHASSIS &amp; POWER ISOLATION</a:t>
            </a:r>
          </a:p>
        </p:txBody>
      </p:sp>
      <p:sp>
        <p:nvSpPr>
          <p:cNvPr id="5" name="Hw_Points_Text"/>
          <p:cNvSpPr txBox="1"/>
          <p:nvPr/>
        </p:nvSpPr>
        <p:spPr>
          <a:xfrm>
            <a:off x="777240" y="1261872"/>
            <a:ext cx="5394960" cy="4297680"/>
          </a:xfrm>
          <a:prstGeom prst="rect">
            <a:avLst/>
          </a:prstGeom>
          <a:noFill/>
        </p:spPr>
        <p:txBody>
          <a:bodyPr wrap="square" lIns="18288" rIns="18288" tIns="18288" bIns="18288">
            <a:spAutoFit/>
          </a:bodyPr>
          <a:lstStyle/>
          <a:p>
            <a:pPr algn="l">
              <a:lnSpc>
                <a:spcPct val="115000"/>
              </a:lnSpc>
              <a:spcAft>
                <a:spcPts val="700"/>
              </a:spcAft>
            </a:pPr>
            <a:r>
              <a:rPr sz="1100" b="1">
                <a:solidFill>
                  <a:srgbClr val="002060"/>
                </a:solidFill>
                <a:latin typeface="Calisto MT"/>
              </a:rPr>
              <a:t>• Onboard Computer (Raspberry Pi 5): </a:t>
            </a:r>
            <a:r>
              <a:rPr sz="1100" b="0">
                <a:solidFill>
                  <a:srgbClr val="334155"/>
                </a:solidFill>
                <a:latin typeface="Calisto MT"/>
              </a:rPr>
              <a:t>8GB RAM single-board computer running all camera tracking, gesture artificial intelligence, and navigation programs directly on the robot.</a:t>
            </a:r>
          </a:p>
          <a:p>
            <a:pPr algn="l">
              <a:lnSpc>
                <a:spcPct val="115000"/>
              </a:lnSpc>
              <a:spcAft>
                <a:spcPts val="700"/>
              </a:spcAft>
            </a:pPr>
            <a:r>
              <a:rPr sz="1100" b="1">
                <a:solidFill>
                  <a:srgbClr val="002060"/>
                </a:solidFill>
                <a:latin typeface="Calisto MT"/>
              </a:rPr>
              <a:t>• Motor Controller (ESP32-S3): </a:t>
            </a:r>
            <a:r>
              <a:rPr sz="1100" b="0">
                <a:solidFill>
                  <a:srgbClr val="334155"/>
                </a:solidFill>
                <a:latin typeface="Calisto MT"/>
              </a:rPr>
              <a:t>Dedicated microcontroller that manages wheel speed and reads motor sensors smoothly without overloading the main computer.</a:t>
            </a:r>
          </a:p>
          <a:p>
            <a:pPr algn="l">
              <a:lnSpc>
                <a:spcPct val="115000"/>
              </a:lnSpc>
              <a:spcAft>
                <a:spcPts val="700"/>
              </a:spcAft>
            </a:pPr>
            <a:r>
              <a:rPr sz="1100" b="1">
                <a:solidFill>
                  <a:srgbClr val="002060"/>
                </a:solidFill>
                <a:latin typeface="Calisto MT"/>
              </a:rPr>
              <a:t>• Laser Scanner (MS200 LiDAR): </a:t>
            </a:r>
            <a:r>
              <a:rPr sz="1100" b="0">
                <a:solidFill>
                  <a:srgbClr val="334155"/>
                </a:solidFill>
                <a:latin typeface="Calisto MT"/>
              </a:rPr>
              <a:t>360-degree laser sensor measuring room distances up to 12 meters for indoor mapping and instant emergency stops.</a:t>
            </a:r>
          </a:p>
          <a:p>
            <a:pPr algn="l">
              <a:lnSpc>
                <a:spcPct val="115000"/>
              </a:lnSpc>
              <a:spcAft>
                <a:spcPts val="700"/>
              </a:spcAft>
            </a:pPr>
            <a:r>
              <a:rPr sz="1100" b="1">
                <a:solidFill>
                  <a:srgbClr val="002060"/>
                </a:solidFill>
                <a:latin typeface="Calisto MT"/>
              </a:rPr>
              <a:t>• Motorized Camera Mount: </a:t>
            </a:r>
            <a:r>
              <a:rPr sz="1100" b="0">
                <a:solidFill>
                  <a:srgbClr val="334155"/>
                </a:solidFill>
                <a:latin typeface="Calisto MT"/>
              </a:rPr>
              <a:t>2-axis motorized camera gimbal that tilts and pans automatically to keep the operator's face and hands centered in view.</a:t>
            </a:r>
          </a:p>
          <a:p>
            <a:pPr algn="l">
              <a:lnSpc>
                <a:spcPct val="115000"/>
              </a:lnSpc>
              <a:spcAft>
                <a:spcPts val="700"/>
              </a:spcAft>
            </a:pPr>
            <a:r>
              <a:rPr sz="1100" b="1">
                <a:solidFill>
                  <a:srgbClr val="002060"/>
                </a:solidFill>
                <a:latin typeface="Calisto MT"/>
              </a:rPr>
              <a:t>• 4-Wheel Drive Chassis: </a:t>
            </a:r>
            <a:r>
              <a:rPr sz="1100" b="0">
                <a:solidFill>
                  <a:srgbClr val="334155"/>
                </a:solidFill>
                <a:latin typeface="Calisto MT"/>
              </a:rPr>
              <a:t>Sturdy aluminium robot base powered by 4 geared DC motors with wheel sensors for smooth and steady movement.</a:t>
            </a:r>
          </a:p>
          <a:p>
            <a:pPr algn="l">
              <a:lnSpc>
                <a:spcPct val="115000"/>
              </a:lnSpc>
              <a:spcAft>
                <a:spcPts val="0"/>
              </a:spcAft>
            </a:pPr>
            <a:r>
              <a:rPr sz="1100" b="1">
                <a:solidFill>
                  <a:srgbClr val="002060"/>
                </a:solidFill>
                <a:latin typeface="Calisto MT"/>
              </a:rPr>
              <a:t>• Dual-Rail Power System: </a:t>
            </a:r>
            <a:r>
              <a:rPr sz="1100" b="0">
                <a:solidFill>
                  <a:srgbClr val="334155"/>
                </a:solidFill>
                <a:latin typeface="Calisto MT"/>
              </a:rPr>
              <a:t>Separate battery power circuits for the computer and motors to prevent electrical interference and sudden power shutdowns.</a:t>
            </a:r>
          </a:p>
        </p:txBody>
      </p:sp>
      <p:pic>
        <p:nvPicPr>
          <p:cNvPr id="6" name="Hw_Photo_Wired" descr="image.jpg"/>
          <p:cNvPicPr>
            <a:picLocks noChangeAspect="1"/>
          </p:cNvPicPr>
          <p:nvPr/>
        </p:nvPicPr>
        <p:blipFill>
          <a:blip r:embed="rId5"/>
          <a:stretch>
            <a:fillRect/>
          </a:stretch>
        </p:blipFill>
        <p:spPr>
          <a:xfrm>
            <a:off x="6492240" y="1371600"/>
            <a:ext cx="2633472" cy="2286000"/>
          </a:xfrm>
          <a:prstGeom prst="rect">
            <a:avLst/>
          </a:prstGeom>
        </p:spPr>
      </p:pic>
      <p:sp>
        <p:nvSpPr>
          <p:cNvPr id="7" name="Hw_Cap_Wired"/>
          <p:cNvSpPr txBox="1"/>
          <p:nvPr/>
        </p:nvSpPr>
        <p:spPr>
          <a:xfrm>
            <a:off x="6492240" y="3749039"/>
            <a:ext cx="2633472" cy="411480"/>
          </a:xfrm>
          <a:prstGeom prst="rect">
            <a:avLst/>
          </a:prstGeom>
          <a:noFill/>
        </p:spPr>
        <p:txBody>
          <a:bodyPr wrap="square" lIns="0" rIns="0" tIns="0" bIns="0">
            <a:spAutoFit/>
          </a:bodyPr>
          <a:lstStyle/>
          <a:p>
            <a:pPr algn="ctr">
              <a:lnSpc>
                <a:spcPct val="114000"/>
              </a:lnSpc>
              <a:spcBef>
                <a:spcPts val="0"/>
              </a:spcBef>
              <a:spcAft>
                <a:spcPts val="200"/>
              </a:spcAft>
              <a:defRPr sz="900" b="0" i="1">
                <a:solidFill>
                  <a:srgbClr val="64748B"/>
                </a:solidFill>
                <a:latin typeface="Calisto MT"/>
              </a:defRPr>
            </a:pPr>
            <a:r>
              <a:t>Figure 3.2: Internal Electronics Stack</a:t>
            </a:r>
            <a:br/>
            <a:r>
              <a:t>(Raspberry Pi 5, ESP32-S3 &amp; Motor Drivers)</a:t>
            </a:r>
          </a:p>
        </p:txBody>
      </p:sp>
      <p:pic>
        <p:nvPicPr>
          <p:cNvPr id="8" name="Hw_Photo_Assembled" descr="image.jpg"/>
          <p:cNvPicPr>
            <a:picLocks noChangeAspect="1"/>
          </p:cNvPicPr>
          <p:nvPr/>
        </p:nvPicPr>
        <p:blipFill>
          <a:blip r:embed="rId6"/>
          <a:stretch>
            <a:fillRect/>
          </a:stretch>
        </p:blipFill>
        <p:spPr>
          <a:xfrm>
            <a:off x="9308592" y="1371600"/>
            <a:ext cx="2633472" cy="2286000"/>
          </a:xfrm>
          <a:prstGeom prst="rect">
            <a:avLst/>
          </a:prstGeom>
        </p:spPr>
      </p:pic>
      <p:sp>
        <p:nvSpPr>
          <p:cNvPr id="9" name="Hw_Cap_Assembled"/>
          <p:cNvSpPr txBox="1"/>
          <p:nvPr/>
        </p:nvSpPr>
        <p:spPr>
          <a:xfrm>
            <a:off x="9308592" y="3749039"/>
            <a:ext cx="2633472" cy="411480"/>
          </a:xfrm>
          <a:prstGeom prst="rect">
            <a:avLst/>
          </a:prstGeom>
          <a:noFill/>
        </p:spPr>
        <p:txBody>
          <a:bodyPr wrap="square" lIns="0" rIns="0" tIns="0" bIns="0">
            <a:spAutoFit/>
          </a:bodyPr>
          <a:lstStyle/>
          <a:p>
            <a:pPr algn="ctr">
              <a:lnSpc>
                <a:spcPct val="114000"/>
              </a:lnSpc>
              <a:spcBef>
                <a:spcPts val="0"/>
              </a:spcBef>
              <a:spcAft>
                <a:spcPts val="200"/>
              </a:spcAft>
              <a:defRPr sz="900" b="0" i="1">
                <a:solidFill>
                  <a:srgbClr val="64748B"/>
                </a:solidFill>
                <a:latin typeface="Calisto MT"/>
              </a:defRPr>
            </a:pPr>
            <a:r>
              <a:t>Figure 3.3: Fully Enclosed Platform</a:t>
            </a:r>
            <a:br/>
            <a:r>
              <a:t>(360° MS200 LiDAR &amp; Active Gimbal)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03504" y="320040"/>
            <a:ext cx="10972800" cy="548640"/>
          </a:xfrm>
        </p:spPr>
        <p:txBody>
          <a:bodyPr/>
          <a:lstStyle/>
          <a:p>
            <a:pPr algn="ctr">
              <a:lnSpc>
                <a:spcPct val="114000"/>
              </a:lnSpc>
              <a:spcBef>
                <a:spcPts val="0"/>
              </a:spcBef>
              <a:spcAft>
                <a:spcPts val="200"/>
              </a:spcAft>
              <a:defRPr sz="2400" b="1" i="0">
                <a:solidFill>
                  <a:srgbClr val="002060"/>
                </a:solidFill>
                <a:latin typeface="Calisto MT"/>
              </a:defRPr>
            </a:pPr>
            <a:r>
              <a:t>08. VISION PERCEPTION &amp; GESTURE AI PIPELINE</a:t>
            </a:r>
          </a:p>
        </p:txBody>
      </p:sp>
      <p:sp>
        <p:nvSpPr>
          <p:cNvPr id="3" name="Content Placeholder 2"/>
          <p:cNvSpPr>
            <a:spLocks noGrp="1"/>
          </p:cNvSpPr>
          <p:nvPr>
            <p:ph idx="1"/>
          </p:nvPr>
        </p:nvSpPr>
        <p:spPr/>
        <p:txBody>
          <a:bodyPr/>
          <a:lstStyle/>
          <a:p/>
        </p:txBody>
      </p:sp>
      <p:sp>
        <p:nvSpPr>
          <p:cNvPr id="4" name="Vision_Subhead"/>
          <p:cNvSpPr txBox="1"/>
          <p:nvPr/>
        </p:nvSpPr>
        <p:spPr>
          <a:xfrm>
            <a:off x="777240" y="960120"/>
            <a:ext cx="10634472" cy="228600"/>
          </a:xfrm>
          <a:prstGeom prst="rect">
            <a:avLst/>
          </a:prstGeom>
          <a:noFill/>
        </p:spPr>
        <p:txBody>
          <a:bodyPr wrap="square" lIns="0" rIns="0" tIns="0" bIns="0">
            <a:spAutoFit/>
          </a:bodyPr>
          <a:lstStyle/>
          <a:p>
            <a:pPr algn="l">
              <a:lnSpc>
                <a:spcPct val="114000"/>
              </a:lnSpc>
              <a:spcBef>
                <a:spcPts val="0"/>
              </a:spcBef>
              <a:spcAft>
                <a:spcPts val="200"/>
              </a:spcAft>
              <a:defRPr sz="1100" b="1" i="0">
                <a:solidFill>
                  <a:srgbClr val="B8860B"/>
                </a:solidFill>
                <a:latin typeface="Calisto MT"/>
              </a:defRPr>
            </a:pPr>
            <a:r>
              <a:t>OPERATOR ISOLATION, 21-POINT SKELETON TRACKING &amp; 19D NEURAL CLASSIFIER</a:t>
            </a:r>
          </a:p>
        </p:txBody>
      </p:sp>
      <p:sp>
        <p:nvSpPr>
          <p:cNvPr id="5" name="Vision_Points_Text"/>
          <p:cNvSpPr txBox="1"/>
          <p:nvPr/>
        </p:nvSpPr>
        <p:spPr>
          <a:xfrm>
            <a:off x="777240" y="1261872"/>
            <a:ext cx="5349240" cy="4297680"/>
          </a:xfrm>
          <a:prstGeom prst="rect">
            <a:avLst/>
          </a:prstGeom>
          <a:noFill/>
        </p:spPr>
        <p:txBody>
          <a:bodyPr wrap="square" lIns="18288" rIns="18288" tIns="18288" bIns="18288">
            <a:spAutoFit/>
          </a:bodyPr>
          <a:lstStyle/>
          <a:p>
            <a:pPr algn="l">
              <a:lnSpc>
                <a:spcPct val="115000"/>
              </a:lnSpc>
              <a:spcAft>
                <a:spcPts val="700"/>
              </a:spcAft>
            </a:pPr>
            <a:r>
              <a:rPr sz="1100" b="1">
                <a:solidFill>
                  <a:srgbClr val="002060"/>
                </a:solidFill>
                <a:latin typeface="Calisto MT"/>
              </a:rPr>
              <a:t>• Operator Spatial Focus: </a:t>
            </a:r>
            <a:r>
              <a:rPr sz="1100" b="0">
                <a:solidFill>
                  <a:srgbClr val="334155"/>
                </a:solidFill>
                <a:latin typeface="Calisto MT"/>
              </a:rPr>
              <a:t>The camera strictly accepts commands from an operator centered in front of the robot, automatically blurring and ignoring passersby in the background.</a:t>
            </a:r>
          </a:p>
          <a:p>
            <a:pPr algn="l">
              <a:lnSpc>
                <a:spcPct val="115000"/>
              </a:lnSpc>
              <a:spcAft>
                <a:spcPts val="700"/>
              </a:spcAft>
            </a:pPr>
            <a:r>
              <a:rPr sz="1100" b="1">
                <a:solidFill>
                  <a:srgbClr val="002060"/>
                </a:solidFill>
                <a:latin typeface="Calisto MT"/>
              </a:rPr>
              <a:t>• 21-Point Skeletal Tracking: </a:t>
            </a:r>
            <a:r>
              <a:rPr sz="1100" b="0">
                <a:solidFill>
                  <a:srgbClr val="334155"/>
                </a:solidFill>
                <a:latin typeface="Calisto MT"/>
              </a:rPr>
              <a:t>Once focused, MediaPipe extracts 21 finger and palm joint landmarks in 3D coordinates from the live video stream in real time.</a:t>
            </a:r>
          </a:p>
          <a:p>
            <a:pPr algn="l">
              <a:lnSpc>
                <a:spcPct val="115000"/>
              </a:lnSpc>
              <a:spcAft>
                <a:spcPts val="700"/>
              </a:spcAft>
            </a:pPr>
            <a:r>
              <a:rPr sz="1100" b="1">
                <a:solidFill>
                  <a:srgbClr val="002060"/>
                </a:solidFill>
                <a:latin typeface="Calisto MT"/>
              </a:rPr>
              <a:t>• Distance-Proof Scaling: </a:t>
            </a:r>
            <a:r>
              <a:rPr sz="1100" b="0">
                <a:solidFill>
                  <a:srgbClr val="334155"/>
                </a:solidFill>
                <a:latin typeface="Calisto MT"/>
              </a:rPr>
              <a:t>Joint coordinates are centered on the wrist and divided by palm width, ensuring gestures look identical whether the user stands 1 meter or 3 meters away.</a:t>
            </a:r>
          </a:p>
          <a:p>
            <a:pPr algn="l">
              <a:lnSpc>
                <a:spcPct val="115000"/>
              </a:lnSpc>
              <a:spcAft>
                <a:spcPts val="700"/>
              </a:spcAft>
            </a:pPr>
            <a:r>
              <a:rPr sz="1100" b="1">
                <a:solidFill>
                  <a:srgbClr val="002060"/>
                </a:solidFill>
                <a:latin typeface="Calisto MT"/>
              </a:rPr>
              <a:t>• 19-D Feature Extraction: </a:t>
            </a:r>
            <a:r>
              <a:rPr sz="1100" b="0">
                <a:solidFill>
                  <a:srgbClr val="334155"/>
                </a:solidFill>
                <a:latin typeface="Calisto MT"/>
              </a:rPr>
              <a:t>Compresses the 21 joints into 19 geometric measurements: 5 finger curl angles, 5 fingertip distances, 4 spread angles, 3D thumb vector, and 2 palm angles.</a:t>
            </a:r>
          </a:p>
          <a:p>
            <a:pPr algn="l">
              <a:lnSpc>
                <a:spcPct val="115000"/>
              </a:lnSpc>
              <a:spcAft>
                <a:spcPts val="700"/>
              </a:spcAft>
            </a:pPr>
            <a:r>
              <a:rPr sz="1100" b="1">
                <a:solidFill>
                  <a:srgbClr val="002060"/>
                </a:solidFill>
                <a:latin typeface="Calisto MT"/>
              </a:rPr>
              <a:t>• Fast Neural Classifier: </a:t>
            </a:r>
            <a:r>
              <a:rPr sz="1100" b="0">
                <a:solidFill>
                  <a:srgbClr val="334155"/>
                </a:solidFill>
                <a:latin typeface="Calisto MT"/>
              </a:rPr>
              <a:t>A 4-layer neural network (MLP) evaluates the 19 features in just 1.2 ms on the Raspberry Pi 5 CPU, achieving 99.38% test accuracy.</a:t>
            </a:r>
          </a:p>
          <a:p>
            <a:pPr algn="l">
              <a:lnSpc>
                <a:spcPct val="115000"/>
              </a:lnSpc>
              <a:spcAft>
                <a:spcPts val="0"/>
              </a:spcAft>
            </a:pPr>
            <a:r>
              <a:rPr sz="1100" b="1">
                <a:solidFill>
                  <a:srgbClr val="002060"/>
                </a:solidFill>
                <a:latin typeface="Calisto MT"/>
              </a:rPr>
              <a:t>• 6 Discrete Motion Commands: </a:t>
            </a:r>
            <a:r>
              <a:rPr sz="1100" b="0">
                <a:solidFill>
                  <a:srgbClr val="334155"/>
                </a:solidFill>
                <a:latin typeface="Calisto MT"/>
              </a:rPr>
              <a:t>Translates recognized hand poses into unambiguous motion intents: STOP (open palm), GO (point forward), LEFT, RIGHT, BACK, and FOLLOW.</a:t>
            </a:r>
          </a:p>
        </p:txBody>
      </p:sp>
      <p:pic>
        <p:nvPicPr>
          <p:cNvPr id="6" name="Vision_HUD_Img" descr="image.jpg"/>
          <p:cNvPicPr>
            <a:picLocks noChangeAspect="1"/>
          </p:cNvPicPr>
          <p:nvPr/>
        </p:nvPicPr>
        <p:blipFill>
          <a:blip r:embed="rId2"/>
          <a:stretch>
            <a:fillRect/>
          </a:stretch>
        </p:blipFill>
        <p:spPr>
          <a:xfrm>
            <a:off x="6355080" y="1261872"/>
            <a:ext cx="3017520" cy="2267712"/>
          </a:xfrm>
          <a:prstGeom prst="rect">
            <a:avLst/>
          </a:prstGeom>
        </p:spPr>
      </p:pic>
      <p:sp>
        <p:nvSpPr>
          <p:cNvPr id="7" name="Vision_HUD_Cap"/>
          <p:cNvSpPr txBox="1"/>
          <p:nvPr/>
        </p:nvSpPr>
        <p:spPr>
          <a:xfrm>
            <a:off x="6355080" y="3566160"/>
            <a:ext cx="3017520" cy="320040"/>
          </a:xfrm>
          <a:prstGeom prst="rect">
            <a:avLst/>
          </a:prstGeom>
          <a:noFill/>
        </p:spPr>
        <p:txBody>
          <a:bodyPr wrap="square" lIns="0" rIns="0" tIns="0" bIns="0">
            <a:spAutoFit/>
          </a:bodyPr>
          <a:lstStyle/>
          <a:p>
            <a:pPr algn="ctr">
              <a:lnSpc>
                <a:spcPct val="114000"/>
              </a:lnSpc>
              <a:spcBef>
                <a:spcPts val="0"/>
              </a:spcBef>
              <a:spcAft>
                <a:spcPts val="200"/>
              </a:spcAft>
              <a:defRPr sz="850" b="0" i="1">
                <a:solidFill>
                  <a:srgbClr val="64748B"/>
                </a:solidFill>
                <a:latin typeface="Calisto MT"/>
              </a:defRPr>
            </a:pPr>
            <a:r>
              <a:t>Figure 3.4: Operator Acceptance HUD &amp; Bystander Blur</a:t>
            </a:r>
          </a:p>
        </p:txBody>
      </p:sp>
      <p:pic>
        <p:nvPicPr>
          <p:cNvPr id="8" name="Vision_Hand_Img" descr="image.jpg"/>
          <p:cNvPicPr>
            <a:picLocks noChangeAspect="1"/>
          </p:cNvPicPr>
          <p:nvPr/>
        </p:nvPicPr>
        <p:blipFill>
          <a:blip r:embed="rId3"/>
          <a:stretch>
            <a:fillRect/>
          </a:stretch>
        </p:blipFill>
        <p:spPr>
          <a:xfrm>
            <a:off x="9555480" y="1261872"/>
            <a:ext cx="1965960" cy="3749039"/>
          </a:xfrm>
          <a:prstGeom prst="rect">
            <a:avLst/>
          </a:prstGeom>
        </p:spPr>
      </p:pic>
      <p:sp>
        <p:nvSpPr>
          <p:cNvPr id="9" name="Vision_Hand_Cap"/>
          <p:cNvSpPr txBox="1"/>
          <p:nvPr/>
        </p:nvSpPr>
        <p:spPr>
          <a:xfrm>
            <a:off x="9555480" y="5047488"/>
            <a:ext cx="1965960" cy="365760"/>
          </a:xfrm>
          <a:prstGeom prst="rect">
            <a:avLst/>
          </a:prstGeom>
          <a:noFill/>
        </p:spPr>
        <p:txBody>
          <a:bodyPr wrap="square" lIns="0" rIns="0" tIns="0" bIns="0">
            <a:spAutoFit/>
          </a:bodyPr>
          <a:lstStyle/>
          <a:p>
            <a:pPr algn="ctr">
              <a:lnSpc>
                <a:spcPct val="114000"/>
              </a:lnSpc>
              <a:spcBef>
                <a:spcPts val="0"/>
              </a:spcBef>
              <a:spcAft>
                <a:spcPts val="200"/>
              </a:spcAft>
              <a:defRPr sz="850" b="0" i="1">
                <a:solidFill>
                  <a:srgbClr val="64748B"/>
                </a:solidFill>
                <a:latin typeface="Calisto MT"/>
              </a:defRPr>
            </a:pPr>
            <a:r>
              <a:t>Figure 3.5: 21-Joint 3D Hand Model</a:t>
            </a:r>
          </a:p>
        </p:txBody>
      </p:sp>
      <p:sp>
        <p:nvSpPr>
          <p:cNvPr id="10" name="Vision_Vocab_Text"/>
          <p:cNvSpPr txBox="1"/>
          <p:nvPr/>
        </p:nvSpPr>
        <p:spPr>
          <a:xfrm>
            <a:off x="6355080" y="3977639"/>
            <a:ext cx="3108960" cy="1508760"/>
          </a:xfrm>
          <a:prstGeom prst="rect">
            <a:avLst/>
          </a:prstGeom>
          <a:noFill/>
        </p:spPr>
        <p:txBody>
          <a:bodyPr wrap="square" lIns="0" rIns="0" tIns="0" bIns="0">
            <a:spAutoFit/>
          </a:bodyPr>
          <a:lstStyle/>
          <a:p>
            <a:pPr algn="l">
              <a:lnSpc>
                <a:spcPct val="114000"/>
              </a:lnSpc>
              <a:spcBef>
                <a:spcPts val="0"/>
              </a:spcBef>
              <a:spcAft>
                <a:spcPts val="300"/>
              </a:spcAft>
              <a:defRPr sz="950" b="1" i="0">
                <a:solidFill>
                  <a:srgbClr val="B8860B"/>
                </a:solidFill>
                <a:latin typeface="Calisto MT"/>
              </a:defRPr>
            </a:pPr>
            <a:r>
              <a:t>CLASSIFIER VOCABULARY &amp; BENCHMARKS:</a:t>
            </a:r>
          </a:p>
          <a:p>
            <a:pPr algn="l">
              <a:lnSpc>
                <a:spcPct val="112000"/>
              </a:lnSpc>
              <a:spcAft>
                <a:spcPts val="200"/>
              </a:spcAft>
            </a:pPr>
            <a:r>
              <a:rPr sz="900" b="1">
                <a:solidFill>
                  <a:srgbClr val="002060"/>
                </a:solidFill>
                <a:latin typeface="Calisto MT"/>
              </a:rPr>
              <a:t>• Commands: </a:t>
            </a:r>
            <a:r>
              <a:rPr sz="900" b="0">
                <a:solidFill>
                  <a:srgbClr val="334155"/>
                </a:solidFill>
                <a:latin typeface="Calisto MT"/>
              </a:rPr>
              <a:t>STOP, GO, LEFT, RIGHT, BACK, FOLLOW</a:t>
            </a:r>
          </a:p>
          <a:p>
            <a:pPr algn="l">
              <a:lnSpc>
                <a:spcPct val="112000"/>
              </a:lnSpc>
              <a:spcAft>
                <a:spcPts val="200"/>
              </a:spcAft>
            </a:pPr>
            <a:r>
              <a:rPr sz="900" b="1">
                <a:solidFill>
                  <a:srgbClr val="002060"/>
                </a:solidFill>
                <a:latin typeface="Calisto MT"/>
              </a:rPr>
              <a:t>• Inference Speed: </a:t>
            </a:r>
            <a:r>
              <a:rPr sz="900" b="0">
                <a:solidFill>
                  <a:srgbClr val="334155"/>
                </a:solidFill>
                <a:latin typeface="Calisto MT"/>
              </a:rPr>
              <a:t>1.2 ms on Raspberry Pi 5 CPU (100x real-time)</a:t>
            </a:r>
          </a:p>
          <a:p>
            <a:pPr algn="l">
              <a:lnSpc>
                <a:spcPct val="112000"/>
              </a:lnSpc>
              <a:spcAft>
                <a:spcPts val="0"/>
              </a:spcAft>
            </a:pPr>
            <a:r>
              <a:rPr sz="900" b="1">
                <a:solidFill>
                  <a:srgbClr val="002060"/>
                </a:solidFill>
                <a:latin typeface="Calisto MT"/>
              </a:rPr>
              <a:t>• Model Accuracy: </a:t>
            </a:r>
            <a:r>
              <a:rPr sz="900" b="0">
                <a:solidFill>
                  <a:srgbClr val="334155"/>
                </a:solidFill>
                <a:latin typeface="Calisto MT"/>
              </a:rPr>
              <a:t>99.38% test accuracy (6,000 verified samples)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248</TotalTime>
  <Words>9</Words>
  <Application>Microsoft Office PowerPoint</Application>
  <PresentationFormat>Widescreen</PresentationFormat>
  <Paragraphs>3</Paragraphs>
  <Slides>5</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5</vt:i4>
      </vt:variant>
    </vt:vector>
  </HeadingPairs>
  <TitlesOfParts>
    <vt:vector size="11" baseType="lpstr">
      <vt:lpstr>Arial</vt:lpstr>
      <vt:lpstr>Calibri</vt:lpstr>
      <vt:lpstr>Calibri Light</vt:lpstr>
      <vt:lpstr>Gill Sans MT</vt:lpstr>
      <vt:lpstr>Wingdings</vt:lpstr>
      <vt:lpstr>Office Theme</vt:lpstr>
      <vt:lpstr>     </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dc:creator>
  <cp:lastModifiedBy>Owusu Agyeman Antwi</cp:lastModifiedBy>
  <cp:revision>212</cp:revision>
  <dcterms:created xsi:type="dcterms:W3CDTF">2020-12-21T23:45:00Z</dcterms:created>
  <dcterms:modified xsi:type="dcterms:W3CDTF">2025-12-05T09:20:25Z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6E3DABCEAFBD474A891E53D5B3EEA2E6</vt:lpwstr>
  </property>
  <property fmtid="{D5CDD505-2E9C-101B-9397-08002B2CF9AE}" pid="3" name="KSOProductBuildVer">
    <vt:lpwstr>1033-11.2.0.11486</vt:lpwstr>
  </property>
</Properties>
</file>