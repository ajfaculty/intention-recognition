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EMBEDDED DESIGN TO VALIDATION</a:t>
            </a:r>
          </a:p>
        </p:txBody>
      </p:sp>
      <p:sp>
        <p:nvSpPr>
          <p:cNvPr id="5" name="Meth_P1"/>
          <p:cNvSpPr txBox="1"/>
          <p:nvPr/>
        </p:nvSpPr>
        <p:spPr>
          <a:xfrm>
            <a:off x="777240" y="1261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Embedded Hardware</a:t>
            </a:r>
          </a:p>
          <a:p>
            <a:pPr algn="l">
              <a:lnSpc>
                <a:spcPct val="114000"/>
              </a:lnSpc>
              <a:spcAft>
                <a:spcPts val="300"/>
              </a:spcAft>
            </a:pPr>
            <a:r>
              <a:rPr sz="1000" b="1">
                <a:solidFill>
                  <a:srgbClr val="002060"/>
                </a:solidFill>
                <a:latin typeface="Calisto MT"/>
              </a:rPr>
              <a:t>• Robot Chassis: </a:t>
            </a:r>
            <a:r>
              <a:rPr sz="1000" b="0">
                <a:solidFill>
                  <a:srgbClr val="334155"/>
                </a:solidFill>
                <a:latin typeface="Calisto MT"/>
              </a:rPr>
              <a:t>Yahboom 4WD mobile base with DC encoder motors and 2-DOF camera gimbal.</a:t>
            </a:r>
          </a:p>
          <a:p>
            <a:pPr algn="l">
              <a:lnSpc>
                <a:spcPct val="114000"/>
              </a:lnSpc>
              <a:spcAft>
                <a:spcPts val="300"/>
              </a:spcAft>
            </a:pPr>
            <a:r>
              <a:rPr sz="1000" b="1">
                <a:solidFill>
                  <a:srgbClr val="002060"/>
                </a:solidFill>
                <a:latin typeface="Calisto MT"/>
              </a:rPr>
              <a:t>• Edge Compute: </a:t>
            </a:r>
            <a:r>
              <a:rPr sz="1000" b="0">
                <a:solidFill>
                  <a:srgbClr val="334155"/>
                </a:solidFill>
                <a:latin typeface="Calisto MT"/>
              </a:rPr>
              <a:t>Raspberry Pi 5 (8GB) paired with an ESP32-S3 real-time micro-ROS co-processor.</a:t>
            </a:r>
          </a:p>
          <a:p>
            <a:pPr algn="l">
              <a:lnSpc>
                <a:spcPct val="114000"/>
              </a:lnSpc>
              <a:spcAft>
                <a:spcPts val="0"/>
              </a:spcAft>
            </a:pPr>
            <a:r>
              <a:rPr sz="1000" b="1">
                <a:solidFill>
                  <a:srgbClr val="002060"/>
                </a:solidFill>
                <a:latin typeface="Calisto MT"/>
              </a:rPr>
              <a:t>• Power Isolation: </a:t>
            </a:r>
            <a:r>
              <a:rPr sz="1000" b="0">
                <a:solidFill>
                  <a:srgbClr val="334155"/>
                </a:solidFill>
                <a:latin typeface="Calisto MT"/>
              </a:rPr>
              <a:t>Decoupled dual battery circuits protecting computer logic from motor electrical spikes.</a:t>
            </a:r>
          </a:p>
        </p:txBody>
      </p:sp>
      <p:sp>
        <p:nvSpPr>
          <p:cNvPr id="6" name="Meth_P2"/>
          <p:cNvSpPr txBox="1"/>
          <p:nvPr/>
        </p:nvSpPr>
        <p:spPr>
          <a:xfrm>
            <a:off x="4434840" y="1261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Acquisition &amp; Calibration</a:t>
            </a:r>
          </a:p>
          <a:p>
            <a:pPr algn="l">
              <a:lnSpc>
                <a:spcPct val="114000"/>
              </a:lnSpc>
              <a:spcAft>
                <a:spcPts val="300"/>
              </a:spcAft>
            </a:pPr>
            <a:r>
              <a:rPr sz="1000" b="1">
                <a:solidFill>
                  <a:srgbClr val="002060"/>
                </a:solidFill>
                <a:latin typeface="Calisto MT"/>
              </a:rPr>
              <a:t>• Dataset Size: </a:t>
            </a:r>
            <a:r>
              <a:rPr sz="1000" b="0">
                <a:solidFill>
                  <a:srgbClr val="334155"/>
                </a:solidFill>
                <a:latin typeface="Calisto MT"/>
              </a:rPr>
              <a:t>6,000 balanced gesture samples (1,000 per class) captured directly onboard.</a:t>
            </a:r>
          </a:p>
          <a:p>
            <a:pPr algn="l">
              <a:lnSpc>
                <a:spcPct val="114000"/>
              </a:lnSpc>
              <a:spcAft>
                <a:spcPts val="300"/>
              </a:spcAft>
            </a:pPr>
            <a:r>
              <a:rPr sz="1000" b="1">
                <a:solidFill>
                  <a:srgbClr val="002060"/>
                </a:solidFill>
                <a:latin typeface="Calisto MT"/>
              </a:rPr>
              <a:t>• Gesture Classes: </a:t>
            </a:r>
            <a:r>
              <a:rPr sz="1000" b="0">
                <a:solidFill>
                  <a:srgbClr val="334155"/>
                </a:solidFill>
                <a:latin typeface="Calisto MT"/>
              </a:rPr>
              <a:t>6 operational commands: STOP, GO, FOLLOW, LEFT, RIGHT, and BACK.</a:t>
            </a:r>
          </a:p>
          <a:p>
            <a:pPr algn="l">
              <a:lnSpc>
                <a:spcPct val="114000"/>
              </a:lnSpc>
              <a:spcAft>
                <a:spcPts val="0"/>
              </a:spcAft>
            </a:pPr>
            <a:r>
              <a:rPr sz="1000" b="1">
                <a:solidFill>
                  <a:srgbClr val="002060"/>
                </a:solidFill>
                <a:latin typeface="Calisto MT"/>
              </a:rPr>
              <a:t>• Testing Range: </a:t>
            </a:r>
            <a:r>
              <a:rPr sz="1000" b="0">
                <a:solidFill>
                  <a:srgbClr val="334155"/>
                </a:solidFill>
                <a:latin typeface="Calisto MT"/>
              </a:rPr>
              <a:t>Recorded across 1.0 m to 2.5 m under natural, unconstrained indoor lighting.</a:t>
            </a:r>
          </a:p>
        </p:txBody>
      </p:sp>
      <p:sp>
        <p:nvSpPr>
          <p:cNvPr id="7" name="Meth_P3"/>
          <p:cNvSpPr txBox="1"/>
          <p:nvPr/>
        </p:nvSpPr>
        <p:spPr>
          <a:xfrm>
            <a:off x="8092440" y="1261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Engineering &amp; Edge AI</a:t>
            </a:r>
          </a:p>
          <a:p>
            <a:pPr algn="l">
              <a:lnSpc>
                <a:spcPct val="114000"/>
              </a:lnSpc>
              <a:spcAft>
                <a:spcPts val="300"/>
              </a:spcAft>
            </a:pPr>
            <a:r>
              <a:rPr sz="1000" b="1">
                <a:solidFill>
                  <a:srgbClr val="002060"/>
                </a:solidFill>
                <a:latin typeface="Calisto MT"/>
              </a:rPr>
              <a:t>• Geometric Features: </a:t>
            </a:r>
            <a:r>
              <a:rPr sz="1000" b="0">
                <a:solidFill>
                  <a:srgbClr val="334155"/>
                </a:solidFill>
                <a:latin typeface="Calisto MT"/>
              </a:rPr>
              <a:t>21 hand landmarks converted into 19 scale- and distance-invariant features.</a:t>
            </a:r>
          </a:p>
          <a:p>
            <a:pPr algn="l">
              <a:lnSpc>
                <a:spcPct val="114000"/>
              </a:lnSpc>
              <a:spcAft>
                <a:spcPts val="300"/>
              </a:spcAft>
            </a:pPr>
            <a:r>
              <a:rPr sz="1000" b="1">
                <a:solidFill>
                  <a:srgbClr val="002060"/>
                </a:solidFill>
                <a:latin typeface="Calisto MT"/>
              </a:rPr>
              <a:t>• Neural Classifier: </a:t>
            </a:r>
            <a:r>
              <a:rPr sz="1000" b="0">
                <a:solidFill>
                  <a:srgbClr val="334155"/>
                </a:solidFill>
                <a:latin typeface="Calisto MT"/>
              </a:rPr>
              <a:t>Lightweight MLP model (46 KB) running in under 2 ms on the Raspberry Pi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10-frame recurrent LSTM predicting operator movement trajectories.</a:t>
            </a:r>
          </a:p>
        </p:txBody>
      </p:sp>
      <p:sp>
        <p:nvSpPr>
          <p:cNvPr id="8" name="Meth_Transition"/>
          <p:cNvSpPr txBox="1"/>
          <p:nvPr/>
        </p:nvSpPr>
        <p:spPr>
          <a:xfrm>
            <a:off x="1371600" y="3218688"/>
            <a:ext cx="9445752" cy="237744"/>
          </a:xfrm>
          <a:prstGeom prst="rect">
            <a:avLst/>
          </a:prstGeom>
          <a:noFill/>
        </p:spPr>
        <p:txBody>
          <a:bodyPr wrap="square" lIns="0" rIns="0" tIns="0" bIns="0">
            <a:spAutoFit/>
          </a:bodyPr>
          <a:lstStyle/>
          <a:p>
            <a:pPr algn="ctr">
              <a:lnSpc>
                <a:spcPct val="114000"/>
              </a:lnSpc>
              <a:spcBef>
                <a:spcPts val="0"/>
              </a:spcBef>
              <a:spcAft>
                <a:spcPts val="200"/>
              </a:spcAft>
              <a:defRPr sz="950" b="1" i="0">
                <a:solidFill>
                  <a:srgbClr val="64748B"/>
                </a:solidFill>
                <a:latin typeface="Calisto MT"/>
              </a:defRPr>
            </a:pPr>
            <a:r>
              <a:t>──  SEQUENTIAL PROGRESSION TO SUPERVISORY MIDDLEWARE &amp; NAVIGATION INTEGRATION  ──</a:t>
            </a:r>
          </a:p>
        </p:txBody>
      </p:sp>
      <p:sp>
        <p:nvSpPr>
          <p:cNvPr id="9" name="Meth_P4"/>
          <p:cNvSpPr txBox="1"/>
          <p:nvPr/>
        </p:nvSpPr>
        <p:spPr>
          <a:xfrm>
            <a:off x="777240" y="3547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Supervisory Control &amp; Safety</a:t>
            </a:r>
          </a:p>
          <a:p>
            <a:pPr algn="l">
              <a:lnSpc>
                <a:spcPct val="114000"/>
              </a:lnSpc>
              <a:spcAft>
                <a:spcPts val="300"/>
              </a:spcAft>
            </a:pPr>
            <a:r>
              <a:rPr sz="1000" b="1">
                <a:solidFill>
                  <a:srgbClr val="002060"/>
                </a:solidFill>
                <a:latin typeface="Calisto MT"/>
              </a:rPr>
              <a:t>• ROS 2 Middleware: </a:t>
            </a:r>
            <a:r>
              <a:rPr sz="1000" b="0">
                <a:solidFill>
                  <a:srgbClr val="334155"/>
                </a:solidFill>
                <a:latin typeface="Calisto MT"/>
              </a:rPr>
              <a:t>Unified node architecture operating on dedicated communication Domain 20.</a:t>
            </a:r>
          </a:p>
          <a:p>
            <a:pPr algn="l">
              <a:lnSpc>
                <a:spcPct val="114000"/>
              </a:lnSpc>
              <a:spcAft>
                <a:spcPts val="300"/>
              </a:spcAft>
            </a:pPr>
            <a:r>
              <a:rPr sz="1000" b="1">
                <a:solidFill>
                  <a:srgbClr val="002060"/>
                </a:solidFill>
                <a:latin typeface="Calisto MT"/>
              </a:rPr>
              <a:t>• Decision Engine: </a:t>
            </a:r>
            <a:r>
              <a:rPr sz="1000" b="0">
                <a:solidFill>
                  <a:srgbClr val="334155"/>
                </a:solidFill>
                <a:latin typeface="Calisto MT"/>
              </a:rPr>
              <a:t>brain_node state machine with 5-frame rolling consensus and visual servoing.</a:t>
            </a:r>
          </a:p>
          <a:p>
            <a:pPr algn="l">
              <a:lnSpc>
                <a:spcPct val="114000"/>
              </a:lnSpc>
              <a:spcAft>
                <a:spcPts val="0"/>
              </a:spcAft>
            </a:pPr>
            <a:r>
              <a:rPr sz="1000" b="1">
                <a:solidFill>
                  <a:srgbClr val="002060"/>
                </a:solidFill>
                <a:latin typeface="Calisto MT"/>
              </a:rPr>
              <a:t>• Collision Safety: </a:t>
            </a:r>
            <a:r>
              <a:rPr sz="1000" b="0">
                <a:solidFill>
                  <a:srgbClr val="334155"/>
                </a:solidFill>
                <a:latin typeface="Calisto MT"/>
              </a:rPr>
              <a:t>Hard-coded reactive LiDAR safety stop halting the robot at 0.36 m.</a:t>
            </a:r>
          </a:p>
        </p:txBody>
      </p:sp>
      <p:sp>
        <p:nvSpPr>
          <p:cNvPr id="10" name="Meth_P5"/>
          <p:cNvSpPr txBox="1"/>
          <p:nvPr/>
        </p:nvSpPr>
        <p:spPr>
          <a:xfrm>
            <a:off x="4434840" y="3547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Metric SLAM &amp; Autonomous Navigation</a:t>
            </a:r>
          </a:p>
          <a:p>
            <a:pPr algn="l">
              <a:lnSpc>
                <a:spcPct val="114000"/>
              </a:lnSpc>
              <a:spcAft>
                <a:spcPts val="300"/>
              </a:spcAft>
            </a:pPr>
            <a:r>
              <a:rPr sz="1000" b="1">
                <a:solidFill>
                  <a:srgbClr val="002060"/>
                </a:solidFill>
                <a:latin typeface="Calisto MT"/>
              </a:rPr>
              <a:t>• Laser Mapping: </a:t>
            </a:r>
            <a:r>
              <a:rPr sz="1000" b="0">
                <a:solidFill>
                  <a:srgbClr val="334155"/>
                </a:solidFill>
                <a:latin typeface="Calisto MT"/>
              </a:rPr>
              <a:t>2D occupancy grid maps generated at 5 cm resolution using slam_toolbox.</a:t>
            </a:r>
          </a:p>
          <a:p>
            <a:pPr algn="l">
              <a:lnSpc>
                <a:spcPct val="114000"/>
              </a:lnSpc>
              <a:spcAft>
                <a:spcPts val="300"/>
              </a:spcAft>
            </a:pPr>
            <a:r>
              <a:rPr sz="1000" b="1">
                <a:solidFill>
                  <a:srgbClr val="002060"/>
                </a:solidFill>
                <a:latin typeface="Calisto MT"/>
              </a:rPr>
              <a:t>• Sensor Fusion: </a:t>
            </a:r>
            <a:r>
              <a:rPr sz="1000" b="0">
                <a:solidFill>
                  <a:srgbClr val="334155"/>
                </a:solidFill>
                <a:latin typeface="Calisto MT"/>
              </a:rPr>
              <a:t>Extended Kalman Filter (EKF) combining wheel encoders and 6-axis IMU data.</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with 0.25 m obstacle inflation safety zones.</a:t>
            </a:r>
          </a:p>
        </p:txBody>
      </p:sp>
      <p:sp>
        <p:nvSpPr>
          <p:cNvPr id="11" name="Meth_P6"/>
          <p:cNvSpPr txBox="1"/>
          <p:nvPr/>
        </p:nvSpPr>
        <p:spPr>
          <a:xfrm>
            <a:off x="8092440" y="3547872"/>
            <a:ext cx="331927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Empirical Benchmarking &amp; Validation</a:t>
            </a:r>
          </a:p>
          <a:p>
            <a:pPr algn="l">
              <a:lnSpc>
                <a:spcPct val="114000"/>
              </a:lnSpc>
              <a:spcAft>
                <a:spcPts val="300"/>
              </a:spcAft>
            </a:pPr>
            <a:r>
              <a:rPr sz="1000" b="1">
                <a:solidFill>
                  <a:srgbClr val="002060"/>
                </a:solidFill>
                <a:latin typeface="Calisto MT"/>
              </a:rPr>
              <a:t>• Latency Budget: </a:t>
            </a:r>
            <a:r>
              <a:rPr sz="1000" b="0">
                <a:solidFill>
                  <a:srgbClr val="334155"/>
                </a:solidFill>
                <a:latin typeface="Calisto MT"/>
              </a:rPr>
              <a:t>End-to-end reaction time clocked at 74.2 ms (well within 150 ms threshold).</a:t>
            </a:r>
          </a:p>
          <a:p>
            <a:pPr algn="l">
              <a:lnSpc>
                <a:spcPct val="114000"/>
              </a:lnSpc>
              <a:spcAft>
                <a:spcPts val="300"/>
              </a:spcAft>
            </a:pPr>
            <a:r>
              <a:rPr sz="1000" b="1">
                <a:solidFill>
                  <a:srgbClr val="002060"/>
                </a:solidFill>
                <a:latin typeface="Calisto MT"/>
              </a:rPr>
              <a:t>• Locomotion Trials: </a:t>
            </a:r>
            <a:r>
              <a:rPr sz="1000" b="0">
                <a:solidFill>
                  <a:srgbClr val="334155"/>
                </a:solidFill>
                <a:latin typeface="Calisto MT"/>
              </a:rPr>
              <a:t>180 physical real-world tests achieving 96.67% operational accuracy.</a:t>
            </a:r>
          </a:p>
          <a:p>
            <a:pPr algn="l">
              <a:lnSpc>
                <a:spcPct val="114000"/>
              </a:lnSpc>
              <a:spcAft>
                <a:spcPts val="0"/>
              </a:spcAft>
            </a:pPr>
            <a:r>
              <a:rPr sz="1000" b="1">
                <a:solidFill>
                  <a:srgbClr val="002060"/>
                </a:solidFill>
                <a:latin typeface="Calisto MT"/>
              </a:rPr>
              <a:t>• Safety Compliance: </a:t>
            </a:r>
            <a:r>
              <a:rPr sz="1000" b="0">
                <a:solidFill>
                  <a:srgbClr val="334155"/>
                </a:solidFill>
                <a:latin typeface="Calisto MT"/>
              </a:rPr>
              <a:t>Deterministic stopping distance confirmed under ISO 15066 safety standards.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