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 id="567" r:id="rId18"/>
    <p:sldId id="568" r:id="rId19"/>
    <p:sldId id="5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08. 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Instant AI Decision: </a:t>
            </a:r>
            <a:r>
              <a:rPr sz="1100" b="0">
                <a:solidFill>
                  <a:srgbClr val="334155"/>
                </a:solidFill>
                <a:latin typeface="Calisto MT"/>
              </a:rPr>
              <a:t>A compact artificial intelligence model reads the 19 hand numbers in just 1.2 milliseconds, identifying the gesture with 99.4%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Fast Reaction: </a:t>
            </a:r>
            <a:r>
              <a:rPr sz="900" b="0">
                <a:solidFill>
                  <a:srgbClr val="334155"/>
                </a:solidFill>
                <a:latin typeface="Calisto MT"/>
              </a:rPr>
              <a:t>Decides in 1.2 milliseconds (faster than a blink)</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09. HUMAN MOTION PREDICTION &amp; SUPERVISORY CONTROL</a:t>
            </a:r>
          </a:p>
        </p:txBody>
      </p:sp>
      <p:sp>
        <p:nvSpPr>
          <p:cNvPr id="3" name="Content Placeholder 2"/>
          <p:cNvSpPr>
            <a:spLocks noGrp="1"/>
          </p:cNvSpPr>
          <p:nvPr>
            <p:ph idx="1"/>
          </p:nvPr>
        </p:nvSpPr>
        <p:spPr/>
        <p:txBody>
          <a:bodyPr/>
          <a:lstStyle/>
          <a:p/>
        </p:txBody>
      </p:sp>
      <p:sp>
        <p:nvSpPr>
          <p:cNvPr id="4" name="Control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ANTICIPATES USER PATHS, TRACKS WITH ITS CAMERA, AND STAYS SAFE</a:t>
            </a:r>
          </a:p>
        </p:txBody>
      </p:sp>
      <p:sp>
        <p:nvSpPr>
          <p:cNvPr id="5" name="Control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Anticipating User Steps: </a:t>
            </a:r>
            <a:r>
              <a:rPr sz="1100" b="0">
                <a:solidFill>
                  <a:srgbClr val="334155"/>
                </a:solidFill>
                <a:latin typeface="Calisto MT"/>
              </a:rPr>
              <a:t>The robot tracks the person's walking path over the past 1 second (30 camera frames) and uses an AI model to predict where they will step 0.5 seconds ahead, preventing jerky turns or delayed following.</a:t>
            </a:r>
          </a:p>
          <a:p>
            <a:pPr algn="l">
              <a:lnSpc>
                <a:spcPct val="115000"/>
              </a:lnSpc>
              <a:spcAft>
                <a:spcPts val="700"/>
              </a:spcAft>
            </a:pPr>
            <a:r>
              <a:rPr sz="1100" b="1">
                <a:solidFill>
                  <a:srgbClr val="002060"/>
                </a:solidFill>
                <a:latin typeface="Calisto MT"/>
              </a:rPr>
              <a:t>• Motorized Camera Tracking: </a:t>
            </a:r>
            <a:r>
              <a:rPr sz="1100" b="0">
                <a:solidFill>
                  <a:srgbClr val="334155"/>
                </a:solidFill>
                <a:latin typeface="Calisto MT"/>
              </a:rPr>
              <a:t>A 2-axis motorized camera head pans left/right and tilts up/down automatically, keeping the interacting person centered in view even while the robot chassis is turning or braking.</a:t>
            </a:r>
          </a:p>
          <a:p>
            <a:pPr algn="l">
              <a:lnSpc>
                <a:spcPct val="115000"/>
              </a:lnSpc>
              <a:spcAft>
                <a:spcPts val="700"/>
              </a:spcAft>
            </a:pPr>
            <a:r>
              <a:rPr sz="1100" b="1">
                <a:solidFill>
                  <a:srgbClr val="002060"/>
                </a:solidFill>
                <a:latin typeface="Calisto MT"/>
              </a:rPr>
              <a:t>• Central Software Brain: </a:t>
            </a:r>
            <a:r>
              <a:rPr sz="1100" b="0">
                <a:solidFill>
                  <a:srgbClr val="334155"/>
                </a:solidFill>
                <a:latin typeface="Calisto MT"/>
              </a:rPr>
              <a:t>A master controller (brain_node) coordinates all actions through distinct operational stages: Standing By, Confirming Command, Driving, Following User, and Safety Stop.</a:t>
            </a:r>
          </a:p>
          <a:p>
            <a:pPr algn="l">
              <a:lnSpc>
                <a:spcPct val="115000"/>
              </a:lnSpc>
              <a:spcAft>
                <a:spcPts val="700"/>
              </a:spcAft>
            </a:pPr>
            <a:r>
              <a:rPr sz="1100" b="1">
                <a:solidFill>
                  <a:srgbClr val="002060"/>
                </a:solidFill>
                <a:latin typeface="Calisto MT"/>
              </a:rPr>
              <a:t>• Preventing Accidental Starts: </a:t>
            </a:r>
            <a:r>
              <a:rPr sz="1100" b="0">
                <a:solidFill>
                  <a:srgbClr val="334155"/>
                </a:solidFill>
                <a:latin typeface="Calisto MT"/>
              </a:rPr>
              <a:t>To stop accidental hand waves or brief gestures from moving the robot, every command must be held consistently for at least 5 camera frames before motors turn.</a:t>
            </a:r>
          </a:p>
          <a:p>
            <a:pPr algn="l">
              <a:lnSpc>
                <a:spcPct val="115000"/>
              </a:lnSpc>
              <a:spcAft>
                <a:spcPts val="700"/>
              </a:spcAft>
            </a:pPr>
            <a:r>
              <a:rPr sz="1100" b="1">
                <a:solidFill>
                  <a:srgbClr val="002060"/>
                </a:solidFill>
                <a:latin typeface="Calisto MT"/>
              </a:rPr>
              <a:t>• Safe Distance Buffer: </a:t>
            </a:r>
            <a:r>
              <a:rPr sz="1100" b="0">
                <a:solidFill>
                  <a:srgbClr val="334155"/>
                </a:solidFill>
                <a:latin typeface="Calisto MT"/>
              </a:rPr>
              <a:t>When following a walking user, the robot automatically stays between 0.8 and 1.5 meters away; if the person stops or steps closer than 0.8 meters, it halts immediately.</a:t>
            </a:r>
          </a:p>
          <a:p>
            <a:pPr algn="l">
              <a:lnSpc>
                <a:spcPct val="115000"/>
              </a:lnSpc>
              <a:spcAft>
                <a:spcPts val="0"/>
              </a:spcAft>
            </a:pPr>
            <a:r>
              <a:rPr sz="1100" b="1">
                <a:solidFill>
                  <a:srgbClr val="002060"/>
                </a:solidFill>
                <a:latin typeface="Calisto MT"/>
              </a:rPr>
              <a:t>• Instant Laser Safety Override: </a:t>
            </a:r>
            <a:r>
              <a:rPr sz="1100" b="0">
                <a:solidFill>
                  <a:srgbClr val="334155"/>
                </a:solidFill>
                <a:latin typeface="Calisto MT"/>
              </a:rPr>
              <a:t>The 360° laser distance sensor constantly scans the surroundings; if an obstacle or person enters within 0.36 meters, motor power cuts in 5 milliseconds, overriding all AI.</a:t>
            </a:r>
          </a:p>
        </p:txBody>
      </p:sp>
      <p:pic>
        <p:nvPicPr>
          <p:cNvPr id="6" name="Control_LSTM_Img" descr="lstm_path_prediction_clean.png"/>
          <p:cNvPicPr>
            <a:picLocks noChangeAspect="1"/>
          </p:cNvPicPr>
          <p:nvPr/>
        </p:nvPicPr>
        <p:blipFill>
          <a:blip r:embed="rId2"/>
          <a:stretch>
            <a:fillRect/>
          </a:stretch>
        </p:blipFill>
        <p:spPr>
          <a:xfrm>
            <a:off x="6355080" y="1261872"/>
            <a:ext cx="5029200" cy="1874519"/>
          </a:xfrm>
          <a:prstGeom prst="rect">
            <a:avLst/>
          </a:prstGeom>
        </p:spPr>
      </p:pic>
      <p:sp>
        <p:nvSpPr>
          <p:cNvPr id="7" name="Control_LSTM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3.6: AI Human Motion Prediction (Blue = Past 1.0s Walk, Green = Actual Steps, Red = AI Forecast)</a:t>
            </a:r>
          </a:p>
        </p:txBody>
      </p:sp>
      <p:pic>
        <p:nvPicPr>
          <p:cNvPr id="8" name="Control_Gimbal_Img" descr="camera_gimbal_framed.jpg"/>
          <p:cNvPicPr>
            <a:picLocks noChangeAspect="1"/>
          </p:cNvPicPr>
          <p:nvPr/>
        </p:nvPicPr>
        <p:blipFill>
          <a:blip r:embed="rId3"/>
          <a:stretch>
            <a:fillRect/>
          </a:stretch>
        </p:blipFill>
        <p:spPr>
          <a:xfrm>
            <a:off x="6355080" y="3493008"/>
            <a:ext cx="2103120" cy="1600200"/>
          </a:xfrm>
          <a:prstGeom prst="rect">
            <a:avLst/>
          </a:prstGeom>
        </p:spPr>
      </p:pic>
      <p:sp>
        <p:nvSpPr>
          <p:cNvPr id="9" name="Control_Gimbal_Cap"/>
          <p:cNvSpPr txBox="1"/>
          <p:nvPr/>
        </p:nvSpPr>
        <p:spPr>
          <a:xfrm>
            <a:off x="6355080" y="5120640"/>
            <a:ext cx="21031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3.7: 2-Axis Motorized Camera Head</a:t>
            </a:r>
          </a:p>
        </p:txBody>
      </p:sp>
      <p:sp>
        <p:nvSpPr>
          <p:cNvPr id="10" name="Control_Safety_Text"/>
          <p:cNvSpPr txBox="1"/>
          <p:nvPr/>
        </p:nvSpPr>
        <p:spPr>
          <a:xfrm>
            <a:off x="8641080" y="3493008"/>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SUPERVISORY SAFETY INTERLOCKS:</a:t>
            </a:r>
          </a:p>
          <a:p>
            <a:pPr algn="l">
              <a:lnSpc>
                <a:spcPct val="112000"/>
              </a:lnSpc>
              <a:spcAft>
                <a:spcPts val="250"/>
              </a:spcAft>
            </a:pPr>
            <a:r>
              <a:rPr sz="880" b="1">
                <a:solidFill>
                  <a:srgbClr val="002060"/>
                </a:solidFill>
                <a:latin typeface="Calisto MT"/>
              </a:rPr>
              <a:t>• 4 Safe Modes: </a:t>
            </a:r>
            <a:r>
              <a:rPr sz="880" b="0">
                <a:solidFill>
                  <a:srgbClr val="334155"/>
                </a:solidFill>
                <a:latin typeface="Calisto MT"/>
              </a:rPr>
              <a:t>Standby → Confirming → Driving → Safety Halt</a:t>
            </a:r>
          </a:p>
          <a:p>
            <a:pPr algn="l">
              <a:lnSpc>
                <a:spcPct val="112000"/>
              </a:lnSpc>
              <a:spcAft>
                <a:spcPts val="250"/>
              </a:spcAft>
            </a:pPr>
            <a:r>
              <a:rPr sz="880" b="1">
                <a:solidFill>
                  <a:srgbClr val="002060"/>
                </a:solidFill>
                <a:latin typeface="Calisto MT"/>
              </a:rPr>
              <a:t>• 5-Frame Filter: </a:t>
            </a:r>
            <a:r>
              <a:rPr sz="880" b="0">
                <a:solidFill>
                  <a:srgbClr val="334155"/>
                </a:solidFill>
                <a:latin typeface="Calisto MT"/>
              </a:rPr>
              <a:t>Requires 5 matching frames to stop accidental wave triggers</a:t>
            </a:r>
          </a:p>
          <a:p>
            <a:pPr algn="l">
              <a:lnSpc>
                <a:spcPct val="112000"/>
              </a:lnSpc>
              <a:spcAft>
                <a:spcPts val="250"/>
              </a:spcAft>
            </a:pPr>
            <a:r>
              <a:rPr sz="880" b="1">
                <a:solidFill>
                  <a:srgbClr val="002060"/>
                </a:solidFill>
                <a:latin typeface="Calisto MT"/>
              </a:rPr>
              <a:t>• Safe Gap (0.8m): </a:t>
            </a:r>
            <a:r>
              <a:rPr sz="880" b="0">
                <a:solidFill>
                  <a:srgbClr val="334155"/>
                </a:solidFill>
                <a:latin typeface="Calisto MT"/>
              </a:rPr>
              <a:t>Stops immediately if user approaches closer than 0.8 meters</a:t>
            </a:r>
          </a:p>
          <a:p>
            <a:pPr algn="l">
              <a:lnSpc>
                <a:spcPct val="112000"/>
              </a:lnSpc>
              <a:spcAft>
                <a:spcPts val="0"/>
              </a:spcAft>
            </a:pPr>
            <a:r>
              <a:rPr sz="880" b="1">
                <a:solidFill>
                  <a:srgbClr val="002060"/>
                </a:solidFill>
                <a:latin typeface="Calisto MT"/>
              </a:rPr>
              <a:t>• Instant E-Stop: </a:t>
            </a:r>
            <a:r>
              <a:rPr sz="880" b="0">
                <a:solidFill>
                  <a:srgbClr val="334155"/>
                </a:solidFill>
                <a:latin typeface="Calisto MT"/>
              </a:rPr>
              <a:t>Laser barrier (&lt; 0.36m) cuts motor power within 5 milliseconds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10. METRIC SLAM &amp; NAV2 AUTONOMOUS NAVIGATION</a:t>
            </a:r>
          </a:p>
        </p:txBody>
      </p:sp>
      <p:sp>
        <p:nvSpPr>
          <p:cNvPr id="3" name="Content Placeholder 2"/>
          <p:cNvSpPr>
            <a:spLocks noGrp="1"/>
          </p:cNvSpPr>
          <p:nvPr>
            <p:ph idx="1"/>
          </p:nvPr>
        </p:nvSpPr>
        <p:spPr/>
        <p:txBody>
          <a:bodyPr/>
          <a:lstStyle/>
          <a:p/>
        </p:txBody>
      </p:sp>
      <p:sp>
        <p:nvSpPr>
          <p:cNvPr id="4" name="Nav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MAPS INDOOR ROOMS, FIXES SENSOR DRIFT, AND PATROLS AUTONOMOUSLY</a:t>
            </a:r>
          </a:p>
        </p:txBody>
      </p:sp>
      <p:sp>
        <p:nvSpPr>
          <p:cNvPr id="5" name="Nav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Laser Room Mapping: </a:t>
            </a:r>
            <a:r>
              <a:rPr sz="1100" b="0">
                <a:solidFill>
                  <a:srgbClr val="334155"/>
                </a:solidFill>
                <a:latin typeface="Calisto MT"/>
              </a:rPr>
              <a:t>As the robot is steered through the room, its 360° laser distance sensor fires 12.5 times a second to build an exact 2D floor plan with 5-centimeter grid accuracy.</a:t>
            </a:r>
          </a:p>
          <a:p>
            <a:pPr algn="l">
              <a:lnSpc>
                <a:spcPct val="115000"/>
              </a:lnSpc>
              <a:spcAft>
                <a:spcPts val="700"/>
              </a:spcAft>
            </a:pPr>
            <a:r>
              <a:rPr sz="1100" b="1">
                <a:solidFill>
                  <a:srgbClr val="002060"/>
                </a:solidFill>
                <a:latin typeface="Calisto MT"/>
              </a:rPr>
              <a:t>• Resolving Signal Conflicts: </a:t>
            </a:r>
            <a:r>
              <a:rPr sz="1100" b="0">
                <a:solidFill>
                  <a:srgbClr val="334155"/>
                </a:solidFill>
                <a:latin typeface="Calisto MT"/>
              </a:rPr>
              <a:t>Early mapping tests dropped laser scans because two internal programs reported starting locations at once. Designating the motion tracker (EKF) as the sole authority fixed this immediately.</a:t>
            </a:r>
          </a:p>
          <a:p>
            <a:pPr algn="l">
              <a:lnSpc>
                <a:spcPct val="115000"/>
              </a:lnSpc>
              <a:spcAft>
                <a:spcPts val="700"/>
              </a:spcAft>
            </a:pPr>
            <a:r>
              <a:rPr sz="1100" b="1">
                <a:solidFill>
                  <a:srgbClr val="002060"/>
                </a:solidFill>
                <a:latin typeface="Calisto MT"/>
              </a:rPr>
              <a:t>• Fixing Cornering Drift: </a:t>
            </a:r>
            <a:r>
              <a:rPr sz="1100" b="0">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p>
          <a:p>
            <a:pPr algn="l">
              <a:lnSpc>
                <a:spcPct val="115000"/>
              </a:lnSpc>
              <a:spcAft>
                <a:spcPts val="700"/>
              </a:spcAft>
            </a:pPr>
            <a:r>
              <a:rPr sz="1100" b="1">
                <a:solidFill>
                  <a:srgbClr val="002060"/>
                </a:solidFill>
                <a:latin typeface="Calisto MT"/>
              </a:rPr>
              <a:t>• Self-Localization (AMCL): </a:t>
            </a:r>
            <a:r>
              <a:rPr sz="1100" b="0">
                <a:solidFill>
                  <a:srgbClr val="334155"/>
                </a:solidFill>
                <a:latin typeface="Calisto MT"/>
              </a:rPr>
              <a:t>Once the map is saved, the robot constantly compares live laser scans against the map to know its exact physical coordinates (X, Y, and heading angle) within centimeters.</a:t>
            </a:r>
          </a:p>
          <a:p>
            <a:pPr algn="l">
              <a:lnSpc>
                <a:spcPct val="115000"/>
              </a:lnSpc>
              <a:spcAft>
                <a:spcPts val="700"/>
              </a:spcAft>
            </a:pPr>
            <a:r>
              <a:rPr sz="1100" b="1">
                <a:solidFill>
                  <a:srgbClr val="002060"/>
                </a:solidFill>
                <a:latin typeface="Calisto MT"/>
              </a:rPr>
              <a:t>• Safety Padding Costmaps: </a:t>
            </a:r>
            <a:r>
              <a:rPr sz="1100" b="0">
                <a:solidFill>
                  <a:srgbClr val="334155"/>
                </a:solidFill>
                <a:latin typeface="Calisto MT"/>
              </a:rPr>
              <a:t>The navigation software automatically inflates a safety padding cushion around all walls and furniture, preventing the robot from cutting corners too close or bumping table legs.</a:t>
            </a:r>
          </a:p>
          <a:p>
            <a:pPr algn="l">
              <a:lnSpc>
                <a:spcPct val="115000"/>
              </a:lnSpc>
              <a:spcAft>
                <a:spcPts val="0"/>
              </a:spcAft>
            </a:pPr>
            <a:r>
              <a:rPr sz="1100" b="1">
                <a:solidFill>
                  <a:srgbClr val="002060"/>
                </a:solidFill>
                <a:latin typeface="Calisto MT"/>
              </a:rPr>
              <a:t>• Multi-Waypoint Autonomous Patrol: </a:t>
            </a:r>
            <a:r>
              <a:rPr sz="1100" b="0">
                <a:solidFill>
                  <a:srgbClr val="334155"/>
                </a:solidFill>
                <a:latin typeface="Calisto MT"/>
              </a:rPr>
              <a:t>Given a sequence of room destinations (Dock → Central Hub → North Corner → East Post), the robot navigates smoothly across 160 seconds, achieving an average tracking accuracy of 15.5 cm.</a:t>
            </a:r>
          </a:p>
        </p:txBody>
      </p:sp>
      <p:sp>
        <p:nvSpPr>
          <p:cNvPr id="6" name="Nav_Drift_Label"/>
          <p:cNvSpPr txBox="1"/>
          <p:nvPr/>
        </p:nvSpPr>
        <p:spPr>
          <a:xfrm>
            <a:off x="635508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64748B"/>
                </a:solidFill>
                <a:latin typeface="Calisto MT"/>
              </a:defRPr>
            </a:pPr>
            <a:r>
              <a:t>(a) Initial: 45° Corner Drift Defect</a:t>
            </a:r>
          </a:p>
        </p:txBody>
      </p:sp>
      <p:sp>
        <p:nvSpPr>
          <p:cNvPr id="7" name="Nav_Clean_Label"/>
          <p:cNvSpPr txBox="1"/>
          <p:nvPr/>
        </p:nvSpPr>
        <p:spPr>
          <a:xfrm>
            <a:off x="891540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002060"/>
                </a:solidFill>
                <a:latin typeface="Calisto MT"/>
              </a:defRPr>
            </a:pPr>
            <a:r>
              <a:t>(b) Final: Clean Metric Map</a:t>
            </a:r>
          </a:p>
        </p:txBody>
      </p:sp>
      <p:pic>
        <p:nvPicPr>
          <p:cNvPr id="8" name="Nav_Drift_Img" descr="image.png"/>
          <p:cNvPicPr>
            <a:picLocks noChangeAspect="1"/>
          </p:cNvPicPr>
          <p:nvPr/>
        </p:nvPicPr>
        <p:blipFill>
          <a:blip r:embed="rId2"/>
          <a:stretch>
            <a:fillRect/>
          </a:stretch>
        </p:blipFill>
        <p:spPr>
          <a:xfrm>
            <a:off x="6355080" y="1481328"/>
            <a:ext cx="2423160" cy="1417320"/>
          </a:xfrm>
          <a:prstGeom prst="rect">
            <a:avLst/>
          </a:prstGeom>
        </p:spPr>
      </p:pic>
      <p:pic>
        <p:nvPicPr>
          <p:cNvPr id="9" name="Nav_Clean_Img" descr="image.png"/>
          <p:cNvPicPr>
            <a:picLocks noChangeAspect="1"/>
          </p:cNvPicPr>
          <p:nvPr/>
        </p:nvPicPr>
        <p:blipFill>
          <a:blip r:embed="rId3"/>
          <a:stretch>
            <a:fillRect/>
          </a:stretch>
        </p:blipFill>
        <p:spPr>
          <a:xfrm>
            <a:off x="8915400" y="1481328"/>
            <a:ext cx="2423160" cy="1417320"/>
          </a:xfrm>
          <a:prstGeom prst="rect">
            <a:avLst/>
          </a:prstGeom>
        </p:spPr>
      </p:pic>
      <p:sp>
        <p:nvSpPr>
          <p:cNvPr id="10" name="Nav_SLAM_Cap"/>
          <p:cNvSpPr txBox="1"/>
          <p:nvPr/>
        </p:nvSpPr>
        <p:spPr>
          <a:xfrm>
            <a:off x="6355080" y="2971800"/>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3.8: Physical SLAM Calibration — Correcting Yaw Drift via Wheel Odometry Fusion</a:t>
            </a:r>
          </a:p>
        </p:txBody>
      </p:sp>
      <p:pic>
        <p:nvPicPr>
          <p:cNvPr id="11" name="Nav_Patrol_Img" descr="waypoint_patrol_clean.png"/>
          <p:cNvPicPr>
            <a:picLocks noChangeAspect="1"/>
          </p:cNvPicPr>
          <p:nvPr/>
        </p:nvPicPr>
        <p:blipFill>
          <a:blip r:embed="rId5"/>
          <a:stretch>
            <a:fillRect/>
          </a:stretch>
        </p:blipFill>
        <p:spPr>
          <a:xfrm>
            <a:off x="6355080" y="3337560"/>
            <a:ext cx="1600200" cy="1965960"/>
          </a:xfrm>
          <a:prstGeom prst="rect">
            <a:avLst/>
          </a:prstGeom>
        </p:spPr>
      </p:pic>
      <p:sp>
        <p:nvSpPr>
          <p:cNvPr id="12" name="Nav_Patrol_Cap"/>
          <p:cNvSpPr txBox="1"/>
          <p:nvPr/>
        </p:nvSpPr>
        <p:spPr>
          <a:xfrm>
            <a:off x="6355080" y="5321808"/>
            <a:ext cx="1600200" cy="237744"/>
          </a:xfrm>
          <a:prstGeom prst="rect">
            <a:avLst/>
          </a:prstGeom>
          <a:noFill/>
        </p:spPr>
        <p:txBody>
          <a:bodyPr wrap="square" lIns="0" rIns="0" tIns="0" bIns="0">
            <a:spAutoFit/>
          </a:bodyPr>
          <a:lstStyle/>
          <a:p>
            <a:pPr algn="ctr">
              <a:lnSpc>
                <a:spcPct val="114000"/>
              </a:lnSpc>
              <a:spcBef>
                <a:spcPts val="0"/>
              </a:spcBef>
              <a:spcAft>
                <a:spcPts val="200"/>
              </a:spcAft>
              <a:defRPr sz="800" b="0" i="1">
                <a:solidFill>
                  <a:srgbClr val="64748B"/>
                </a:solidFill>
                <a:latin typeface="Calisto MT"/>
              </a:defRPr>
            </a:pPr>
            <a:r>
              <a:t>Figure 3.9: 4-Waypoint Patrol</a:t>
            </a:r>
          </a:p>
        </p:txBody>
      </p:sp>
      <p:sp>
        <p:nvSpPr>
          <p:cNvPr id="13" name="Nav_Perf_Text"/>
          <p:cNvSpPr txBox="1"/>
          <p:nvPr/>
        </p:nvSpPr>
        <p:spPr>
          <a:xfrm>
            <a:off x="8138160" y="3337560"/>
            <a:ext cx="3246120" cy="2057400"/>
          </a:xfrm>
          <a:prstGeom prst="rect">
            <a:avLst/>
          </a:prstGeom>
          <a:noFill/>
        </p:spPr>
        <p:txBody>
          <a:bodyPr wrap="square" lIns="0" rIns="0" tIns="0" bIns="0">
            <a:spAutoFit/>
          </a:bodyPr>
          <a:lstStyle/>
          <a:p>
            <a:pPr algn="l">
              <a:lnSpc>
                <a:spcPct val="114000"/>
              </a:lnSpc>
              <a:spcBef>
                <a:spcPts val="0"/>
              </a:spcBef>
              <a:spcAft>
                <a:spcPts val="400"/>
              </a:spcAft>
              <a:defRPr sz="950" b="1" i="0">
                <a:solidFill>
                  <a:srgbClr val="B8860B"/>
                </a:solidFill>
                <a:latin typeface="Calisto MT"/>
              </a:defRPr>
            </a:pPr>
            <a:r>
              <a:t>AUTONOMOUS PATROL PERFORMANCE:</a:t>
            </a:r>
          </a:p>
          <a:p>
            <a:pPr algn="l">
              <a:lnSpc>
                <a:spcPct val="112000"/>
              </a:lnSpc>
              <a:spcAft>
                <a:spcPts val="250"/>
              </a:spcAft>
            </a:pPr>
            <a:r>
              <a:rPr sz="880" b="1">
                <a:solidFill>
                  <a:srgbClr val="002060"/>
                </a:solidFill>
                <a:latin typeface="Calisto MT"/>
              </a:rPr>
              <a:t>• Map Resolution: </a:t>
            </a:r>
            <a:r>
              <a:rPr sz="880" b="0">
                <a:solidFill>
                  <a:srgbClr val="334155"/>
                </a:solidFill>
                <a:latin typeface="Calisto MT"/>
              </a:rPr>
              <a:t>5 cm per grid cell for fine obstacle details</a:t>
            </a:r>
          </a:p>
          <a:p>
            <a:pPr algn="l">
              <a:lnSpc>
                <a:spcPct val="112000"/>
              </a:lnSpc>
              <a:spcAft>
                <a:spcPts val="250"/>
              </a:spcAft>
            </a:pPr>
            <a:r>
              <a:rPr sz="880" b="1">
                <a:solidFill>
                  <a:srgbClr val="002060"/>
                </a:solidFill>
                <a:latin typeface="Calisto MT"/>
              </a:rPr>
              <a:t>• Path Accuracy: </a:t>
            </a:r>
            <a:r>
              <a:rPr sz="880" b="0">
                <a:solidFill>
                  <a:srgbClr val="334155"/>
                </a:solidFill>
                <a:latin typeface="Calisto MT"/>
              </a:rPr>
              <a:t>15.5 cm average tracking error across 160s run</a:t>
            </a:r>
          </a:p>
          <a:p>
            <a:pPr algn="l">
              <a:lnSpc>
                <a:spcPct val="112000"/>
              </a:lnSpc>
              <a:spcAft>
                <a:spcPts val="250"/>
              </a:spcAft>
            </a:pPr>
            <a:r>
              <a:rPr sz="880" b="1">
                <a:solidFill>
                  <a:srgbClr val="002060"/>
                </a:solidFill>
                <a:latin typeface="Calisto MT"/>
              </a:rPr>
              <a:t>• Safe Velocity: </a:t>
            </a:r>
            <a:r>
              <a:rPr sz="880" b="0">
                <a:solidFill>
                  <a:srgbClr val="334155"/>
                </a:solidFill>
                <a:latin typeface="Calisto MT"/>
              </a:rPr>
              <a:t>Speed capped smoothly at 0.25 m/s for lab safety</a:t>
            </a:r>
          </a:p>
          <a:p>
            <a:pPr algn="l">
              <a:lnSpc>
                <a:spcPct val="112000"/>
              </a:lnSpc>
              <a:spcAft>
                <a:spcPts val="250"/>
              </a:spcAft>
            </a:pPr>
            <a:r>
              <a:rPr sz="880" b="1">
                <a:solidFill>
                  <a:srgbClr val="002060"/>
                </a:solidFill>
                <a:latin typeface="Calisto MT"/>
              </a:rPr>
              <a:t>• Goal Verification: </a:t>
            </a:r>
            <a:r>
              <a:rPr sz="880" b="0">
                <a:solidFill>
                  <a:srgbClr val="334155"/>
                </a:solidFill>
                <a:latin typeface="Calisto MT"/>
              </a:rPr>
              <a:t>4 / 4 physical destinations reached (Dock → Hub → Corner → Post)</a:t>
            </a:r>
          </a:p>
          <a:p>
            <a:pPr algn="l">
              <a:lnSpc>
                <a:spcPct val="112000"/>
              </a:lnSpc>
              <a:spcAft>
                <a:spcPts val="0"/>
              </a:spcAft>
            </a:pPr>
            <a:r>
              <a:rPr sz="880" b="1">
                <a:solidFill>
                  <a:srgbClr val="002060"/>
                </a:solidFill>
                <a:latin typeface="Calisto MT"/>
              </a:rPr>
              <a:t>• Obstacle Buffer: </a:t>
            </a:r>
            <a:r>
              <a:rPr sz="880" b="0">
                <a:solidFill>
                  <a:srgbClr val="334155"/>
                </a:solidFill>
                <a:latin typeface="Calisto MT"/>
              </a:rPr>
              <a:t>Safety inflation maintains &gt;0.30 m clearance from walls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11. SYSTEM LATENCY &amp; CLASSIFICATION ACCURACY</a:t>
            </a:r>
          </a:p>
        </p:txBody>
      </p:sp>
      <p:sp>
        <p:nvSpPr>
          <p:cNvPr id="3" name="Content Placeholder 2"/>
          <p:cNvSpPr>
            <a:spLocks noGrp="1"/>
          </p:cNvSpPr>
          <p:nvPr>
            <p:ph idx="1"/>
          </p:nvPr>
        </p:nvSpPr>
        <p:spPr/>
        <p:txBody>
          <a:bodyPr/>
          <a:lstStyle/>
          <a:p/>
        </p:txBody>
      </p:sp>
      <p:sp>
        <p:nvSpPr>
          <p:cNvPr id="4" name="Latenc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REAL-TIME RESPONSE BUDGET, NEURAL ACCURACY, AND MULTI-CONDITION RELIABILITY</a:t>
            </a:r>
          </a:p>
        </p:txBody>
      </p:sp>
      <p:sp>
        <p:nvSpPr>
          <p:cNvPr id="5" name="Latency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132-Millisecond Total Response: </a:t>
            </a:r>
            <a:r>
              <a:rPr sz="1100" b="0">
                <a:solidFill>
                  <a:srgbClr val="334155"/>
                </a:solidFill>
                <a:latin typeface="Calisto MT"/>
              </a:rPr>
              <a:t>From light entering the camera lens to physical wheel movement, the complete system takes only 132.0 milliseconds — faster than a human eye blink (300 ms) and well within the 150 ms safety limit.</a:t>
            </a:r>
          </a:p>
          <a:p>
            <a:pPr algn="l">
              <a:lnSpc>
                <a:spcPct val="115000"/>
              </a:lnSpc>
              <a:spcAft>
                <a:spcPts val="700"/>
              </a:spcAft>
            </a:pPr>
            <a:r>
              <a:rPr sz="1100" b="1">
                <a:solidFill>
                  <a:srgbClr val="002060"/>
                </a:solidFill>
                <a:latin typeface="Calisto MT"/>
              </a:rPr>
              <a:t>• Speed Breakdown by Stage: </a:t>
            </a:r>
            <a:r>
              <a:rPr sz="1100" b="0">
                <a:solidFill>
                  <a:srgbClr val="334155"/>
                </a:solidFill>
                <a:latin typeface="Calisto MT"/>
              </a:rPr>
              <a:t>Camera capture takes 50.0 ms, hand tracking takes 38.2 ms, AI classification takes 1.8 ms, and motor controller communication takes 40.0 ms, proving edge AI runs smoothly without GPUs.</a:t>
            </a:r>
          </a:p>
          <a:p>
            <a:pPr algn="l">
              <a:lnSpc>
                <a:spcPct val="115000"/>
              </a:lnSpc>
              <a:spcAft>
                <a:spcPts val="700"/>
              </a:spcAft>
            </a:pPr>
            <a:r>
              <a:rPr sz="1100" b="1">
                <a:solidFill>
                  <a:srgbClr val="002060"/>
                </a:solidFill>
                <a:latin typeface="Calisto MT"/>
              </a:rPr>
              <a:t>• 99.38% Gesture AI Accuracy: </a:t>
            </a:r>
            <a:r>
              <a:rPr sz="1100" b="0">
                <a:solidFill>
                  <a:srgbClr val="334155"/>
                </a:solidFill>
                <a:latin typeface="Calisto MT"/>
              </a:rPr>
              <a:t>The compact neural network was evaluated across 6,000 unseen hand poses, correctly identifying commands 99.38% of the time with near-zero confusion between gestures.</a:t>
            </a:r>
          </a:p>
          <a:p>
            <a:pPr algn="l">
              <a:lnSpc>
                <a:spcPct val="115000"/>
              </a:lnSpc>
              <a:spcAft>
                <a:spcPts val="700"/>
              </a:spcAft>
            </a:pPr>
            <a:r>
              <a:rPr sz="1100" b="1">
                <a:solidFill>
                  <a:srgbClr val="002060"/>
                </a:solidFill>
                <a:latin typeface="Calisto MT"/>
              </a:rPr>
              <a:t>• 180 Physical Mobile Trials: </a:t>
            </a:r>
            <a:r>
              <a:rPr sz="1100" b="0">
                <a:solidFill>
                  <a:srgbClr val="334155"/>
                </a:solidFill>
                <a:latin typeface="Calisto MT"/>
              </a:rPr>
              <a:t>In real-world mobile runs with an operator walking in the lab, the robot achieved an overall command success rate of 96.67% across all 6 gesture commands.</a:t>
            </a:r>
          </a:p>
          <a:p>
            <a:pPr algn="l">
              <a:lnSpc>
                <a:spcPct val="115000"/>
              </a:lnSpc>
              <a:spcAft>
                <a:spcPts val="700"/>
              </a:spcAft>
            </a:pPr>
            <a:r>
              <a:rPr sz="1100" b="1">
                <a:solidFill>
                  <a:srgbClr val="002060"/>
                </a:solidFill>
                <a:latin typeface="Calisto MT"/>
              </a:rPr>
              <a:t>• Distance Robustness (1m to 2.5m): </a:t>
            </a:r>
            <a:r>
              <a:rPr sz="1100" b="0">
                <a:solidFill>
                  <a:srgbClr val="334155"/>
                </a:solidFill>
                <a:latin typeface="Calisto MT"/>
              </a:rPr>
              <a:t>Because hand measurements are scaled automatically using palm width, recognition remains highly accurate whether standing 1.0 meter away (100%) or 2.5 meters away (92.6%).</a:t>
            </a:r>
          </a:p>
          <a:p>
            <a:pPr algn="l">
              <a:lnSpc>
                <a:spcPct val="115000"/>
              </a:lnSpc>
              <a:spcAft>
                <a:spcPts val="0"/>
              </a:spcAft>
            </a:pPr>
            <a:r>
              <a:rPr sz="1100" b="1">
                <a:solidFill>
                  <a:srgbClr val="002060"/>
                </a:solidFill>
                <a:latin typeface="Calisto MT"/>
              </a:rPr>
              <a:t>• Lighting Consistency: </a:t>
            </a:r>
            <a:r>
              <a:rPr sz="1100" b="0">
                <a:solidFill>
                  <a:srgbClr val="334155"/>
                </a:solidFill>
                <a:latin typeface="Calisto MT"/>
              </a:rPr>
              <a:t>Statistical testing confirmed identical reaction times under natural sunlight (132.7 ms) and indoor fluorescent room lighting (132.5 ms), ensuring dependable all-day operation.</a:t>
            </a:r>
          </a:p>
        </p:txBody>
      </p:sp>
      <p:pic>
        <p:nvPicPr>
          <p:cNvPr id="6" name="Latency_Boxplot_Img" descr="fig_latency_boxplot_framed.png"/>
          <p:cNvPicPr>
            <a:picLocks noChangeAspect="1"/>
          </p:cNvPicPr>
          <p:nvPr/>
        </p:nvPicPr>
        <p:blipFill>
          <a:blip r:embed="rId2"/>
          <a:stretch>
            <a:fillRect/>
          </a:stretch>
        </p:blipFill>
        <p:spPr>
          <a:xfrm>
            <a:off x="6355080" y="1261872"/>
            <a:ext cx="5029200" cy="1874519"/>
          </a:xfrm>
          <a:prstGeom prst="rect">
            <a:avLst/>
          </a:prstGeom>
        </p:spPr>
      </p:pic>
      <p:sp>
        <p:nvSpPr>
          <p:cNvPr id="7" name="Latency_Boxplot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4.1: End-to-End Latency Across Operating Distances &amp; Lighting Regimes (180 Trials)</a:t>
            </a:r>
          </a:p>
        </p:txBody>
      </p:sp>
      <p:pic>
        <p:nvPicPr>
          <p:cNvPr id="8" name="Latency_CM_Img" descr="confusion_matrix_framed.png"/>
          <p:cNvPicPr>
            <a:picLocks noChangeAspect="1"/>
          </p:cNvPicPr>
          <p:nvPr/>
        </p:nvPicPr>
        <p:blipFill>
          <a:blip r:embed="rId3"/>
          <a:stretch>
            <a:fillRect/>
          </a:stretch>
        </p:blipFill>
        <p:spPr>
          <a:xfrm>
            <a:off x="6355080" y="3474720"/>
            <a:ext cx="2103120" cy="1645920"/>
          </a:xfrm>
          <a:prstGeom prst="rect">
            <a:avLst/>
          </a:prstGeom>
        </p:spPr>
      </p:pic>
      <p:sp>
        <p:nvSpPr>
          <p:cNvPr id="9" name="Latency_CM_Cap"/>
          <p:cNvSpPr txBox="1"/>
          <p:nvPr/>
        </p:nvSpPr>
        <p:spPr>
          <a:xfrm>
            <a:off x="6355080" y="5157216"/>
            <a:ext cx="2103120" cy="292608"/>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4.2: 99.38% Confusion Matrix</a:t>
            </a:r>
          </a:p>
        </p:txBody>
      </p:sp>
      <p:sp>
        <p:nvSpPr>
          <p:cNvPr id="10" name="Latency_Bench_Text"/>
          <p:cNvSpPr txBox="1"/>
          <p:nvPr/>
        </p:nvSpPr>
        <p:spPr>
          <a:xfrm>
            <a:off x="8641080" y="3474720"/>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EMPIRICAL BENCHMARKS:</a:t>
            </a:r>
          </a:p>
          <a:p>
            <a:pPr algn="l">
              <a:lnSpc>
                <a:spcPct val="112000"/>
              </a:lnSpc>
              <a:spcAft>
                <a:spcPts val="250"/>
              </a:spcAft>
            </a:pPr>
            <a:r>
              <a:rPr sz="880" b="1">
                <a:solidFill>
                  <a:srgbClr val="002060"/>
                </a:solidFill>
                <a:latin typeface="Calisto MT"/>
              </a:rPr>
              <a:t>• Turnaround Time: </a:t>
            </a:r>
            <a:r>
              <a:rPr sz="880" b="0">
                <a:solidFill>
                  <a:srgbClr val="334155"/>
                </a:solidFill>
                <a:latin typeface="Calisto MT"/>
              </a:rPr>
              <a:t>132.6 ms mean (fastest: 123 ms, peak: 143 ms)</a:t>
            </a:r>
          </a:p>
          <a:p>
            <a:pPr algn="l">
              <a:lnSpc>
                <a:spcPct val="112000"/>
              </a:lnSpc>
              <a:spcAft>
                <a:spcPts val="250"/>
              </a:spcAft>
            </a:pPr>
            <a:r>
              <a:rPr sz="880" b="1">
                <a:solidFill>
                  <a:srgbClr val="002060"/>
                </a:solidFill>
                <a:latin typeface="Calisto MT"/>
              </a:rPr>
              <a:t>• AI Accuracy: </a:t>
            </a:r>
            <a:r>
              <a:rPr sz="880" b="0">
                <a:solidFill>
                  <a:srgbClr val="334155"/>
                </a:solidFill>
                <a:latin typeface="Calisto MT"/>
              </a:rPr>
              <a:t>99.38% correct across 6,000 lab test samples</a:t>
            </a:r>
          </a:p>
          <a:p>
            <a:pPr algn="l">
              <a:lnSpc>
                <a:spcPct val="112000"/>
              </a:lnSpc>
              <a:spcAft>
                <a:spcPts val="250"/>
              </a:spcAft>
            </a:pPr>
            <a:r>
              <a:rPr sz="880" b="1">
                <a:solidFill>
                  <a:srgbClr val="002060"/>
                </a:solidFill>
                <a:latin typeface="Calisto MT"/>
              </a:rPr>
              <a:t>• Physical Runs: </a:t>
            </a:r>
            <a:r>
              <a:rPr sz="880" b="0">
                <a:solidFill>
                  <a:srgbClr val="334155"/>
                </a:solidFill>
                <a:latin typeface="Calisto MT"/>
              </a:rPr>
              <a:t>96.67% command success across 180 mobile trials</a:t>
            </a:r>
          </a:p>
          <a:p>
            <a:pPr algn="l">
              <a:lnSpc>
                <a:spcPct val="112000"/>
              </a:lnSpc>
              <a:spcAft>
                <a:spcPts val="0"/>
              </a:spcAft>
            </a:pPr>
            <a:r>
              <a:rPr sz="880" b="1">
                <a:solidFill>
                  <a:srgbClr val="002060"/>
                </a:solidFill>
                <a:latin typeface="Calisto MT"/>
              </a:rPr>
              <a:t>• Safety Standard: </a:t>
            </a:r>
            <a:r>
              <a:rPr sz="880" b="0">
                <a:solidFill>
                  <a:srgbClr val="334155"/>
                </a:solidFill>
                <a:latin typeface="Calisto MT"/>
              </a:rPr>
              <a:t>100% of runs below 150 ms ISO 15066 bound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