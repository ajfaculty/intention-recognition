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 id="563" r:id="rId14"/>
    <p:sldId id="564"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645920"/>
            <a:ext cx="9445752" cy="4114800"/>
          </a:xfrm>
          <a:prstGeom prst="rect">
            <a:avLst/>
          </a:prstGeom>
          <a:noFill/>
        </p:spPr>
        <p:txBody>
          <a:bodyPr wrap="square" tIns="91440" bIns="91440">
            <a:spAutoFit/>
          </a:bodyPr>
          <a:lstStyle/>
          <a:p>
            <a:pPr algn="l">
              <a:lnSpc>
                <a:spcPct val="120000"/>
              </a:lnSpc>
              <a:spcAft>
                <a:spcPts val="1800"/>
              </a:spcAft>
              <a:defRPr sz="2400" b="1">
                <a:solidFill>
                  <a:srgbClr val="002060"/>
                </a:solidFill>
                <a:latin typeface="Calisto MT"/>
              </a:defRPr>
            </a:pPr>
            <a:r>
              <a:t>01. Introduction, Problem Statement &amp; Objectives</a:t>
            </a:r>
          </a:p>
          <a:p>
            <a:pPr algn="l">
              <a:lnSpc>
                <a:spcPct val="120000"/>
              </a:lnSpc>
              <a:spcAft>
                <a:spcPts val="1800"/>
              </a:spcAft>
              <a:defRPr sz="2400" b="1">
                <a:solidFill>
                  <a:srgbClr val="002060"/>
                </a:solidFill>
                <a:latin typeface="Calisto MT"/>
              </a:defRPr>
            </a:pPr>
            <a:r>
              <a:t>02. Literature Review &amp; Critical Research Gaps</a:t>
            </a:r>
          </a:p>
          <a:p>
            <a:pPr algn="l">
              <a:lnSpc>
                <a:spcPct val="120000"/>
              </a:lnSpc>
              <a:spcAft>
                <a:spcPts val="1800"/>
              </a:spcAft>
              <a:defRPr sz="2400" b="1">
                <a:solidFill>
                  <a:srgbClr val="002060"/>
                </a:solidFill>
                <a:latin typeface="Calisto MT"/>
              </a:defRPr>
            </a:pPr>
            <a:r>
              <a:t>03. System Architecture &amp; 6-Phase Methodology</a:t>
            </a:r>
          </a:p>
          <a:p>
            <a:pPr algn="l">
              <a:lnSpc>
                <a:spcPct val="120000"/>
              </a:lnSpc>
              <a:spcAft>
                <a:spcPts val="1800"/>
              </a:spcAft>
              <a:defRPr sz="2400" b="1">
                <a:solidFill>
                  <a:srgbClr val="002060"/>
                </a:solidFill>
                <a:latin typeface="Calisto MT"/>
              </a:defRPr>
            </a:pPr>
            <a:r>
              <a:t>04. Implementation &amp; Intelligent Algorithms</a:t>
            </a:r>
          </a:p>
          <a:p>
            <a:pPr algn="l">
              <a:lnSpc>
                <a:spcPct val="120000"/>
              </a:lnSpc>
              <a:spcAft>
                <a:spcPts val="1800"/>
              </a:spcAft>
              <a:defRPr sz="2400" b="1">
                <a:solidFill>
                  <a:srgbClr val="002060"/>
                </a:solidFill>
                <a:latin typeface="Calisto MT"/>
              </a:defRPr>
            </a:pPr>
            <a:r>
              <a:t>05. Experimental Results &amp; ISO Safety Compliance</a:t>
            </a:r>
          </a:p>
          <a:p>
            <a:pPr algn="l">
              <a:lnSpc>
                <a:spcPct val="120000"/>
              </a:lnSpc>
              <a:spcAft>
                <a:spcPts val="1800"/>
              </a:spcAft>
              <a:defRPr sz="2400" b="1">
                <a:solidFill>
                  <a:srgbClr val="002060"/>
                </a:solidFill>
                <a:latin typeface="Calisto MT"/>
              </a:defRPr>
            </a:pPr>
            <a:r>
              <a:t>06. Conclusion &amp; Physical Demonstration Transition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01. 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shared_workspace_human_robot.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02. 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03. 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Cartographer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20040"/>
            <a:ext cx="10515600" cy="640080"/>
          </a:xfrm>
        </p:spPr>
        <p:txBody>
          <a:bodyPr/>
          <a:lstStyle/>
          <a:p>
            <a:pPr algn="ctr">
              <a:lnSpc>
                <a:spcPct val="112000"/>
              </a:lnSpc>
              <a:spcBef>
                <a:spcPts val="0"/>
              </a:spcBef>
              <a:spcAft>
                <a:spcPts val="200"/>
              </a:spcAft>
              <a:defRPr sz="2800" b="1" i="0">
                <a:solidFill>
                  <a:srgbClr val="002060"/>
                </a:solidFill>
                <a:latin typeface="Calisto MT"/>
              </a:defRPr>
            </a:pPr>
            <a:r>
              <a:t>04. LITERATURE REVIEW &amp; RESEARCH GAPS</a:t>
            </a:r>
          </a:p>
        </p:txBody>
      </p:sp>
      <p:sp>
        <p:nvSpPr>
          <p:cNvPr id="3" name="Content Placeholder 2"/>
          <p:cNvSpPr>
            <a:spLocks noGrp="1"/>
          </p:cNvSpPr>
          <p:nvPr>
            <p:ph idx="1"/>
          </p:nvPr>
        </p:nvSpPr>
        <p:spPr/>
        <p:txBody>
          <a:bodyPr/>
          <a:lstStyle/>
          <a:p/>
        </p:txBody>
      </p:sp>
      <p:sp>
        <p:nvSpPr>
          <p:cNvPr id="4" name="Lit_Subhead"/>
          <p:cNvSpPr txBox="1"/>
          <p:nvPr/>
        </p:nvSpPr>
        <p:spPr>
          <a:xfrm>
            <a:off x="822960" y="1024128"/>
            <a:ext cx="10515600" cy="228600"/>
          </a:xfrm>
          <a:prstGeom prst="rect">
            <a:avLst/>
          </a:prstGeom>
          <a:noFill/>
        </p:spPr>
        <p:txBody>
          <a:bodyPr wrap="square" lIns="0" rIns="0" tIns="0" bIns="0">
            <a:spAutoFit/>
          </a:bodyPr>
          <a:lstStyle/>
          <a:p>
            <a:pPr algn="l">
              <a:lnSpc>
                <a:spcPct val="112000"/>
              </a:lnSpc>
              <a:spcBef>
                <a:spcPts val="0"/>
              </a:spcBef>
              <a:spcAft>
                <a:spcPts val="200"/>
              </a:spcAft>
              <a:defRPr sz="1150" b="1" i="0">
                <a:solidFill>
                  <a:srgbClr val="B8860B"/>
                </a:solidFill>
                <a:latin typeface="Calisto MT"/>
              </a:defRPr>
            </a:pPr>
            <a:r>
              <a:t>CRITICAL APPRAISAL OF CORE BENCHMARK STUDIES (THESIS CHAPTER 2)</a:t>
            </a:r>
          </a:p>
        </p:txBody>
      </p:sp>
      <p:sp>
        <p:nvSpPr>
          <p:cNvPr id="5" name="Lit_Paper_0"/>
          <p:cNvSpPr txBox="1"/>
          <p:nvPr/>
        </p:nvSpPr>
        <p:spPr>
          <a:xfrm>
            <a:off x="8229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Athanasios Tsitos, Maria Dagioglou &amp; Theodoros Giannakopoulos (2022)</a:t>
            </a:r>
          </a:p>
          <a:p>
            <a:pPr algn="l">
              <a:lnSpc>
                <a:spcPct val="110000"/>
              </a:lnSpc>
              <a:spcBef>
                <a:spcPts val="0"/>
              </a:spcBef>
              <a:spcAft>
                <a:spcPts val="500"/>
              </a:spcAft>
              <a:defRPr sz="950" b="0" i="1">
                <a:solidFill>
                  <a:srgbClr val="64748B"/>
                </a:solidFill>
                <a:latin typeface="Calisto MT"/>
              </a:defRPr>
            </a:pPr>
            <a:r>
              <a:t>"Real-Time Feasibility of a Human Intention Method Evaluated Through a Competitive Human-Robot Reaching Game"</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Predict human reaching intent early to guide robot arm trajectories within a 150 ms reaction threshold.</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hand movements with a depth camera and trained machine learning (SVM) to guide a robot arm.</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Confined to a static desk — lacks mobile base movement and provides no explicit hand gesture command channel.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Direct vision-to-wheels coupling for mobile navigation guided by 6 touchless hand gestures.</a:t>
            </a:r>
          </a:p>
        </p:txBody>
      </p:sp>
      <p:sp>
        <p:nvSpPr>
          <p:cNvPr id="6" name="Lit_Paper_1"/>
          <p:cNvSpPr txBox="1"/>
          <p:nvPr/>
        </p:nvSpPr>
        <p:spPr>
          <a:xfrm>
            <a:off x="44805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Jubayer Al Mahmud (2022)</a:t>
            </a:r>
          </a:p>
          <a:p>
            <a:pPr algn="l">
              <a:lnSpc>
                <a:spcPct val="110000"/>
              </a:lnSpc>
              <a:spcBef>
                <a:spcPts val="0"/>
              </a:spcBef>
              <a:spcAft>
                <a:spcPts val="500"/>
              </a:spcAft>
              <a:defRPr sz="950" b="0" i="1">
                <a:solidFill>
                  <a:srgbClr val="64748B"/>
                </a:solidFill>
                <a:latin typeface="Calisto MT"/>
              </a:defRPr>
            </a:pPr>
            <a:r>
              <a:t>"3D Gesture Recognition and Adaptation for Human–Robot Interaction"</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Classify 3D pointing and dynamic hand gestures in real time to guide robot interaction across age groups.</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full-body joints using a Kinect sensor and trained deep learning models on 3,600 gestures.</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Relies on heavy cloud / GPU computing clusters; vulnerable to network lag (&gt;200 ms) and connection drops.</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Executes 100% of vision AI directly onboard a low-cost Raspberry Pi 5 with zero cloud dependency.</a:t>
            </a:r>
          </a:p>
        </p:txBody>
      </p:sp>
      <p:sp>
        <p:nvSpPr>
          <p:cNvPr id="7" name="Lit_Paper_2"/>
          <p:cNvSpPr txBox="1"/>
          <p:nvPr/>
        </p:nvSpPr>
        <p:spPr>
          <a:xfrm>
            <a:off x="81381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Y. Li, H. Zhang, Guang Yang &amp; Shuoyu Wang (2023)</a:t>
            </a:r>
          </a:p>
          <a:p>
            <a:pPr algn="l">
              <a:lnSpc>
                <a:spcPct val="110000"/>
              </a:lnSpc>
              <a:spcBef>
                <a:spcPts val="0"/>
              </a:spcBef>
              <a:spcAft>
                <a:spcPts val="500"/>
              </a:spcAft>
              <a:defRPr sz="950" b="0" i="1">
                <a:solidFill>
                  <a:srgbClr val="64748B"/>
                </a:solidFill>
                <a:latin typeface="Calisto MT"/>
              </a:defRPr>
            </a:pPr>
            <a:r>
              <a:t>"Safe and Efficient Motion Planning for Material Transportation Robots Considering Intention Prediction of Obstacles"</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Plan collision-free mobile robot paths by predicting whether human workers will clear the hallway.</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Fused LiDAR and camera vision to predict worker paths and adjust navigation maps in a simulator.</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Tested only in computer simulation — never validated on physical robot hardware; lacks touchless gesture control.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Physically validated on a real mobile robot with 2D LiDAR SLAM, active visual servoing, and ISO safety stops.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05. 6-PHASE RESEARCH &amp; IMPLEMENTATION METHODOLOGY</a:t>
            </a:r>
          </a:p>
        </p:txBody>
      </p:sp>
      <p:sp>
        <p:nvSpPr>
          <p:cNvPr id="3" name="Content Placeholder 2"/>
          <p:cNvSpPr>
            <a:spLocks noGrp="1"/>
          </p:cNvSpPr>
          <p:nvPr>
            <p:ph idx="1"/>
          </p:nvPr>
        </p:nvSpPr>
        <p:spPr/>
        <p:txBody>
          <a:bodyPr/>
          <a:lstStyle/>
          <a:p/>
        </p:txBody>
      </p:sp>
      <p:sp>
        <p:nvSpPr>
          <p:cNvPr id="4" name="Met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STRUCTURED RESEARCH &amp; IMPLEMENTATION LIFECYCLE FROM DESIGN TO VALIDATION</a:t>
            </a:r>
          </a:p>
        </p:txBody>
      </p:sp>
      <p:sp>
        <p:nvSpPr>
          <p:cNvPr id="5" name="Meth_P1"/>
          <p:cNvSpPr txBox="1"/>
          <p:nvPr/>
        </p:nvSpPr>
        <p:spPr>
          <a:xfrm>
            <a:off x="7772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01</a:t>
            </a:r>
          </a:p>
          <a:p>
            <a:pPr algn="l">
              <a:lnSpc>
                <a:spcPct val="112000"/>
              </a:lnSpc>
              <a:spcBef>
                <a:spcPts val="0"/>
              </a:spcBef>
              <a:spcAft>
                <a:spcPts val="500"/>
              </a:spcAft>
              <a:defRPr sz="1200" b="1" i="0">
                <a:solidFill>
                  <a:srgbClr val="002060"/>
                </a:solidFill>
                <a:latin typeface="Calisto MT"/>
              </a:defRPr>
            </a:pPr>
            <a:r>
              <a:t>Mechatronics &amp; Hardware</a:t>
            </a:r>
          </a:p>
          <a:p>
            <a:pPr algn="l">
              <a:lnSpc>
                <a:spcPct val="114000"/>
              </a:lnSpc>
              <a:spcAft>
                <a:spcPts val="400"/>
              </a:spcAft>
            </a:pPr>
            <a:r>
              <a:rPr sz="1000" b="1">
                <a:solidFill>
                  <a:srgbClr val="002060"/>
                </a:solidFill>
                <a:latin typeface="Calisto MT"/>
              </a:rPr>
              <a:t>• Robot Platform: </a:t>
            </a:r>
            <a:r>
              <a:rPr sz="1000" b="0">
                <a:solidFill>
                  <a:srgbClr val="334155"/>
                </a:solidFill>
                <a:latin typeface="Calisto MT"/>
              </a:rPr>
              <a:t>4WD mobile base with geared DC motors, wheel encoders, and camera gimbal.</a:t>
            </a:r>
          </a:p>
          <a:p>
            <a:pPr algn="l">
              <a:lnSpc>
                <a:spcPct val="114000"/>
              </a:lnSpc>
              <a:spcAft>
                <a:spcPts val="400"/>
              </a:spcAft>
            </a:pPr>
            <a:r>
              <a:rPr sz="1000" b="1">
                <a:solidFill>
                  <a:srgbClr val="002060"/>
                </a:solidFill>
                <a:latin typeface="Calisto MT"/>
              </a:rPr>
              <a:t>• Dual Processors: </a:t>
            </a:r>
            <a:r>
              <a:rPr sz="1000" b="0">
                <a:solidFill>
                  <a:srgbClr val="334155"/>
                </a:solidFill>
                <a:latin typeface="Calisto MT"/>
              </a:rPr>
              <a:t>Raspberry Pi 5 for vision AI paired with an ESP32-S3 for real-time motor control.</a:t>
            </a:r>
          </a:p>
          <a:p>
            <a:pPr algn="l">
              <a:lnSpc>
                <a:spcPct val="114000"/>
              </a:lnSpc>
              <a:spcAft>
                <a:spcPts val="0"/>
              </a:spcAft>
            </a:pPr>
            <a:r>
              <a:rPr sz="1000" b="1">
                <a:solidFill>
                  <a:srgbClr val="002060"/>
                </a:solidFill>
                <a:latin typeface="Calisto MT"/>
              </a:rPr>
              <a:t>• Separate Power: </a:t>
            </a:r>
            <a:r>
              <a:rPr sz="1000" b="0">
                <a:solidFill>
                  <a:srgbClr val="334155"/>
                </a:solidFill>
                <a:latin typeface="Calisto MT"/>
              </a:rPr>
              <a:t>Dedicated battery packs powering the onboard computer and drive motors independently.</a:t>
            </a:r>
          </a:p>
        </p:txBody>
      </p:sp>
      <p:sp>
        <p:nvSpPr>
          <p:cNvPr id="6" name="Meth_P2"/>
          <p:cNvSpPr txBox="1"/>
          <p:nvPr/>
        </p:nvSpPr>
        <p:spPr>
          <a:xfrm>
            <a:off x="44348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02</a:t>
            </a:r>
          </a:p>
          <a:p>
            <a:pPr algn="l">
              <a:lnSpc>
                <a:spcPct val="112000"/>
              </a:lnSpc>
              <a:spcBef>
                <a:spcPts val="0"/>
              </a:spcBef>
              <a:spcAft>
                <a:spcPts val="500"/>
              </a:spcAft>
              <a:defRPr sz="1200" b="1" i="0">
                <a:solidFill>
                  <a:srgbClr val="002060"/>
                </a:solidFill>
                <a:latin typeface="Calisto MT"/>
              </a:defRPr>
            </a:pPr>
            <a:r>
              <a:t>Data Collection &amp; Setup</a:t>
            </a:r>
          </a:p>
          <a:p>
            <a:pPr algn="l">
              <a:lnSpc>
                <a:spcPct val="114000"/>
              </a:lnSpc>
              <a:spcAft>
                <a:spcPts val="400"/>
              </a:spcAft>
            </a:pPr>
            <a:r>
              <a:rPr sz="1000" b="1">
                <a:solidFill>
                  <a:srgbClr val="002060"/>
                </a:solidFill>
                <a:latin typeface="Calisto MT"/>
              </a:rPr>
              <a:t>• Custom Dataset: </a:t>
            </a:r>
            <a:r>
              <a:rPr sz="1000" b="0">
                <a:solidFill>
                  <a:srgbClr val="334155"/>
                </a:solidFill>
                <a:latin typeface="Calisto MT"/>
              </a:rPr>
              <a:t>6,000 total gesture images (1,000 per class) collected with the onboard camera.</a:t>
            </a:r>
          </a:p>
          <a:p>
            <a:pPr algn="l">
              <a:lnSpc>
                <a:spcPct val="114000"/>
              </a:lnSpc>
              <a:spcAft>
                <a:spcPts val="400"/>
              </a:spcAft>
            </a:pPr>
            <a:r>
              <a:rPr sz="1000" b="1">
                <a:solidFill>
                  <a:srgbClr val="002060"/>
                </a:solidFill>
                <a:latin typeface="Calisto MT"/>
              </a:rPr>
              <a:t>• 6 Core Gestures: </a:t>
            </a:r>
            <a:r>
              <a:rPr sz="1000" b="0">
                <a:solidFill>
                  <a:srgbClr val="334155"/>
                </a:solidFill>
                <a:latin typeface="Calisto MT"/>
              </a:rPr>
              <a:t>Navigational commands: STOP, GO, FOLLOW, LEFT, RIGHT, and BACK.</a:t>
            </a:r>
          </a:p>
          <a:p>
            <a:pPr algn="l">
              <a:lnSpc>
                <a:spcPct val="114000"/>
              </a:lnSpc>
              <a:spcAft>
                <a:spcPts val="0"/>
              </a:spcAft>
            </a:pPr>
            <a:r>
              <a:rPr sz="1000" b="1">
                <a:solidFill>
                  <a:srgbClr val="002060"/>
                </a:solidFill>
                <a:latin typeface="Calisto MT"/>
              </a:rPr>
              <a:t>• Realistic Testing: </a:t>
            </a:r>
            <a:r>
              <a:rPr sz="1000" b="0">
                <a:solidFill>
                  <a:srgbClr val="334155"/>
                </a:solidFill>
                <a:latin typeface="Calisto MT"/>
              </a:rPr>
              <a:t>Captured at distances between 1.0 m and 2.5 m under standard room lighting.</a:t>
            </a:r>
          </a:p>
        </p:txBody>
      </p:sp>
      <p:sp>
        <p:nvSpPr>
          <p:cNvPr id="7" name="Meth_P3"/>
          <p:cNvSpPr txBox="1"/>
          <p:nvPr/>
        </p:nvSpPr>
        <p:spPr>
          <a:xfrm>
            <a:off x="80924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03</a:t>
            </a:r>
          </a:p>
          <a:p>
            <a:pPr algn="l">
              <a:lnSpc>
                <a:spcPct val="112000"/>
              </a:lnSpc>
              <a:spcBef>
                <a:spcPts val="0"/>
              </a:spcBef>
              <a:spcAft>
                <a:spcPts val="500"/>
              </a:spcAft>
              <a:defRPr sz="1200" b="1" i="0">
                <a:solidFill>
                  <a:srgbClr val="002060"/>
                </a:solidFill>
                <a:latin typeface="Calisto MT"/>
              </a:defRPr>
            </a:pPr>
            <a:r>
              <a:t>Feature Extraction &amp; AI Models</a:t>
            </a:r>
          </a:p>
          <a:p>
            <a:pPr algn="l">
              <a:lnSpc>
                <a:spcPct val="114000"/>
              </a:lnSpc>
              <a:spcAft>
                <a:spcPts val="400"/>
              </a:spcAft>
            </a:pPr>
            <a:r>
              <a:rPr sz="1000" b="1">
                <a:solidFill>
                  <a:srgbClr val="002060"/>
                </a:solidFill>
                <a:latin typeface="Calisto MT"/>
              </a:rPr>
              <a:t>• Hand Keypoints: </a:t>
            </a:r>
            <a:r>
              <a:rPr sz="1000" b="0">
                <a:solidFill>
                  <a:srgbClr val="334155"/>
                </a:solidFill>
                <a:latin typeface="Calisto MT"/>
              </a:rPr>
              <a:t>Detected 21 hand joints with MediaPipe and computed 19 normalized angles and distances.</a:t>
            </a:r>
          </a:p>
          <a:p>
            <a:pPr algn="l">
              <a:lnSpc>
                <a:spcPct val="114000"/>
              </a:lnSpc>
              <a:spcAft>
                <a:spcPts val="400"/>
              </a:spcAft>
            </a:pPr>
            <a:r>
              <a:rPr sz="1000" b="1">
                <a:solidFill>
                  <a:srgbClr val="002060"/>
                </a:solidFill>
                <a:latin typeface="Calisto MT"/>
              </a:rPr>
              <a:t>• Neural Classifier: </a:t>
            </a:r>
            <a:r>
              <a:rPr sz="1000" b="0">
                <a:solidFill>
                  <a:srgbClr val="334155"/>
                </a:solidFill>
                <a:latin typeface="Calisto MT"/>
              </a:rPr>
              <a:t>Compact neural network (46 KB) classifying gestures in under 2 ms on the CPU.</a:t>
            </a:r>
          </a:p>
          <a:p>
            <a:pPr algn="l">
              <a:lnSpc>
                <a:spcPct val="114000"/>
              </a:lnSpc>
              <a:spcAft>
                <a:spcPts val="0"/>
              </a:spcAft>
            </a:pPr>
            <a:r>
              <a:rPr sz="1000" b="1">
                <a:solidFill>
                  <a:srgbClr val="002060"/>
                </a:solidFill>
                <a:latin typeface="Calisto MT"/>
              </a:rPr>
              <a:t>• Motion Predictor: </a:t>
            </a:r>
            <a:r>
              <a:rPr sz="1000" b="0">
                <a:solidFill>
                  <a:srgbClr val="334155"/>
                </a:solidFill>
                <a:latin typeface="Calisto MT"/>
              </a:rPr>
              <a:t>Recurrent neural model (LSTM) tracking hand and body movements across consecutive frames.</a:t>
            </a:r>
          </a:p>
        </p:txBody>
      </p:sp>
      <p:sp>
        <p:nvSpPr>
          <p:cNvPr id="8" name="Meth_P4"/>
          <p:cNvSpPr txBox="1"/>
          <p:nvPr/>
        </p:nvSpPr>
        <p:spPr>
          <a:xfrm>
            <a:off x="7772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04</a:t>
            </a:r>
          </a:p>
          <a:p>
            <a:pPr algn="l">
              <a:lnSpc>
                <a:spcPct val="112000"/>
              </a:lnSpc>
              <a:spcBef>
                <a:spcPts val="0"/>
              </a:spcBef>
              <a:spcAft>
                <a:spcPts val="500"/>
              </a:spcAft>
              <a:defRPr sz="1200" b="1" i="0">
                <a:solidFill>
                  <a:srgbClr val="002060"/>
                </a:solidFill>
                <a:latin typeface="Calisto MT"/>
              </a:defRPr>
            </a:pPr>
            <a:r>
              <a:t>Robot Control &amp; Safety</a:t>
            </a:r>
          </a:p>
          <a:p>
            <a:pPr algn="l">
              <a:lnSpc>
                <a:spcPct val="114000"/>
              </a:lnSpc>
              <a:spcAft>
                <a:spcPts val="400"/>
              </a:spcAft>
            </a:pPr>
            <a:r>
              <a:rPr sz="1000" b="1">
                <a:solidFill>
                  <a:srgbClr val="002060"/>
                </a:solidFill>
                <a:latin typeface="Calisto MT"/>
              </a:rPr>
              <a:t>• ROS 2 Framework: </a:t>
            </a:r>
            <a:r>
              <a:rPr sz="1000" b="0">
                <a:solidFill>
                  <a:srgbClr val="334155"/>
                </a:solidFill>
                <a:latin typeface="Calisto MT"/>
              </a:rPr>
              <a:t>Modular software nodes connecting the camera, AI models, and motor drivers.</a:t>
            </a:r>
          </a:p>
          <a:p>
            <a:pPr algn="l">
              <a:lnSpc>
                <a:spcPct val="114000"/>
              </a:lnSpc>
              <a:spcAft>
                <a:spcPts val="400"/>
              </a:spcAft>
            </a:pPr>
            <a:r>
              <a:rPr sz="1000" b="1">
                <a:solidFill>
                  <a:srgbClr val="002060"/>
                </a:solidFill>
                <a:latin typeface="Calisto MT"/>
              </a:rPr>
              <a:t>• Decision Logic: </a:t>
            </a:r>
            <a:r>
              <a:rPr sz="1000" b="0">
                <a:solidFill>
                  <a:srgbClr val="334155"/>
                </a:solidFill>
                <a:latin typeface="Calisto MT"/>
              </a:rPr>
              <a:t>State machine filters out accidental motions by confirming steady hand gestures.</a:t>
            </a:r>
          </a:p>
          <a:p>
            <a:pPr algn="l">
              <a:lnSpc>
                <a:spcPct val="114000"/>
              </a:lnSpc>
              <a:spcAft>
                <a:spcPts val="0"/>
              </a:spcAft>
            </a:pPr>
            <a:r>
              <a:rPr sz="1000" b="1">
                <a:solidFill>
                  <a:srgbClr val="002060"/>
                </a:solidFill>
                <a:latin typeface="Calisto MT"/>
              </a:rPr>
              <a:t>• Emergency Halt: </a:t>
            </a:r>
            <a:r>
              <a:rPr sz="1000" b="0">
                <a:solidFill>
                  <a:srgbClr val="334155"/>
                </a:solidFill>
                <a:latin typeface="Calisto MT"/>
              </a:rPr>
              <a:t>2D LiDAR sensor automatically stops the robot if an obstacle is within 0.36 m.</a:t>
            </a:r>
          </a:p>
        </p:txBody>
      </p:sp>
      <p:sp>
        <p:nvSpPr>
          <p:cNvPr id="9" name="Meth_P5"/>
          <p:cNvSpPr txBox="1"/>
          <p:nvPr/>
        </p:nvSpPr>
        <p:spPr>
          <a:xfrm>
            <a:off x="44348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05</a:t>
            </a:r>
          </a:p>
          <a:p>
            <a:pPr algn="l">
              <a:lnSpc>
                <a:spcPct val="112000"/>
              </a:lnSpc>
              <a:spcBef>
                <a:spcPts val="0"/>
              </a:spcBef>
              <a:spcAft>
                <a:spcPts val="500"/>
              </a:spcAft>
              <a:defRPr sz="1200" b="1" i="0">
                <a:solidFill>
                  <a:srgbClr val="002060"/>
                </a:solidFill>
                <a:latin typeface="Calisto MT"/>
              </a:defRPr>
            </a:pPr>
            <a:r>
              <a:t>Mapping &amp; Navigation</a:t>
            </a:r>
          </a:p>
          <a:p>
            <a:pPr algn="l">
              <a:lnSpc>
                <a:spcPct val="114000"/>
              </a:lnSpc>
              <a:spcAft>
                <a:spcPts val="400"/>
              </a:spcAft>
            </a:pPr>
            <a:r>
              <a:rPr sz="1000" b="1">
                <a:solidFill>
                  <a:srgbClr val="002060"/>
                </a:solidFill>
                <a:latin typeface="Calisto MT"/>
              </a:rPr>
              <a:t>• Indoor Mapping: </a:t>
            </a:r>
            <a:r>
              <a:rPr sz="1000" b="0">
                <a:solidFill>
                  <a:srgbClr val="334155"/>
                </a:solidFill>
                <a:latin typeface="Calisto MT"/>
              </a:rPr>
              <a:t>2D laser mapping (slam_toolbox) creates a clean 5 cm resolution floor plan.</a:t>
            </a:r>
          </a:p>
          <a:p>
            <a:pPr algn="l">
              <a:lnSpc>
                <a:spcPct val="114000"/>
              </a:lnSpc>
              <a:spcAft>
                <a:spcPts val="400"/>
              </a:spcAft>
            </a:pPr>
            <a:r>
              <a:rPr sz="1000" b="1">
                <a:solidFill>
                  <a:srgbClr val="002060"/>
                </a:solidFill>
                <a:latin typeface="Calisto MT"/>
              </a:rPr>
              <a:t>• Robot Position: </a:t>
            </a:r>
            <a:r>
              <a:rPr sz="1000" b="0">
                <a:solidFill>
                  <a:srgbClr val="334155"/>
                </a:solidFill>
                <a:latin typeface="Calisto MT"/>
              </a:rPr>
              <a:t>Accurately tracks robot movement by combining wheel encoders with an onboard IMU sensor.</a:t>
            </a:r>
          </a:p>
          <a:p>
            <a:pPr algn="l">
              <a:lnSpc>
                <a:spcPct val="114000"/>
              </a:lnSpc>
              <a:spcAft>
                <a:spcPts val="0"/>
              </a:spcAft>
            </a:pPr>
            <a:r>
              <a:rPr sz="1000" b="1">
                <a:solidFill>
                  <a:srgbClr val="002060"/>
                </a:solidFill>
                <a:latin typeface="Calisto MT"/>
              </a:rPr>
              <a:t>• Path Planning: </a:t>
            </a:r>
            <a:r>
              <a:rPr sz="1000" b="0">
                <a:solidFill>
                  <a:srgbClr val="334155"/>
                </a:solidFill>
                <a:latin typeface="Calisto MT"/>
              </a:rPr>
              <a:t>Nav2 autonomous navigation plans collision-free paths with safe margins around obstacles.</a:t>
            </a:r>
          </a:p>
        </p:txBody>
      </p:sp>
      <p:sp>
        <p:nvSpPr>
          <p:cNvPr id="10" name="Meth_P6"/>
          <p:cNvSpPr txBox="1"/>
          <p:nvPr/>
        </p:nvSpPr>
        <p:spPr>
          <a:xfrm>
            <a:off x="80924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06</a:t>
            </a:r>
          </a:p>
          <a:p>
            <a:pPr algn="l">
              <a:lnSpc>
                <a:spcPct val="112000"/>
              </a:lnSpc>
              <a:spcBef>
                <a:spcPts val="0"/>
              </a:spcBef>
              <a:spcAft>
                <a:spcPts val="500"/>
              </a:spcAft>
              <a:defRPr sz="1200" b="1" i="0">
                <a:solidFill>
                  <a:srgbClr val="002060"/>
                </a:solidFill>
                <a:latin typeface="Calisto MT"/>
              </a:defRPr>
            </a:pPr>
            <a:r>
              <a:t>Experimental Testing &amp; Results</a:t>
            </a:r>
          </a:p>
          <a:p>
            <a:pPr algn="l">
              <a:lnSpc>
                <a:spcPct val="114000"/>
              </a:lnSpc>
              <a:spcAft>
                <a:spcPts val="400"/>
              </a:spcAft>
            </a:pPr>
            <a:r>
              <a:rPr sz="1000" b="1">
                <a:solidFill>
                  <a:srgbClr val="002060"/>
                </a:solidFill>
                <a:latin typeface="Calisto MT"/>
              </a:rPr>
              <a:t>• Fast Response: </a:t>
            </a:r>
            <a:r>
              <a:rPr sz="1000" b="0">
                <a:solidFill>
                  <a:srgbClr val="334155"/>
                </a:solidFill>
                <a:latin typeface="Calisto MT"/>
              </a:rPr>
              <a:t>End-to-end reaction time of 74.2 ms, comfortably below the 150 ms real-time limit.</a:t>
            </a:r>
          </a:p>
          <a:p>
            <a:pPr algn="l">
              <a:lnSpc>
                <a:spcPct val="114000"/>
              </a:lnSpc>
              <a:spcAft>
                <a:spcPts val="400"/>
              </a:spcAft>
            </a:pPr>
            <a:r>
              <a:rPr sz="1000" b="1">
                <a:solidFill>
                  <a:srgbClr val="002060"/>
                </a:solidFill>
                <a:latin typeface="Calisto MT"/>
              </a:rPr>
              <a:t>• Live Driving Trials: </a:t>
            </a:r>
            <a:r>
              <a:rPr sz="1000" b="0">
                <a:solidFill>
                  <a:srgbClr val="334155"/>
                </a:solidFill>
                <a:latin typeface="Calisto MT"/>
              </a:rPr>
              <a:t>180 real-world physical tests achieving a 96.67% operational success rate.</a:t>
            </a:r>
          </a:p>
          <a:p>
            <a:pPr algn="l">
              <a:lnSpc>
                <a:spcPct val="114000"/>
              </a:lnSpc>
              <a:spcAft>
                <a:spcPts val="0"/>
              </a:spcAft>
            </a:pPr>
            <a:r>
              <a:rPr sz="1000" b="1">
                <a:solidFill>
                  <a:srgbClr val="002060"/>
                </a:solidFill>
                <a:latin typeface="Calisto MT"/>
              </a:rPr>
              <a:t>• Safety Confirmed: </a:t>
            </a:r>
            <a:r>
              <a:rPr sz="1000" b="0">
                <a:solidFill>
                  <a:srgbClr val="334155"/>
                </a:solidFill>
                <a:latin typeface="Calisto MT"/>
              </a:rPr>
              <a:t>Verified that the robot reliably halts before coming into contact with any human or obstacle.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06. SOFTWARE ARCHITECTURE &amp; INTER-NODE DATAFLOW</a:t>
            </a:r>
          </a:p>
        </p:txBody>
      </p:sp>
      <p:sp>
        <p:nvSpPr>
          <p:cNvPr id="3" name="Content Placeholder 2"/>
          <p:cNvSpPr>
            <a:spLocks noGrp="1"/>
          </p:cNvSpPr>
          <p:nvPr>
            <p:ph idx="1"/>
          </p:nvPr>
        </p:nvSpPr>
        <p:spPr/>
        <p:txBody>
          <a:bodyPr/>
          <a:lstStyle/>
          <a:p/>
        </p:txBody>
      </p:sp>
      <p:sp>
        <p:nvSpPr>
          <p:cNvPr id="4" name="Arc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MODULAR ROS 2 HUMBLE MIDDLEWARE, TOPIC PIPELINES &amp; HARDWARE BRIDGE</a:t>
            </a:r>
          </a:p>
        </p:txBody>
      </p:sp>
      <p:sp>
        <p:nvSpPr>
          <p:cNvPr id="5" name="Arch_Tiers_Text"/>
          <p:cNvSpPr txBox="1"/>
          <p:nvPr/>
        </p:nvSpPr>
        <p:spPr>
          <a:xfrm>
            <a:off x="777240" y="1261872"/>
            <a:ext cx="5806440" cy="4297680"/>
          </a:xfrm>
          <a:prstGeom prst="rect">
            <a:avLst/>
          </a:prstGeom>
          <a:noFill/>
        </p:spPr>
        <p:txBody>
          <a:bodyPr wrap="square" lIns="18288" rIns="18288" tIns="18288" bIns="18288">
            <a:spAutoFit/>
          </a:bodyPr>
          <a:lstStyle/>
          <a:p>
            <a:pPr algn="l">
              <a:lnSpc>
                <a:spcPct val="115000"/>
              </a:lnSpc>
              <a:spcAft>
                <a:spcPts val="800"/>
              </a:spcAft>
            </a:pPr>
            <a:r>
              <a:rPr sz="1100" b="1">
                <a:solidFill>
                  <a:srgbClr val="002060"/>
                </a:solidFill>
                <a:latin typeface="Calisto MT"/>
              </a:rPr>
              <a:t>• Middleware Core (ROS 2 Humble): </a:t>
            </a:r>
            <a:r>
              <a:rPr sz="1100" b="0">
                <a:solidFill>
                  <a:srgbClr val="334155"/>
                </a:solidFill>
                <a:latin typeface="Calisto MT"/>
              </a:rPr>
              <a:t>Executes modular software nodes communicating over asynchronous publish/subscribe topics on dedicated Domain 20.</a:t>
            </a:r>
          </a:p>
          <a:p>
            <a:pPr algn="l">
              <a:lnSpc>
                <a:spcPct val="115000"/>
              </a:lnSpc>
              <a:spcAft>
                <a:spcPts val="800"/>
              </a:spcAft>
            </a:pPr>
            <a:r>
              <a:rPr sz="1100" b="1">
                <a:solidFill>
                  <a:srgbClr val="002060"/>
                </a:solidFill>
                <a:latin typeface="Calisto MT"/>
              </a:rPr>
              <a:t>• Sensory Streaming: </a:t>
            </a:r>
            <a:r>
              <a:rPr sz="1100" b="0">
                <a:solidFill>
                  <a:srgbClr val="334155"/>
                </a:solidFill>
                <a:latin typeface="Calisto MT"/>
              </a:rPr>
              <a:t>Camera and 2D LiDAR continuously stream uncompressed video (/camera/image_raw at 20 FPS) and laser scans (/scan at 12.5 Hz).</a:t>
            </a:r>
          </a:p>
          <a:p>
            <a:pPr algn="l">
              <a:lnSpc>
                <a:spcPct val="115000"/>
              </a:lnSpc>
              <a:spcAft>
                <a:spcPts val="800"/>
              </a:spcAft>
            </a:pPr>
            <a:r>
              <a:rPr sz="1100" b="1">
                <a:solidFill>
                  <a:srgbClr val="002060"/>
                </a:solidFill>
                <a:latin typeface="Calisto MT"/>
              </a:rPr>
              <a:t>• Neural Perception Node: </a:t>
            </a:r>
            <a:r>
              <a:rPr sz="1100" b="0">
                <a:solidFill>
                  <a:srgbClr val="334155"/>
                </a:solidFill>
                <a:latin typeface="Calisto MT"/>
              </a:rPr>
              <a:t>Consumes camera frames, extracts hand joint coordinates, and publishes discrete gesture tokens (/cognition/gesture).</a:t>
            </a:r>
          </a:p>
          <a:p>
            <a:pPr algn="l">
              <a:lnSpc>
                <a:spcPct val="115000"/>
              </a:lnSpc>
              <a:spcAft>
                <a:spcPts val="800"/>
              </a:spcAft>
            </a:pPr>
            <a:r>
              <a:rPr sz="1100" b="1">
                <a:solidFill>
                  <a:srgbClr val="002060"/>
                </a:solidFill>
                <a:latin typeface="Calisto MT"/>
              </a:rPr>
              <a:t>• Supervisory Control (brain_node): </a:t>
            </a:r>
            <a:r>
              <a:rPr sz="1100" b="0">
                <a:solidFill>
                  <a:srgbClr val="334155"/>
                </a:solidFill>
                <a:latin typeface="Calisto MT"/>
              </a:rPr>
              <a:t>Filters accidental motions through multi-frame consensus and computes directional driving commands (/cmd_vel).</a:t>
            </a:r>
          </a:p>
          <a:p>
            <a:pPr algn="l">
              <a:lnSpc>
                <a:spcPct val="115000"/>
              </a:lnSpc>
              <a:spcAft>
                <a:spcPts val="800"/>
              </a:spcAft>
            </a:pPr>
            <a:r>
              <a:rPr sz="1100" b="1">
                <a:solidFill>
                  <a:srgbClr val="002060"/>
                </a:solidFill>
                <a:latin typeface="Calisto MT"/>
              </a:rPr>
              <a:t>• Real-Time Bridge (micro-ROS): </a:t>
            </a:r>
            <a:r>
              <a:rPr sz="1100" b="0">
                <a:solidFill>
                  <a:srgbClr val="334155"/>
                </a:solidFill>
                <a:latin typeface="Calisto MT"/>
              </a:rPr>
              <a:t>Streams velocity setpoints across a high-speed 921,600 baud serial UART link to the ESP32-S3 motor co-processor.</a:t>
            </a:r>
          </a:p>
          <a:p>
            <a:pPr algn="l">
              <a:lnSpc>
                <a:spcPct val="115000"/>
              </a:lnSpc>
              <a:spcAft>
                <a:spcPts val="0"/>
              </a:spcAft>
            </a:pPr>
            <a:r>
              <a:rPr sz="1100" b="1">
                <a:solidFill>
                  <a:srgbClr val="B42828"/>
                </a:solidFill>
                <a:latin typeface="Calisto MT"/>
              </a:rPr>
              <a:t>• Priority Multiplexer (twist_mux): </a:t>
            </a:r>
            <a:r>
              <a:rPr sz="1100" b="0">
                <a:solidFill>
                  <a:srgbClr val="334155"/>
                </a:solidFill>
                <a:latin typeface="Calisto MT"/>
              </a:rPr>
              <a:t>Hardware safety monitor immediately preempts autonomous gestures and halts the robot if a LiDAR obstacle is within 0.36 m.</a:t>
            </a:r>
          </a:p>
        </p:txBody>
      </p:sp>
      <p:pic>
        <p:nvPicPr>
          <p:cNvPr id="6" name="Arch_Diagram_Img" descr="image.png"/>
          <p:cNvPicPr>
            <a:picLocks noChangeAspect="1"/>
          </p:cNvPicPr>
          <p:nvPr/>
        </p:nvPicPr>
        <p:blipFill>
          <a:blip r:embed="rId2"/>
          <a:stretch>
            <a:fillRect/>
          </a:stretch>
        </p:blipFill>
        <p:spPr>
          <a:xfrm>
            <a:off x="6812280" y="1261872"/>
            <a:ext cx="4526280" cy="4297680"/>
          </a:xfrm>
          <a:prstGeom prst="rect">
            <a:avLst/>
          </a:prstGeom>
        </p:spPr>
      </p:pic>
      <p:sp>
        <p:nvSpPr>
          <p:cNvPr id="7" name="Arch_Caption"/>
          <p:cNvSpPr txBox="1"/>
          <p:nvPr/>
        </p:nvSpPr>
        <p:spPr>
          <a:xfrm>
            <a:off x="6812280" y="5596128"/>
            <a:ext cx="4526280" cy="22860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3.1: End-to-End Cognitive System Architecture &amp; Safety Interlock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