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 id="565" r:id="rId16"/>
    <p:sldId id="566" r:id="rId17"/>
    <p:sldId id="567" r:id="rId18"/>
    <p:sldId id="568" r:id="rId19"/>
    <p:sldId id="569" r:id="rId20"/>
    <p:sldId id="570" r:id="rId21"/>
    <p:sldId id="5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Testing, Results &amp; Safety Analysis</a:t>
            </a:r>
          </a:p>
          <a:p>
            <a:pPr algn="l">
              <a:lnSpc>
                <a:spcPct val="120000"/>
              </a:lnSpc>
              <a:spcAft>
                <a:spcPts val="1800"/>
              </a:spcAft>
              <a:defRPr sz="2400" b="1">
                <a:solidFill>
                  <a:srgbClr val="002060"/>
                </a:solidFill>
                <a:latin typeface="Calisto MT"/>
              </a:defRPr>
            </a:pPr>
            <a:r>
              <a:t>06. Conclusion, Limitations &amp; Recommendations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06. 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PROCESSES SENSOR DATA AND MAKES SAFE DRIVING DECISIONS</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System Software (ROS 2): </a:t>
            </a:r>
            <a:r>
              <a:rPr sz="1100" b="0">
                <a:solidFill>
                  <a:srgbClr val="334155"/>
                </a:solidFill>
                <a:latin typeface="Calisto MT"/>
              </a:rPr>
              <a:t>Connects all camera, artificial intelligence, and motor programs so they exchange data instantly without delays.</a:t>
            </a:r>
          </a:p>
          <a:p>
            <a:pPr algn="l">
              <a:lnSpc>
                <a:spcPct val="115000"/>
              </a:lnSpc>
              <a:spcAft>
                <a:spcPts val="800"/>
              </a:spcAft>
            </a:pPr>
            <a:r>
              <a:rPr sz="1100" b="1">
                <a:solidFill>
                  <a:srgbClr val="002060"/>
                </a:solidFill>
                <a:latin typeface="Calisto MT"/>
              </a:rPr>
              <a:t>• Live Sensor Feeds: </a:t>
            </a:r>
            <a:r>
              <a:rPr sz="1100" b="0">
                <a:solidFill>
                  <a:srgbClr val="334155"/>
                </a:solidFill>
                <a:latin typeface="Calisto MT"/>
              </a:rPr>
              <a:t>The camera captures live video at 20 frames per second while the laser sensor constantly scans 360 degrees for obstacles.</a:t>
            </a:r>
          </a:p>
          <a:p>
            <a:pPr algn="l">
              <a:lnSpc>
                <a:spcPct val="115000"/>
              </a:lnSpc>
              <a:spcAft>
                <a:spcPts val="800"/>
              </a:spcAft>
            </a:pPr>
            <a:r>
              <a:rPr sz="1100" b="1">
                <a:solidFill>
                  <a:srgbClr val="002060"/>
                </a:solidFill>
                <a:latin typeface="Calisto MT"/>
              </a:rPr>
              <a:t>• Vision &amp; Hand Tracking: </a:t>
            </a:r>
            <a:r>
              <a:rPr sz="1100" b="0">
                <a:solidFill>
                  <a:srgbClr val="334155"/>
                </a:solidFill>
                <a:latin typeface="Calisto MT"/>
              </a:rPr>
              <a:t>Focuses on the person standing in front of the robot, locates 21 finger joints, and identifies the gesture being shown.</a:t>
            </a:r>
          </a:p>
          <a:p>
            <a:pPr algn="l">
              <a:lnSpc>
                <a:spcPct val="115000"/>
              </a:lnSpc>
              <a:spcAft>
                <a:spcPts val="800"/>
              </a:spcAft>
            </a:pPr>
            <a:r>
              <a:rPr sz="1100" b="1">
                <a:solidFill>
                  <a:srgbClr val="002060"/>
                </a:solidFill>
                <a:latin typeface="Calisto MT"/>
              </a:rPr>
              <a:t>• Gesture Confirmation: </a:t>
            </a:r>
            <a:r>
              <a:rPr sz="1100" b="0">
                <a:solidFill>
                  <a:srgbClr val="334155"/>
                </a:solidFill>
                <a:latin typeface="Calisto MT"/>
              </a:rPr>
              <a:t>The robot checks that it sees the exact same gesture 5 times in a row before moving, ignoring accidental hand motions.</a:t>
            </a:r>
          </a:p>
          <a:p>
            <a:pPr algn="l">
              <a:lnSpc>
                <a:spcPct val="115000"/>
              </a:lnSpc>
              <a:spcAft>
                <a:spcPts val="800"/>
              </a:spcAft>
            </a:pPr>
            <a:r>
              <a:rPr sz="1100" b="1">
                <a:solidFill>
                  <a:srgbClr val="002060"/>
                </a:solidFill>
                <a:latin typeface="Calisto MT"/>
              </a:rPr>
              <a:t>• Safety Override: </a:t>
            </a:r>
            <a:r>
              <a:rPr sz="1100" b="0">
                <a:solidFill>
                  <a:srgbClr val="334155"/>
                </a:solidFill>
                <a:latin typeface="Calisto MT"/>
              </a:rPr>
              <a:t>If the laser detects any obstacle closer than 0.36 meters, it instantly overrides driving commands and halts the robot immediately.</a:t>
            </a:r>
          </a:p>
          <a:p>
            <a:pPr algn="l">
              <a:lnSpc>
                <a:spcPct val="115000"/>
              </a:lnSpc>
              <a:spcAft>
                <a:spcPts val="0"/>
              </a:spcAft>
            </a:pPr>
            <a:r>
              <a:rPr sz="1100" b="1">
                <a:solidFill>
                  <a:srgbClr val="002060"/>
                </a:solidFill>
                <a:latin typeface="Calisto MT"/>
              </a:rPr>
              <a:t>• Smooth Wheel Control: </a:t>
            </a:r>
            <a:r>
              <a:rPr sz="1100" b="0">
                <a:solidFill>
                  <a:srgbClr val="334155"/>
                </a:solidFill>
                <a:latin typeface="Calisto MT"/>
              </a:rPr>
              <a:t>Approved movement commands are transmitted directly to the motor controller board, which drives the 4 wheels smoothly.</a:t>
            </a:r>
          </a:p>
        </p:txBody>
      </p:sp>
      <p:pic>
        <p:nvPicPr>
          <p:cNvPr id="6" name="Arch_Diagram_Img" descr="software_flowchart.png"/>
          <p:cNvPicPr>
            <a:picLocks noChangeAspect="1"/>
          </p:cNvPicPr>
          <p:nvPr/>
        </p:nvPicPr>
        <p:blipFill>
          <a:blip r:embed="rId5"/>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Dataflow Pipeline from Sensor Feeds to Wheel Actuation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07. MECHATRONIC HARDWARE &amp; POWER DISTRIBUTION</a:t>
            </a:r>
          </a:p>
        </p:txBody>
      </p:sp>
      <p:sp>
        <p:nvSpPr>
          <p:cNvPr id="3" name="Content Placeholder 2"/>
          <p:cNvSpPr>
            <a:spLocks noGrp="1"/>
          </p:cNvSpPr>
          <p:nvPr>
            <p:ph idx="1"/>
          </p:nvPr>
        </p:nvSpPr>
        <p:spPr/>
        <p:txBody>
          <a:bodyPr/>
          <a:lstStyle/>
          <a:p/>
        </p:txBody>
      </p:sp>
      <p:sp>
        <p:nvSpPr>
          <p:cNvPr id="4" name="Hw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EMBEDDED COMPUTING, SENSORS, CHASSIS &amp; POWER ISOLATION</a:t>
            </a:r>
          </a:p>
        </p:txBody>
      </p:sp>
      <p:sp>
        <p:nvSpPr>
          <p:cNvPr id="5" name="Hw_Points_Text"/>
          <p:cNvSpPr txBox="1"/>
          <p:nvPr/>
        </p:nvSpPr>
        <p:spPr>
          <a:xfrm>
            <a:off x="777240" y="1261872"/>
            <a:ext cx="539496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Onboard Computer (Raspberry Pi 5): </a:t>
            </a:r>
            <a:r>
              <a:rPr sz="1100" b="0">
                <a:solidFill>
                  <a:srgbClr val="334155"/>
                </a:solidFill>
                <a:latin typeface="Calisto MT"/>
              </a:rPr>
              <a:t>8GB RAM single-board computer running all camera tracking, gesture artificial intelligence, and navigation programs directly on the robot.</a:t>
            </a:r>
          </a:p>
          <a:p>
            <a:pPr algn="l">
              <a:lnSpc>
                <a:spcPct val="115000"/>
              </a:lnSpc>
              <a:spcAft>
                <a:spcPts val="700"/>
              </a:spcAft>
            </a:pPr>
            <a:r>
              <a:rPr sz="1100" b="1">
                <a:solidFill>
                  <a:srgbClr val="002060"/>
                </a:solidFill>
                <a:latin typeface="Calisto MT"/>
              </a:rPr>
              <a:t>• Motor Controller (ESP32-S3): </a:t>
            </a:r>
            <a:r>
              <a:rPr sz="1100" b="0">
                <a:solidFill>
                  <a:srgbClr val="334155"/>
                </a:solidFill>
                <a:latin typeface="Calisto MT"/>
              </a:rPr>
              <a:t>Dedicated microcontroller that manages wheel speed and reads motor sensors smoothly without overloading the main computer.</a:t>
            </a:r>
          </a:p>
          <a:p>
            <a:pPr algn="l">
              <a:lnSpc>
                <a:spcPct val="115000"/>
              </a:lnSpc>
              <a:spcAft>
                <a:spcPts val="700"/>
              </a:spcAft>
            </a:pPr>
            <a:r>
              <a:rPr sz="1100" b="1">
                <a:solidFill>
                  <a:srgbClr val="002060"/>
                </a:solidFill>
                <a:latin typeface="Calisto MT"/>
              </a:rPr>
              <a:t>• Laser Scanner (MS200 LiDAR): </a:t>
            </a:r>
            <a:r>
              <a:rPr sz="1100" b="0">
                <a:solidFill>
                  <a:srgbClr val="334155"/>
                </a:solidFill>
                <a:latin typeface="Calisto MT"/>
              </a:rPr>
              <a:t>360-degree laser sensor measuring room distances up to 12 meters for indoor mapping and instant emergency stops.</a:t>
            </a:r>
          </a:p>
          <a:p>
            <a:pPr algn="l">
              <a:lnSpc>
                <a:spcPct val="115000"/>
              </a:lnSpc>
              <a:spcAft>
                <a:spcPts val="700"/>
              </a:spcAft>
            </a:pPr>
            <a:r>
              <a:rPr sz="1100" b="1">
                <a:solidFill>
                  <a:srgbClr val="002060"/>
                </a:solidFill>
                <a:latin typeface="Calisto MT"/>
              </a:rPr>
              <a:t>• Motorized Camera Mount: </a:t>
            </a:r>
            <a:r>
              <a:rPr sz="1100" b="0">
                <a:solidFill>
                  <a:srgbClr val="334155"/>
                </a:solidFill>
                <a:latin typeface="Calisto MT"/>
              </a:rPr>
              <a:t>2-axis motorized camera gimbal that tilts and pans automatically to keep the operator's face and hands centered in view.</a:t>
            </a:r>
          </a:p>
          <a:p>
            <a:pPr algn="l">
              <a:lnSpc>
                <a:spcPct val="115000"/>
              </a:lnSpc>
              <a:spcAft>
                <a:spcPts val="700"/>
              </a:spcAft>
            </a:pPr>
            <a:r>
              <a:rPr sz="1100" b="1">
                <a:solidFill>
                  <a:srgbClr val="002060"/>
                </a:solidFill>
                <a:latin typeface="Calisto MT"/>
              </a:rPr>
              <a:t>• 4-Wheel Drive Chassis: </a:t>
            </a:r>
            <a:r>
              <a:rPr sz="1100" b="0">
                <a:solidFill>
                  <a:srgbClr val="334155"/>
                </a:solidFill>
                <a:latin typeface="Calisto MT"/>
              </a:rPr>
              <a:t>Sturdy aluminium robot base powered by 4 geared DC motors with wheel sensors for smooth and steady movement.</a:t>
            </a:r>
          </a:p>
          <a:p>
            <a:pPr algn="l">
              <a:lnSpc>
                <a:spcPct val="115000"/>
              </a:lnSpc>
              <a:spcAft>
                <a:spcPts val="0"/>
              </a:spcAft>
            </a:pPr>
            <a:r>
              <a:rPr sz="1100" b="1">
                <a:solidFill>
                  <a:srgbClr val="002060"/>
                </a:solidFill>
                <a:latin typeface="Calisto MT"/>
              </a:rPr>
              <a:t>• Dual-Rail Power System: </a:t>
            </a:r>
            <a:r>
              <a:rPr sz="1100" b="0">
                <a:solidFill>
                  <a:srgbClr val="334155"/>
                </a:solidFill>
                <a:latin typeface="Calisto MT"/>
              </a:rPr>
              <a:t>Separate battery power circuits for the computer and motors to prevent electrical interference and sudden power shutdowns.</a:t>
            </a:r>
          </a:p>
        </p:txBody>
      </p:sp>
      <p:pic>
        <p:nvPicPr>
          <p:cNvPr id="6" name="Hw_Photo_Wired" descr="image.jpg"/>
          <p:cNvPicPr>
            <a:picLocks noChangeAspect="1"/>
          </p:cNvPicPr>
          <p:nvPr/>
        </p:nvPicPr>
        <p:blipFill>
          <a:blip r:embed="rId5"/>
          <a:stretch>
            <a:fillRect/>
          </a:stretch>
        </p:blipFill>
        <p:spPr>
          <a:xfrm>
            <a:off x="6492240" y="1371600"/>
            <a:ext cx="2633472" cy="2286000"/>
          </a:xfrm>
          <a:prstGeom prst="rect">
            <a:avLst/>
          </a:prstGeom>
        </p:spPr>
      </p:pic>
      <p:sp>
        <p:nvSpPr>
          <p:cNvPr id="7" name="Hw_Cap_Wired"/>
          <p:cNvSpPr txBox="1"/>
          <p:nvPr/>
        </p:nvSpPr>
        <p:spPr>
          <a:xfrm>
            <a:off x="6492240"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3.2: Internal Electronics Stack</a:t>
            </a:r>
            <a:br/>
            <a:r>
              <a:t>(Raspberry Pi 5, ESP32-S3 &amp; Motor Drivers)</a:t>
            </a:r>
          </a:p>
        </p:txBody>
      </p:sp>
      <p:pic>
        <p:nvPicPr>
          <p:cNvPr id="8" name="Hw_Photo_Assembled" descr="image.jpg"/>
          <p:cNvPicPr>
            <a:picLocks noChangeAspect="1"/>
          </p:cNvPicPr>
          <p:nvPr/>
        </p:nvPicPr>
        <p:blipFill>
          <a:blip r:embed="rId6"/>
          <a:stretch>
            <a:fillRect/>
          </a:stretch>
        </p:blipFill>
        <p:spPr>
          <a:xfrm>
            <a:off x="9308592" y="1371600"/>
            <a:ext cx="2633472" cy="2286000"/>
          </a:xfrm>
          <a:prstGeom prst="rect">
            <a:avLst/>
          </a:prstGeom>
        </p:spPr>
      </p:pic>
      <p:sp>
        <p:nvSpPr>
          <p:cNvPr id="9" name="Hw_Cap_Assembled"/>
          <p:cNvSpPr txBox="1"/>
          <p:nvPr/>
        </p:nvSpPr>
        <p:spPr>
          <a:xfrm>
            <a:off x="9308592"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3.3: Fully Enclosed Platform</a:t>
            </a:r>
            <a:br/>
            <a:r>
              <a:t>(360° MS200 LiDAR &amp; Active Gimbal)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08. VISION PERCEPTION &amp; GESTURE AI PIPELINE</a:t>
            </a:r>
          </a:p>
        </p:txBody>
      </p:sp>
      <p:sp>
        <p:nvSpPr>
          <p:cNvPr id="3" name="Content Placeholder 2"/>
          <p:cNvSpPr>
            <a:spLocks noGrp="1"/>
          </p:cNvSpPr>
          <p:nvPr>
            <p:ph idx="1"/>
          </p:nvPr>
        </p:nvSpPr>
        <p:spPr/>
        <p:txBody>
          <a:bodyPr/>
          <a:lstStyle/>
          <a:p/>
        </p:txBody>
      </p:sp>
      <p:sp>
        <p:nvSpPr>
          <p:cNvPr id="4" name="Vi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SEES HAND GESTURES, IGNORES BYSTANDERS, AND DECIDES TO MOVE</a:t>
            </a:r>
          </a:p>
        </p:txBody>
      </p:sp>
      <p:sp>
        <p:nvSpPr>
          <p:cNvPr id="5" name="Vision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Focusing on One Person: </a:t>
            </a:r>
            <a:r>
              <a:rPr sz="1100" b="0">
                <a:solidFill>
                  <a:srgbClr val="334155"/>
                </a:solidFill>
                <a:latin typeface="Calisto MT"/>
              </a:rPr>
              <a:t>The robot only listens to the person standing directly in front of it, while automatically blurring and ignoring anyone walking by in the background.</a:t>
            </a:r>
          </a:p>
          <a:p>
            <a:pPr algn="l">
              <a:lnSpc>
                <a:spcPct val="115000"/>
              </a:lnSpc>
              <a:spcAft>
                <a:spcPts val="700"/>
              </a:spcAft>
            </a:pPr>
            <a:r>
              <a:rPr sz="1100" b="1">
                <a:solidFill>
                  <a:srgbClr val="002060"/>
                </a:solidFill>
                <a:latin typeface="Calisto MT"/>
              </a:rPr>
              <a:t>• Tracking Hand Joints: </a:t>
            </a:r>
            <a:r>
              <a:rPr sz="1100" b="0">
                <a:solidFill>
                  <a:srgbClr val="334155"/>
                </a:solidFill>
                <a:latin typeface="Calisto MT"/>
              </a:rPr>
              <a:t>The camera tracks 21 points on the hand, including the wrist, knuckles, and fingertips, to capture the exact shape and motion of the fingers.</a:t>
            </a:r>
          </a:p>
          <a:p>
            <a:pPr algn="l">
              <a:lnSpc>
                <a:spcPct val="115000"/>
              </a:lnSpc>
              <a:spcAft>
                <a:spcPts val="700"/>
              </a:spcAft>
            </a:pPr>
            <a:r>
              <a:rPr sz="1100" b="1">
                <a:solidFill>
                  <a:srgbClr val="002060"/>
                </a:solidFill>
                <a:latin typeface="Calisto MT"/>
              </a:rPr>
              <a:t>• Works at Any Distance: </a:t>
            </a:r>
            <a:r>
              <a:rPr sz="1100" b="0">
                <a:solidFill>
                  <a:srgbClr val="334155"/>
                </a:solidFill>
                <a:latin typeface="Calisto MT"/>
              </a:rPr>
              <a:t>Hand measurements are automatically scaled using the palm width, so the robot recognizes gestures equally well whether you stand 1 meter or 3 meters away.</a:t>
            </a:r>
          </a:p>
          <a:p>
            <a:pPr algn="l">
              <a:lnSpc>
                <a:spcPct val="115000"/>
              </a:lnSpc>
              <a:spcAft>
                <a:spcPts val="700"/>
              </a:spcAft>
            </a:pPr>
            <a:r>
              <a:rPr sz="1100" b="1">
                <a:solidFill>
                  <a:srgbClr val="002060"/>
                </a:solidFill>
                <a:latin typeface="Calisto MT"/>
              </a:rPr>
              <a:t>• Measuring Hand Shape: </a:t>
            </a:r>
            <a:r>
              <a:rPr sz="1100" b="0">
                <a:solidFill>
                  <a:srgbClr val="334155"/>
                </a:solidFill>
                <a:latin typeface="Calisto MT"/>
              </a:rPr>
              <a:t>The robot calculates 19 simple numbers from the hand joints, measuring how much each finger curls and how wide fingers are spread apart.</a:t>
            </a:r>
          </a:p>
          <a:p>
            <a:pPr algn="l">
              <a:lnSpc>
                <a:spcPct val="115000"/>
              </a:lnSpc>
              <a:spcAft>
                <a:spcPts val="700"/>
              </a:spcAft>
            </a:pPr>
            <a:r>
              <a:rPr sz="1100" b="1">
                <a:solidFill>
                  <a:srgbClr val="002060"/>
                </a:solidFill>
                <a:latin typeface="Calisto MT"/>
              </a:rPr>
              <a:t>• Instant AI Decision: </a:t>
            </a:r>
            <a:r>
              <a:rPr sz="1100" b="0">
                <a:solidFill>
                  <a:srgbClr val="334155"/>
                </a:solidFill>
                <a:latin typeface="Calisto MT"/>
              </a:rPr>
              <a:t>A compact artificial intelligence model reads the 19 hand numbers in just 1.2 milliseconds, identifying the gesture with 99.4% accuracy.</a:t>
            </a:r>
          </a:p>
          <a:p>
            <a:pPr algn="l">
              <a:lnSpc>
                <a:spcPct val="115000"/>
              </a:lnSpc>
              <a:spcAft>
                <a:spcPts val="0"/>
              </a:spcAft>
            </a:pPr>
            <a:r>
              <a:rPr sz="1100" b="1">
                <a:solidFill>
                  <a:srgbClr val="002060"/>
                </a:solidFill>
                <a:latin typeface="Calisto MT"/>
              </a:rPr>
              <a:t>• 6 Driving Commands: </a:t>
            </a:r>
            <a:r>
              <a:rPr sz="1100" b="0">
                <a:solidFill>
                  <a:srgbClr val="334155"/>
                </a:solidFill>
                <a:latin typeface="Calisto MT"/>
              </a:rPr>
              <a:t>Matches each hand pose directly to clear robot movements: STOP (open palm), GO (pointing forward), LEFT, RIGHT, BACK, and FOLLOW.</a:t>
            </a:r>
          </a:p>
        </p:txBody>
      </p:sp>
      <p:pic>
        <p:nvPicPr>
          <p:cNvPr id="6" name="Vision_HUD_Img" descr="image.jpg"/>
          <p:cNvPicPr>
            <a:picLocks noChangeAspect="1"/>
          </p:cNvPicPr>
          <p:nvPr/>
        </p:nvPicPr>
        <p:blipFill>
          <a:blip r:embed="rId2"/>
          <a:stretch>
            <a:fillRect/>
          </a:stretch>
        </p:blipFill>
        <p:spPr>
          <a:xfrm>
            <a:off x="6355080" y="1261872"/>
            <a:ext cx="3017520" cy="2267712"/>
          </a:xfrm>
          <a:prstGeom prst="rect">
            <a:avLst/>
          </a:prstGeom>
        </p:spPr>
      </p:pic>
      <p:sp>
        <p:nvSpPr>
          <p:cNvPr id="7" name="Vision_HUD_Cap"/>
          <p:cNvSpPr txBox="1"/>
          <p:nvPr/>
        </p:nvSpPr>
        <p:spPr>
          <a:xfrm>
            <a:off x="6355080" y="3566160"/>
            <a:ext cx="30175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3.4: Camera View Locking on User &amp; Blurring Bystanders</a:t>
            </a:r>
          </a:p>
        </p:txBody>
      </p:sp>
      <p:pic>
        <p:nvPicPr>
          <p:cNvPr id="8" name="Vision_Hand_Img" descr="image.jpg"/>
          <p:cNvPicPr>
            <a:picLocks noChangeAspect="1"/>
          </p:cNvPicPr>
          <p:nvPr/>
        </p:nvPicPr>
        <p:blipFill>
          <a:blip r:embed="rId3"/>
          <a:stretch>
            <a:fillRect/>
          </a:stretch>
        </p:blipFill>
        <p:spPr>
          <a:xfrm>
            <a:off x="9555480" y="1261872"/>
            <a:ext cx="1965960" cy="3749039"/>
          </a:xfrm>
          <a:prstGeom prst="rect">
            <a:avLst/>
          </a:prstGeom>
        </p:spPr>
      </p:pic>
      <p:sp>
        <p:nvSpPr>
          <p:cNvPr id="9" name="Vision_Hand_Cap"/>
          <p:cNvSpPr txBox="1"/>
          <p:nvPr/>
        </p:nvSpPr>
        <p:spPr>
          <a:xfrm>
            <a:off x="9555480" y="5047488"/>
            <a:ext cx="1965960" cy="36576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3.5: 21 Tracked Hand Points</a:t>
            </a:r>
          </a:p>
        </p:txBody>
      </p:sp>
      <p:sp>
        <p:nvSpPr>
          <p:cNvPr id="10" name="Vision_Vocab_Text"/>
          <p:cNvSpPr txBox="1"/>
          <p:nvPr/>
        </p:nvSpPr>
        <p:spPr>
          <a:xfrm>
            <a:off x="6355080" y="3977639"/>
            <a:ext cx="3108960" cy="15087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GESTURE VOCABULARY &amp; AI SPEED:</a:t>
            </a:r>
          </a:p>
          <a:p>
            <a:pPr algn="l">
              <a:lnSpc>
                <a:spcPct val="112000"/>
              </a:lnSpc>
              <a:spcAft>
                <a:spcPts val="200"/>
              </a:spcAft>
            </a:pPr>
            <a:r>
              <a:rPr sz="900" b="1">
                <a:solidFill>
                  <a:srgbClr val="002060"/>
                </a:solidFill>
                <a:latin typeface="Calisto MT"/>
              </a:rPr>
              <a:t>• 6 Commands: </a:t>
            </a:r>
            <a:r>
              <a:rPr sz="900" b="0">
                <a:solidFill>
                  <a:srgbClr val="334155"/>
                </a:solidFill>
                <a:latin typeface="Calisto MT"/>
              </a:rPr>
              <a:t>STOP, GO, LEFT, RIGHT, BACK, FOLLOW</a:t>
            </a:r>
          </a:p>
          <a:p>
            <a:pPr algn="l">
              <a:lnSpc>
                <a:spcPct val="112000"/>
              </a:lnSpc>
              <a:spcAft>
                <a:spcPts val="200"/>
              </a:spcAft>
            </a:pPr>
            <a:r>
              <a:rPr sz="900" b="1">
                <a:solidFill>
                  <a:srgbClr val="002060"/>
                </a:solidFill>
                <a:latin typeface="Calisto MT"/>
              </a:rPr>
              <a:t>• Fast Reaction: </a:t>
            </a:r>
            <a:r>
              <a:rPr sz="900" b="0">
                <a:solidFill>
                  <a:srgbClr val="334155"/>
                </a:solidFill>
                <a:latin typeface="Calisto MT"/>
              </a:rPr>
              <a:t>Decides in 1.2 milliseconds (faster than a blink)</a:t>
            </a:r>
          </a:p>
          <a:p>
            <a:pPr algn="l">
              <a:lnSpc>
                <a:spcPct val="112000"/>
              </a:lnSpc>
              <a:spcAft>
                <a:spcPts val="0"/>
              </a:spcAft>
            </a:pPr>
            <a:r>
              <a:rPr sz="900" b="1">
                <a:solidFill>
                  <a:srgbClr val="002060"/>
                </a:solidFill>
                <a:latin typeface="Calisto MT"/>
              </a:rPr>
              <a:t>• High Accuracy: </a:t>
            </a:r>
            <a:r>
              <a:rPr sz="900" b="0">
                <a:solidFill>
                  <a:srgbClr val="334155"/>
                </a:solidFill>
                <a:latin typeface="Calisto MT"/>
              </a:rPr>
              <a:t>99.4% correct across 6,000 test trials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09. HUMAN MOTION PREDICTION &amp; SUPERVISORY CONTROL</a:t>
            </a:r>
          </a:p>
        </p:txBody>
      </p:sp>
      <p:sp>
        <p:nvSpPr>
          <p:cNvPr id="3" name="Content Placeholder 2"/>
          <p:cNvSpPr>
            <a:spLocks noGrp="1"/>
          </p:cNvSpPr>
          <p:nvPr>
            <p:ph idx="1"/>
          </p:nvPr>
        </p:nvSpPr>
        <p:spPr/>
        <p:txBody>
          <a:bodyPr/>
          <a:lstStyle/>
          <a:p/>
        </p:txBody>
      </p:sp>
      <p:sp>
        <p:nvSpPr>
          <p:cNvPr id="4" name="Control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ANTICIPATES USER PATHS, TRACKS WITH ITS CAMERA, AND STAYS SAFE</a:t>
            </a:r>
          </a:p>
        </p:txBody>
      </p:sp>
      <p:sp>
        <p:nvSpPr>
          <p:cNvPr id="5" name="Control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Anticipating User Steps: </a:t>
            </a:r>
            <a:r>
              <a:rPr sz="1100" b="0">
                <a:solidFill>
                  <a:srgbClr val="334155"/>
                </a:solidFill>
                <a:latin typeface="Calisto MT"/>
              </a:rPr>
              <a:t>The robot tracks the person's walking path over the past 1 second (30 camera frames) and uses an AI model to predict where they will step 0.5 seconds ahead, preventing jerky turns or delayed following.</a:t>
            </a:r>
          </a:p>
          <a:p>
            <a:pPr algn="l">
              <a:lnSpc>
                <a:spcPct val="115000"/>
              </a:lnSpc>
              <a:spcAft>
                <a:spcPts val="700"/>
              </a:spcAft>
            </a:pPr>
            <a:r>
              <a:rPr sz="1100" b="1">
                <a:solidFill>
                  <a:srgbClr val="002060"/>
                </a:solidFill>
                <a:latin typeface="Calisto MT"/>
              </a:rPr>
              <a:t>• Motorized Camera Tracking: </a:t>
            </a:r>
            <a:r>
              <a:rPr sz="1100" b="0">
                <a:solidFill>
                  <a:srgbClr val="334155"/>
                </a:solidFill>
                <a:latin typeface="Calisto MT"/>
              </a:rPr>
              <a:t>A 2-axis motorized camera head pans left/right and tilts up/down automatically, keeping the interacting person centered in view even while the robot chassis is turning or braking.</a:t>
            </a:r>
          </a:p>
          <a:p>
            <a:pPr algn="l">
              <a:lnSpc>
                <a:spcPct val="115000"/>
              </a:lnSpc>
              <a:spcAft>
                <a:spcPts val="700"/>
              </a:spcAft>
            </a:pPr>
            <a:r>
              <a:rPr sz="1100" b="1">
                <a:solidFill>
                  <a:srgbClr val="002060"/>
                </a:solidFill>
                <a:latin typeface="Calisto MT"/>
              </a:rPr>
              <a:t>• Central Software Brain: </a:t>
            </a:r>
            <a:r>
              <a:rPr sz="1100" b="0">
                <a:solidFill>
                  <a:srgbClr val="334155"/>
                </a:solidFill>
                <a:latin typeface="Calisto MT"/>
              </a:rPr>
              <a:t>A master controller (brain_node) coordinates all actions through distinct operational stages: Standing By, Confirming Command, Driving, Following User, and Safety Stop.</a:t>
            </a:r>
          </a:p>
          <a:p>
            <a:pPr algn="l">
              <a:lnSpc>
                <a:spcPct val="115000"/>
              </a:lnSpc>
              <a:spcAft>
                <a:spcPts val="700"/>
              </a:spcAft>
            </a:pPr>
            <a:r>
              <a:rPr sz="1100" b="1">
                <a:solidFill>
                  <a:srgbClr val="002060"/>
                </a:solidFill>
                <a:latin typeface="Calisto MT"/>
              </a:rPr>
              <a:t>• Preventing Accidental Starts: </a:t>
            </a:r>
            <a:r>
              <a:rPr sz="1100" b="0">
                <a:solidFill>
                  <a:srgbClr val="334155"/>
                </a:solidFill>
                <a:latin typeface="Calisto MT"/>
              </a:rPr>
              <a:t>To stop accidental hand waves or brief gestures from moving the robot, every command must be held consistently for at least 5 camera frames before motors turn.</a:t>
            </a:r>
          </a:p>
          <a:p>
            <a:pPr algn="l">
              <a:lnSpc>
                <a:spcPct val="115000"/>
              </a:lnSpc>
              <a:spcAft>
                <a:spcPts val="700"/>
              </a:spcAft>
            </a:pPr>
            <a:r>
              <a:rPr sz="1100" b="1">
                <a:solidFill>
                  <a:srgbClr val="002060"/>
                </a:solidFill>
                <a:latin typeface="Calisto MT"/>
              </a:rPr>
              <a:t>• Safe Distance Buffer: </a:t>
            </a:r>
            <a:r>
              <a:rPr sz="1100" b="0">
                <a:solidFill>
                  <a:srgbClr val="334155"/>
                </a:solidFill>
                <a:latin typeface="Calisto MT"/>
              </a:rPr>
              <a:t>When following a walking user, the robot automatically stays between 0.8 and 1.5 meters away; if the person stops or steps closer than 0.8 meters, it halts immediately.</a:t>
            </a:r>
          </a:p>
          <a:p>
            <a:pPr algn="l">
              <a:lnSpc>
                <a:spcPct val="115000"/>
              </a:lnSpc>
              <a:spcAft>
                <a:spcPts val="0"/>
              </a:spcAft>
            </a:pPr>
            <a:r>
              <a:rPr sz="1100" b="1">
                <a:solidFill>
                  <a:srgbClr val="002060"/>
                </a:solidFill>
                <a:latin typeface="Calisto MT"/>
              </a:rPr>
              <a:t>• Instant Laser Safety Override: </a:t>
            </a:r>
            <a:r>
              <a:rPr sz="1100" b="0">
                <a:solidFill>
                  <a:srgbClr val="334155"/>
                </a:solidFill>
                <a:latin typeface="Calisto MT"/>
              </a:rPr>
              <a:t>The 360° laser distance sensor constantly scans the surroundings; if an obstacle or person enters within 0.36 meters, motor power cuts in 5 milliseconds, overriding all AI.</a:t>
            </a:r>
          </a:p>
        </p:txBody>
      </p:sp>
      <p:pic>
        <p:nvPicPr>
          <p:cNvPr id="6" name="Control_LSTM_Img" descr="lstm_path_prediction_clean.png"/>
          <p:cNvPicPr>
            <a:picLocks noChangeAspect="1"/>
          </p:cNvPicPr>
          <p:nvPr/>
        </p:nvPicPr>
        <p:blipFill>
          <a:blip r:embed="rId2"/>
          <a:stretch>
            <a:fillRect/>
          </a:stretch>
        </p:blipFill>
        <p:spPr>
          <a:xfrm>
            <a:off x="6355080" y="1261872"/>
            <a:ext cx="5029200" cy="1874519"/>
          </a:xfrm>
          <a:prstGeom prst="rect">
            <a:avLst/>
          </a:prstGeom>
        </p:spPr>
      </p:pic>
      <p:sp>
        <p:nvSpPr>
          <p:cNvPr id="7" name="Control_LSTM_Cap"/>
          <p:cNvSpPr txBox="1"/>
          <p:nvPr/>
        </p:nvSpPr>
        <p:spPr>
          <a:xfrm>
            <a:off x="6355080" y="3163824"/>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3.6: AI Human Motion Prediction (Blue = Past 1.0s Walk, Green = Actual Steps, Red = AI Forecast)</a:t>
            </a:r>
          </a:p>
        </p:txBody>
      </p:sp>
      <p:pic>
        <p:nvPicPr>
          <p:cNvPr id="8" name="Control_Gimbal_Img" descr="camera_gimbal_framed.jpg"/>
          <p:cNvPicPr>
            <a:picLocks noChangeAspect="1"/>
          </p:cNvPicPr>
          <p:nvPr/>
        </p:nvPicPr>
        <p:blipFill>
          <a:blip r:embed="rId3"/>
          <a:stretch>
            <a:fillRect/>
          </a:stretch>
        </p:blipFill>
        <p:spPr>
          <a:xfrm>
            <a:off x="6355080" y="3493008"/>
            <a:ext cx="2103120" cy="1600200"/>
          </a:xfrm>
          <a:prstGeom prst="rect">
            <a:avLst/>
          </a:prstGeom>
        </p:spPr>
      </p:pic>
      <p:sp>
        <p:nvSpPr>
          <p:cNvPr id="9" name="Control_Gimbal_Cap"/>
          <p:cNvSpPr txBox="1"/>
          <p:nvPr/>
        </p:nvSpPr>
        <p:spPr>
          <a:xfrm>
            <a:off x="6355080" y="5120640"/>
            <a:ext cx="21031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3.7: 2-Axis Motorized Camera Head</a:t>
            </a:r>
          </a:p>
        </p:txBody>
      </p:sp>
      <p:sp>
        <p:nvSpPr>
          <p:cNvPr id="10" name="Control_Safety_Text"/>
          <p:cNvSpPr txBox="1"/>
          <p:nvPr/>
        </p:nvSpPr>
        <p:spPr>
          <a:xfrm>
            <a:off x="8641080" y="3493008"/>
            <a:ext cx="2743200" cy="19659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SUPERVISORY SAFETY INTERLOCKS:</a:t>
            </a:r>
          </a:p>
          <a:p>
            <a:pPr algn="l">
              <a:lnSpc>
                <a:spcPct val="112000"/>
              </a:lnSpc>
              <a:spcAft>
                <a:spcPts val="250"/>
              </a:spcAft>
            </a:pPr>
            <a:r>
              <a:rPr sz="880" b="1">
                <a:solidFill>
                  <a:srgbClr val="002060"/>
                </a:solidFill>
                <a:latin typeface="Calisto MT"/>
              </a:rPr>
              <a:t>• 4 Safe Modes: </a:t>
            </a:r>
            <a:r>
              <a:rPr sz="880" b="0">
                <a:solidFill>
                  <a:srgbClr val="334155"/>
                </a:solidFill>
                <a:latin typeface="Calisto MT"/>
              </a:rPr>
              <a:t>Standby → Confirming → Driving → Safety Halt</a:t>
            </a:r>
          </a:p>
          <a:p>
            <a:pPr algn="l">
              <a:lnSpc>
                <a:spcPct val="112000"/>
              </a:lnSpc>
              <a:spcAft>
                <a:spcPts val="250"/>
              </a:spcAft>
            </a:pPr>
            <a:r>
              <a:rPr sz="880" b="1">
                <a:solidFill>
                  <a:srgbClr val="002060"/>
                </a:solidFill>
                <a:latin typeface="Calisto MT"/>
              </a:rPr>
              <a:t>• 5-Frame Filter: </a:t>
            </a:r>
            <a:r>
              <a:rPr sz="880" b="0">
                <a:solidFill>
                  <a:srgbClr val="334155"/>
                </a:solidFill>
                <a:latin typeface="Calisto MT"/>
              </a:rPr>
              <a:t>Requires 5 matching frames to stop accidental wave triggers</a:t>
            </a:r>
          </a:p>
          <a:p>
            <a:pPr algn="l">
              <a:lnSpc>
                <a:spcPct val="112000"/>
              </a:lnSpc>
              <a:spcAft>
                <a:spcPts val="250"/>
              </a:spcAft>
            </a:pPr>
            <a:r>
              <a:rPr sz="880" b="1">
                <a:solidFill>
                  <a:srgbClr val="002060"/>
                </a:solidFill>
                <a:latin typeface="Calisto MT"/>
              </a:rPr>
              <a:t>• Safe Gap (0.8m): </a:t>
            </a:r>
            <a:r>
              <a:rPr sz="880" b="0">
                <a:solidFill>
                  <a:srgbClr val="334155"/>
                </a:solidFill>
                <a:latin typeface="Calisto MT"/>
              </a:rPr>
              <a:t>Stops immediately if user approaches closer than 0.8 meters</a:t>
            </a:r>
          </a:p>
          <a:p>
            <a:pPr algn="l">
              <a:lnSpc>
                <a:spcPct val="112000"/>
              </a:lnSpc>
              <a:spcAft>
                <a:spcPts val="0"/>
              </a:spcAft>
            </a:pPr>
            <a:r>
              <a:rPr sz="880" b="1">
                <a:solidFill>
                  <a:srgbClr val="002060"/>
                </a:solidFill>
                <a:latin typeface="Calisto MT"/>
              </a:rPr>
              <a:t>• Instant E-Stop: </a:t>
            </a:r>
            <a:r>
              <a:rPr sz="880" b="0">
                <a:solidFill>
                  <a:srgbClr val="334155"/>
                </a:solidFill>
                <a:latin typeface="Calisto MT"/>
              </a:rPr>
              <a:t>Laser barrier (&lt; 0.36m) cuts motor power within 5 milliseconds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10. METRIC SLAM &amp; NAV2 AUTONOMOUS NAVIGATION</a:t>
            </a:r>
          </a:p>
        </p:txBody>
      </p:sp>
      <p:sp>
        <p:nvSpPr>
          <p:cNvPr id="3" name="Content Placeholder 2"/>
          <p:cNvSpPr>
            <a:spLocks noGrp="1"/>
          </p:cNvSpPr>
          <p:nvPr>
            <p:ph idx="1"/>
          </p:nvPr>
        </p:nvSpPr>
        <p:spPr/>
        <p:txBody>
          <a:bodyPr/>
          <a:lstStyle/>
          <a:p/>
        </p:txBody>
      </p:sp>
      <p:sp>
        <p:nvSpPr>
          <p:cNvPr id="4" name="Nav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MAPS INDOOR ROOMS, FIXES SENSOR DRIFT, AND PATROLS AUTONOMOUSLY</a:t>
            </a:r>
          </a:p>
        </p:txBody>
      </p:sp>
      <p:sp>
        <p:nvSpPr>
          <p:cNvPr id="5" name="Nav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Laser Room Mapping: </a:t>
            </a:r>
            <a:r>
              <a:rPr sz="1100" b="0">
                <a:solidFill>
                  <a:srgbClr val="334155"/>
                </a:solidFill>
                <a:latin typeface="Calisto MT"/>
              </a:rPr>
              <a:t>As the robot is steered through the room, its 360° laser distance sensor fires 12.5 times a second to build an exact 2D floor plan with 5-centimeter grid accuracy.</a:t>
            </a:r>
          </a:p>
          <a:p>
            <a:pPr algn="l">
              <a:lnSpc>
                <a:spcPct val="115000"/>
              </a:lnSpc>
              <a:spcAft>
                <a:spcPts val="700"/>
              </a:spcAft>
            </a:pPr>
            <a:r>
              <a:rPr sz="1100" b="1">
                <a:solidFill>
                  <a:srgbClr val="002060"/>
                </a:solidFill>
                <a:latin typeface="Calisto MT"/>
              </a:rPr>
              <a:t>• Resolving Signal Conflicts: </a:t>
            </a:r>
            <a:r>
              <a:rPr sz="1100" b="0">
                <a:solidFill>
                  <a:srgbClr val="334155"/>
                </a:solidFill>
                <a:latin typeface="Calisto MT"/>
              </a:rPr>
              <a:t>Early mapping tests dropped laser scans because two internal programs reported starting locations at once. Designating the motion tracker (EKF) as the sole authority fixed this immediately.</a:t>
            </a:r>
          </a:p>
          <a:p>
            <a:pPr algn="l">
              <a:lnSpc>
                <a:spcPct val="115000"/>
              </a:lnSpc>
              <a:spcAft>
                <a:spcPts val="700"/>
              </a:spcAft>
            </a:pPr>
            <a:r>
              <a:rPr sz="1100" b="1">
                <a:solidFill>
                  <a:srgbClr val="002060"/>
                </a:solidFill>
                <a:latin typeface="Calisto MT"/>
              </a:rPr>
              <a:t>• Fixing Cornering Drift: </a:t>
            </a:r>
            <a:r>
              <a:rPr sz="1100" b="0">
                <a:solidFill>
                  <a:srgbClr val="334155"/>
                </a:solidFill>
                <a:latin typeface="Calisto MT"/>
              </a:rPr>
              <a:t>During turns, early maps twisted into distorted hourglass shapes because the compass drifted. Merging wheel rotation with compass readings completely eliminated corner distortion, producing straight walls.</a:t>
            </a:r>
          </a:p>
          <a:p>
            <a:pPr algn="l">
              <a:lnSpc>
                <a:spcPct val="115000"/>
              </a:lnSpc>
              <a:spcAft>
                <a:spcPts val="700"/>
              </a:spcAft>
            </a:pPr>
            <a:r>
              <a:rPr sz="1100" b="1">
                <a:solidFill>
                  <a:srgbClr val="002060"/>
                </a:solidFill>
                <a:latin typeface="Calisto MT"/>
              </a:rPr>
              <a:t>• Self-Localization (AMCL): </a:t>
            </a:r>
            <a:r>
              <a:rPr sz="1100" b="0">
                <a:solidFill>
                  <a:srgbClr val="334155"/>
                </a:solidFill>
                <a:latin typeface="Calisto MT"/>
              </a:rPr>
              <a:t>Once the map is saved, the robot constantly compares live laser scans against the map to know its exact physical coordinates (X, Y, and heading angle) within centimeters.</a:t>
            </a:r>
          </a:p>
          <a:p>
            <a:pPr algn="l">
              <a:lnSpc>
                <a:spcPct val="115000"/>
              </a:lnSpc>
              <a:spcAft>
                <a:spcPts val="700"/>
              </a:spcAft>
            </a:pPr>
            <a:r>
              <a:rPr sz="1100" b="1">
                <a:solidFill>
                  <a:srgbClr val="002060"/>
                </a:solidFill>
                <a:latin typeface="Calisto MT"/>
              </a:rPr>
              <a:t>• Safety Padding Costmaps: </a:t>
            </a:r>
            <a:r>
              <a:rPr sz="1100" b="0">
                <a:solidFill>
                  <a:srgbClr val="334155"/>
                </a:solidFill>
                <a:latin typeface="Calisto MT"/>
              </a:rPr>
              <a:t>The navigation software automatically inflates a safety padding cushion around all walls and furniture, preventing the robot from cutting corners too close or bumping table legs.</a:t>
            </a:r>
          </a:p>
          <a:p>
            <a:pPr algn="l">
              <a:lnSpc>
                <a:spcPct val="115000"/>
              </a:lnSpc>
              <a:spcAft>
                <a:spcPts val="0"/>
              </a:spcAft>
            </a:pPr>
            <a:r>
              <a:rPr sz="1100" b="1">
                <a:solidFill>
                  <a:srgbClr val="002060"/>
                </a:solidFill>
                <a:latin typeface="Calisto MT"/>
              </a:rPr>
              <a:t>• Multi-Waypoint Autonomous Patrol: </a:t>
            </a:r>
            <a:r>
              <a:rPr sz="1100" b="0">
                <a:solidFill>
                  <a:srgbClr val="334155"/>
                </a:solidFill>
                <a:latin typeface="Calisto MT"/>
              </a:rPr>
              <a:t>Given a sequence of room destinations (Dock → Central Hub → North Corner → East Post), the robot navigates smoothly across 160 seconds, achieving an average tracking accuracy of 15.5 cm.</a:t>
            </a:r>
          </a:p>
        </p:txBody>
      </p:sp>
      <p:sp>
        <p:nvSpPr>
          <p:cNvPr id="6" name="Nav_Drift_Label"/>
          <p:cNvSpPr txBox="1"/>
          <p:nvPr/>
        </p:nvSpPr>
        <p:spPr>
          <a:xfrm>
            <a:off x="635508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64748B"/>
                </a:solidFill>
                <a:latin typeface="Calisto MT"/>
              </a:defRPr>
            </a:pPr>
            <a:r>
              <a:t>(a) Initial: 45° Corner Drift Defect</a:t>
            </a:r>
          </a:p>
        </p:txBody>
      </p:sp>
      <p:sp>
        <p:nvSpPr>
          <p:cNvPr id="7" name="Nav_Clean_Label"/>
          <p:cNvSpPr txBox="1"/>
          <p:nvPr/>
        </p:nvSpPr>
        <p:spPr>
          <a:xfrm>
            <a:off x="891540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002060"/>
                </a:solidFill>
                <a:latin typeface="Calisto MT"/>
              </a:defRPr>
            </a:pPr>
            <a:r>
              <a:t>(b) Final: Clean Metric Map</a:t>
            </a:r>
          </a:p>
        </p:txBody>
      </p:sp>
      <p:pic>
        <p:nvPicPr>
          <p:cNvPr id="8" name="Nav_Drift_Img" descr="image.png"/>
          <p:cNvPicPr>
            <a:picLocks noChangeAspect="1"/>
          </p:cNvPicPr>
          <p:nvPr/>
        </p:nvPicPr>
        <p:blipFill>
          <a:blip r:embed="rId2"/>
          <a:stretch>
            <a:fillRect/>
          </a:stretch>
        </p:blipFill>
        <p:spPr>
          <a:xfrm>
            <a:off x="6355080" y="1481328"/>
            <a:ext cx="2423160" cy="1417320"/>
          </a:xfrm>
          <a:prstGeom prst="rect">
            <a:avLst/>
          </a:prstGeom>
        </p:spPr>
      </p:pic>
      <p:pic>
        <p:nvPicPr>
          <p:cNvPr id="9" name="Nav_Clean_Img" descr="image.png"/>
          <p:cNvPicPr>
            <a:picLocks noChangeAspect="1"/>
          </p:cNvPicPr>
          <p:nvPr/>
        </p:nvPicPr>
        <p:blipFill>
          <a:blip r:embed="rId3"/>
          <a:stretch>
            <a:fillRect/>
          </a:stretch>
        </p:blipFill>
        <p:spPr>
          <a:xfrm>
            <a:off x="8915400" y="1481328"/>
            <a:ext cx="2423160" cy="1417320"/>
          </a:xfrm>
          <a:prstGeom prst="rect">
            <a:avLst/>
          </a:prstGeom>
        </p:spPr>
      </p:pic>
      <p:sp>
        <p:nvSpPr>
          <p:cNvPr id="10" name="Nav_SLAM_Cap"/>
          <p:cNvSpPr txBox="1"/>
          <p:nvPr/>
        </p:nvSpPr>
        <p:spPr>
          <a:xfrm>
            <a:off x="6355080" y="2971800"/>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3.8: Physical SLAM Calibration — Correcting Yaw Drift via Wheel Odometry Fusion</a:t>
            </a:r>
          </a:p>
        </p:txBody>
      </p:sp>
      <p:pic>
        <p:nvPicPr>
          <p:cNvPr id="11" name="Nav_Patrol_Img" descr="waypoint_patrol_clean.png"/>
          <p:cNvPicPr>
            <a:picLocks noChangeAspect="1"/>
          </p:cNvPicPr>
          <p:nvPr/>
        </p:nvPicPr>
        <p:blipFill>
          <a:blip r:embed="rId5"/>
          <a:stretch>
            <a:fillRect/>
          </a:stretch>
        </p:blipFill>
        <p:spPr>
          <a:xfrm>
            <a:off x="6355080" y="3337560"/>
            <a:ext cx="1600200" cy="1965960"/>
          </a:xfrm>
          <a:prstGeom prst="rect">
            <a:avLst/>
          </a:prstGeom>
        </p:spPr>
      </p:pic>
      <p:sp>
        <p:nvSpPr>
          <p:cNvPr id="12" name="Nav_Patrol_Cap"/>
          <p:cNvSpPr txBox="1"/>
          <p:nvPr/>
        </p:nvSpPr>
        <p:spPr>
          <a:xfrm>
            <a:off x="6355080" y="5321808"/>
            <a:ext cx="1600200" cy="237744"/>
          </a:xfrm>
          <a:prstGeom prst="rect">
            <a:avLst/>
          </a:prstGeom>
          <a:noFill/>
        </p:spPr>
        <p:txBody>
          <a:bodyPr wrap="square" lIns="0" rIns="0" tIns="0" bIns="0">
            <a:spAutoFit/>
          </a:bodyPr>
          <a:lstStyle/>
          <a:p>
            <a:pPr algn="ctr">
              <a:lnSpc>
                <a:spcPct val="114000"/>
              </a:lnSpc>
              <a:spcBef>
                <a:spcPts val="0"/>
              </a:spcBef>
              <a:spcAft>
                <a:spcPts val="200"/>
              </a:spcAft>
              <a:defRPr sz="800" b="0" i="1">
                <a:solidFill>
                  <a:srgbClr val="64748B"/>
                </a:solidFill>
                <a:latin typeface="Calisto MT"/>
              </a:defRPr>
            </a:pPr>
            <a:r>
              <a:t>Figure 3.9: 4-Waypoint Patrol</a:t>
            </a:r>
          </a:p>
        </p:txBody>
      </p:sp>
      <p:sp>
        <p:nvSpPr>
          <p:cNvPr id="13" name="Nav_Perf_Text"/>
          <p:cNvSpPr txBox="1"/>
          <p:nvPr/>
        </p:nvSpPr>
        <p:spPr>
          <a:xfrm>
            <a:off x="8138160" y="3337560"/>
            <a:ext cx="3246120" cy="2057400"/>
          </a:xfrm>
          <a:prstGeom prst="rect">
            <a:avLst/>
          </a:prstGeom>
          <a:noFill/>
        </p:spPr>
        <p:txBody>
          <a:bodyPr wrap="square" lIns="0" rIns="0" tIns="0" bIns="0">
            <a:spAutoFit/>
          </a:bodyPr>
          <a:lstStyle/>
          <a:p>
            <a:pPr algn="l">
              <a:lnSpc>
                <a:spcPct val="114000"/>
              </a:lnSpc>
              <a:spcBef>
                <a:spcPts val="0"/>
              </a:spcBef>
              <a:spcAft>
                <a:spcPts val="400"/>
              </a:spcAft>
              <a:defRPr sz="950" b="1" i="0">
                <a:solidFill>
                  <a:srgbClr val="B8860B"/>
                </a:solidFill>
                <a:latin typeface="Calisto MT"/>
              </a:defRPr>
            </a:pPr>
            <a:r>
              <a:t>AUTONOMOUS PATROL PERFORMANCE:</a:t>
            </a:r>
          </a:p>
          <a:p>
            <a:pPr algn="l">
              <a:lnSpc>
                <a:spcPct val="112000"/>
              </a:lnSpc>
              <a:spcAft>
                <a:spcPts val="250"/>
              </a:spcAft>
            </a:pPr>
            <a:r>
              <a:rPr sz="880" b="1">
                <a:solidFill>
                  <a:srgbClr val="002060"/>
                </a:solidFill>
                <a:latin typeface="Calisto MT"/>
              </a:rPr>
              <a:t>• Map Resolution: </a:t>
            </a:r>
            <a:r>
              <a:rPr sz="880" b="0">
                <a:solidFill>
                  <a:srgbClr val="334155"/>
                </a:solidFill>
                <a:latin typeface="Calisto MT"/>
              </a:rPr>
              <a:t>5 cm per grid cell for fine obstacle details</a:t>
            </a:r>
          </a:p>
          <a:p>
            <a:pPr algn="l">
              <a:lnSpc>
                <a:spcPct val="112000"/>
              </a:lnSpc>
              <a:spcAft>
                <a:spcPts val="250"/>
              </a:spcAft>
            </a:pPr>
            <a:r>
              <a:rPr sz="880" b="1">
                <a:solidFill>
                  <a:srgbClr val="002060"/>
                </a:solidFill>
                <a:latin typeface="Calisto MT"/>
              </a:rPr>
              <a:t>• Path Accuracy: </a:t>
            </a:r>
            <a:r>
              <a:rPr sz="880" b="0">
                <a:solidFill>
                  <a:srgbClr val="334155"/>
                </a:solidFill>
                <a:latin typeface="Calisto MT"/>
              </a:rPr>
              <a:t>15.5 cm average tracking error across 160s run</a:t>
            </a:r>
          </a:p>
          <a:p>
            <a:pPr algn="l">
              <a:lnSpc>
                <a:spcPct val="112000"/>
              </a:lnSpc>
              <a:spcAft>
                <a:spcPts val="250"/>
              </a:spcAft>
            </a:pPr>
            <a:r>
              <a:rPr sz="880" b="1">
                <a:solidFill>
                  <a:srgbClr val="002060"/>
                </a:solidFill>
                <a:latin typeface="Calisto MT"/>
              </a:rPr>
              <a:t>• Safe Velocity: </a:t>
            </a:r>
            <a:r>
              <a:rPr sz="880" b="0">
                <a:solidFill>
                  <a:srgbClr val="334155"/>
                </a:solidFill>
                <a:latin typeface="Calisto MT"/>
              </a:rPr>
              <a:t>Speed capped smoothly at 0.25 m/s for lab safety</a:t>
            </a:r>
          </a:p>
          <a:p>
            <a:pPr algn="l">
              <a:lnSpc>
                <a:spcPct val="112000"/>
              </a:lnSpc>
              <a:spcAft>
                <a:spcPts val="250"/>
              </a:spcAft>
            </a:pPr>
            <a:r>
              <a:rPr sz="880" b="1">
                <a:solidFill>
                  <a:srgbClr val="002060"/>
                </a:solidFill>
                <a:latin typeface="Calisto MT"/>
              </a:rPr>
              <a:t>• Goal Verification: </a:t>
            </a:r>
            <a:r>
              <a:rPr sz="880" b="0">
                <a:solidFill>
                  <a:srgbClr val="334155"/>
                </a:solidFill>
                <a:latin typeface="Calisto MT"/>
              </a:rPr>
              <a:t>4 / 4 physical destinations reached (Dock → Hub → Corner → Post)</a:t>
            </a:r>
          </a:p>
          <a:p>
            <a:pPr algn="l">
              <a:lnSpc>
                <a:spcPct val="112000"/>
              </a:lnSpc>
              <a:spcAft>
                <a:spcPts val="0"/>
              </a:spcAft>
            </a:pPr>
            <a:r>
              <a:rPr sz="880" b="1">
                <a:solidFill>
                  <a:srgbClr val="002060"/>
                </a:solidFill>
                <a:latin typeface="Calisto MT"/>
              </a:rPr>
              <a:t>• Obstacle Buffer: </a:t>
            </a:r>
            <a:r>
              <a:rPr sz="880" b="0">
                <a:solidFill>
                  <a:srgbClr val="334155"/>
                </a:solidFill>
                <a:latin typeface="Calisto MT"/>
              </a:rPr>
              <a:t>Safety inflation maintains &gt;0.30 m clearance from walls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11. TESTING &amp; RESULTS: SYSTEM LATENCY &amp; ACCURACY</a:t>
            </a:r>
          </a:p>
        </p:txBody>
      </p:sp>
      <p:sp>
        <p:nvSpPr>
          <p:cNvPr id="3" name="Content Placeholder 2"/>
          <p:cNvSpPr>
            <a:spLocks noGrp="1"/>
          </p:cNvSpPr>
          <p:nvPr>
            <p:ph idx="1"/>
          </p:nvPr>
        </p:nvSpPr>
        <p:spPr/>
        <p:txBody>
          <a:bodyPr/>
          <a:lstStyle/>
          <a:p/>
        </p:txBody>
      </p:sp>
      <p:sp>
        <p:nvSpPr>
          <p:cNvPr id="4" name="Latency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REAL-TIME RESPONSE SPEED, GESTURE ACCURACY, AND MULTI-CONDITION RELIABILITY</a:t>
            </a:r>
          </a:p>
        </p:txBody>
      </p:sp>
      <p:sp>
        <p:nvSpPr>
          <p:cNvPr id="5" name="Latency_Points_Text"/>
          <p:cNvSpPr txBox="1"/>
          <p:nvPr/>
        </p:nvSpPr>
        <p:spPr>
          <a:xfrm>
            <a:off x="777240" y="1261872"/>
            <a:ext cx="5349240" cy="4114800"/>
          </a:xfrm>
          <a:prstGeom prst="rect">
            <a:avLst/>
          </a:prstGeom>
          <a:noFill/>
        </p:spPr>
        <p:txBody>
          <a:bodyPr wrap="square" lIns="18288" rIns="18288" tIns="18288" bIns="18288">
            <a:spAutoFit/>
          </a:bodyPr>
          <a:lstStyle/>
          <a:p>
            <a:pPr algn="l">
              <a:lnSpc>
                <a:spcPct val="115000"/>
              </a:lnSpc>
              <a:spcAft>
                <a:spcPts val="1000"/>
              </a:spcAft>
            </a:pPr>
            <a:r>
              <a:rPr sz="1100" b="1">
                <a:solidFill>
                  <a:srgbClr val="002060"/>
                </a:solidFill>
                <a:latin typeface="Calisto MT"/>
              </a:rPr>
              <a:t>• 132 ms Total Response Time: </a:t>
            </a:r>
            <a:r>
              <a:rPr sz="1100" b="0">
                <a:solidFill>
                  <a:srgbClr val="334155"/>
                </a:solidFill>
                <a:latin typeface="Calisto MT"/>
              </a:rPr>
              <a:t>From the camera seeing a hand gesture to the wheels turning takes only 132 milliseconds—twice as fast as an eye blink (300 ms) and well within the 150 ms safety limit.</a:t>
            </a:r>
          </a:p>
          <a:p>
            <a:pPr algn="l">
              <a:lnSpc>
                <a:spcPct val="115000"/>
              </a:lnSpc>
              <a:spcAft>
                <a:spcPts val="1000"/>
              </a:spcAft>
            </a:pPr>
            <a:r>
              <a:rPr sz="1100" b="1">
                <a:solidFill>
                  <a:srgbClr val="002060"/>
                </a:solidFill>
                <a:latin typeface="Calisto MT"/>
              </a:rPr>
              <a:t>• Fast AI on Low-Cost Hardware: </a:t>
            </a:r>
            <a:r>
              <a:rPr sz="1100" b="0">
                <a:solidFill>
                  <a:srgbClr val="334155"/>
                </a:solidFill>
                <a:latin typeface="Calisto MT"/>
              </a:rPr>
              <a:t>The compact neural network makes recognition decisions in just 1.8 milliseconds, proving intelligent AI runs smoothly on an affordable Raspberry Pi without graphics cards.</a:t>
            </a:r>
          </a:p>
          <a:p>
            <a:pPr algn="l">
              <a:lnSpc>
                <a:spcPct val="115000"/>
              </a:lnSpc>
              <a:spcAft>
                <a:spcPts val="1000"/>
              </a:spcAft>
            </a:pPr>
            <a:r>
              <a:rPr sz="1100" b="1">
                <a:solidFill>
                  <a:srgbClr val="002060"/>
                </a:solidFill>
                <a:latin typeface="Calisto MT"/>
              </a:rPr>
              <a:t>• 96.67% Physical Driving Success: </a:t>
            </a:r>
            <a:r>
              <a:rPr sz="1100" b="0">
                <a:solidFill>
                  <a:srgbClr val="334155"/>
                </a:solidFill>
                <a:latin typeface="Calisto MT"/>
              </a:rPr>
              <a:t>In 180 real-world driving trials with operators walking in the lab, the robot correctly recognized and executed commands 96.67% of the time.</a:t>
            </a:r>
          </a:p>
          <a:p>
            <a:pPr algn="l">
              <a:lnSpc>
                <a:spcPct val="115000"/>
              </a:lnSpc>
              <a:spcAft>
                <a:spcPts val="1000"/>
              </a:spcAft>
            </a:pPr>
            <a:r>
              <a:rPr sz="1100" b="1">
                <a:solidFill>
                  <a:srgbClr val="002060"/>
                </a:solidFill>
                <a:latin typeface="Calisto MT"/>
              </a:rPr>
              <a:t>• Reliable Operating Range: </a:t>
            </a:r>
            <a:r>
              <a:rPr sz="1100" b="0">
                <a:solidFill>
                  <a:srgbClr val="334155"/>
                </a:solidFill>
                <a:latin typeface="Calisto MT"/>
              </a:rPr>
              <a:t>Because hand features are scaled automatically by palm size, accuracy stays strong from 1.0 meter (100%) up to 2.5 meters (92.6%) away.</a:t>
            </a:r>
          </a:p>
          <a:p>
            <a:pPr algn="l">
              <a:lnSpc>
                <a:spcPct val="115000"/>
              </a:lnSpc>
              <a:spcAft>
                <a:spcPts val="0"/>
              </a:spcAft>
            </a:pPr>
            <a:r>
              <a:rPr sz="1100" b="1">
                <a:solidFill>
                  <a:srgbClr val="002060"/>
                </a:solidFill>
                <a:latin typeface="Calisto MT"/>
              </a:rPr>
              <a:t>• Consistent in Any Lighting: </a:t>
            </a:r>
            <a:r>
              <a:rPr sz="1100" b="0">
                <a:solidFill>
                  <a:srgbClr val="334155"/>
                </a:solidFill>
                <a:latin typeface="Calisto MT"/>
              </a:rPr>
              <a:t>The robot achieved identical 96.7% accuracy under bright natural sunlight and fluorescent office lights, ensuring reliable all-day operation.</a:t>
            </a:r>
          </a:p>
        </p:txBody>
      </p:sp>
      <p:pic>
        <p:nvPicPr>
          <p:cNvPr id="6" name="Latency_Boxplot_Img" descr="fig_accuracy_by_condition_framed.png"/>
          <p:cNvPicPr>
            <a:picLocks noChangeAspect="1"/>
          </p:cNvPicPr>
          <p:nvPr/>
        </p:nvPicPr>
        <p:blipFill>
          <a:blip r:embed="rId4"/>
          <a:stretch>
            <a:fillRect/>
          </a:stretch>
        </p:blipFill>
        <p:spPr>
          <a:xfrm>
            <a:off x="6355080" y="1261872"/>
            <a:ext cx="5029200" cy="2084831"/>
          </a:xfrm>
          <a:prstGeom prst="rect">
            <a:avLst/>
          </a:prstGeom>
        </p:spPr>
      </p:pic>
      <p:sp>
        <p:nvSpPr>
          <p:cNvPr id="7" name="Latency_Boxplot_Cap"/>
          <p:cNvSpPr txBox="1"/>
          <p:nvPr/>
        </p:nvSpPr>
        <p:spPr>
          <a:xfrm>
            <a:off x="6355080" y="3383280"/>
            <a:ext cx="5029200" cy="22860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4.1: Observed Physical Accuracy Across Gestures, Operating Distances &amp; Lighting (180 Trials)</a:t>
            </a:r>
          </a:p>
        </p:txBody>
      </p:sp>
      <p:sp>
        <p:nvSpPr>
          <p:cNvPr id="8" name="Latency_Bench_Text"/>
          <p:cNvSpPr txBox="1"/>
          <p:nvPr/>
        </p:nvSpPr>
        <p:spPr>
          <a:xfrm>
            <a:off x="6355080" y="3703320"/>
            <a:ext cx="5029200" cy="178308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END-TO-END LATENCY BUDGET &amp; SPEED BREAKDOWN (132.0 ms TOTAL):</a:t>
            </a:r>
          </a:p>
          <a:p>
            <a:pPr algn="l">
              <a:lnSpc>
                <a:spcPct val="112000"/>
              </a:lnSpc>
              <a:spcAft>
                <a:spcPts val="250"/>
              </a:spcAft>
            </a:pPr>
            <a:r>
              <a:rPr sz="880" b="1">
                <a:solidFill>
                  <a:srgbClr val="002060"/>
                </a:solidFill>
                <a:latin typeface="Calisto MT"/>
              </a:rPr>
              <a:t>• Camera Video Capture: </a:t>
            </a:r>
            <a:r>
              <a:rPr sz="880" b="0">
                <a:solidFill>
                  <a:srgbClr val="334155"/>
                </a:solidFill>
                <a:latin typeface="Calisto MT"/>
              </a:rPr>
              <a:t>50.0 ms (640×480 @ 30 FPS video streaming)</a:t>
            </a:r>
          </a:p>
          <a:p>
            <a:pPr algn="l">
              <a:lnSpc>
                <a:spcPct val="112000"/>
              </a:lnSpc>
              <a:spcAft>
                <a:spcPts val="250"/>
              </a:spcAft>
            </a:pPr>
            <a:r>
              <a:rPr sz="880" b="1">
                <a:solidFill>
                  <a:srgbClr val="002060"/>
                </a:solidFill>
                <a:latin typeface="Calisto MT"/>
              </a:rPr>
              <a:t>• Hand Tracking: </a:t>
            </a:r>
            <a:r>
              <a:rPr sz="880" b="0">
                <a:solidFill>
                  <a:srgbClr val="334155"/>
                </a:solidFill>
                <a:latin typeface="Calisto MT"/>
              </a:rPr>
              <a:t>38.2 ms (MediaPipe landmark extraction on quad-core CPU)</a:t>
            </a:r>
          </a:p>
          <a:p>
            <a:pPr algn="l">
              <a:lnSpc>
                <a:spcPct val="112000"/>
              </a:lnSpc>
              <a:spcAft>
                <a:spcPts val="250"/>
              </a:spcAft>
            </a:pPr>
            <a:r>
              <a:rPr sz="880" b="1">
                <a:solidFill>
                  <a:srgbClr val="002060"/>
                </a:solidFill>
                <a:latin typeface="Calisto MT"/>
              </a:rPr>
              <a:t>• Neural Classifier: </a:t>
            </a:r>
            <a:r>
              <a:rPr sz="880" b="0">
                <a:solidFill>
                  <a:srgbClr val="334155"/>
                </a:solidFill>
                <a:latin typeface="Calisto MT"/>
              </a:rPr>
              <a:t>1.8 ms (instant geometric feature classification)</a:t>
            </a:r>
          </a:p>
          <a:p>
            <a:pPr algn="l">
              <a:lnSpc>
                <a:spcPct val="112000"/>
              </a:lnSpc>
              <a:spcAft>
                <a:spcPts val="250"/>
              </a:spcAft>
            </a:pPr>
            <a:r>
              <a:rPr sz="880" b="1">
                <a:solidFill>
                  <a:srgbClr val="002060"/>
                </a:solidFill>
                <a:latin typeface="Calisto MT"/>
              </a:rPr>
              <a:t>• Motor Communication: </a:t>
            </a:r>
            <a:r>
              <a:rPr sz="880" b="0">
                <a:solidFill>
                  <a:srgbClr val="334155"/>
                </a:solidFill>
                <a:latin typeface="Calisto MT"/>
              </a:rPr>
              <a:t>40.0 ms (micro-ROS UART command delivery to wheels)</a:t>
            </a:r>
          </a:p>
          <a:p>
            <a:pPr algn="l">
              <a:lnSpc>
                <a:spcPct val="112000"/>
              </a:lnSpc>
              <a:spcAft>
                <a:spcPts val="0"/>
              </a:spcAft>
            </a:pPr>
            <a:r>
              <a:rPr sz="880" b="1">
                <a:solidFill>
                  <a:srgbClr val="002060"/>
                </a:solidFill>
                <a:latin typeface="Calisto MT"/>
              </a:rPr>
              <a:t>• Safety Standard: </a:t>
            </a:r>
            <a:r>
              <a:rPr sz="880" b="0">
                <a:solidFill>
                  <a:srgbClr val="334155"/>
                </a:solidFill>
                <a:latin typeface="Calisto MT"/>
              </a:rPr>
              <a:t>100% of runs below 150 ms ISO 15066 safety deadline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12. TESTING &amp; RESULTS: PHYSICAL LOCOMOTION &amp; SAFETY</a:t>
            </a:r>
          </a:p>
        </p:txBody>
      </p:sp>
      <p:sp>
        <p:nvSpPr>
          <p:cNvPr id="3" name="Content Placeholder 2"/>
          <p:cNvSpPr>
            <a:spLocks noGrp="1"/>
          </p:cNvSpPr>
          <p:nvPr>
            <p:ph idx="1"/>
          </p:nvPr>
        </p:nvSpPr>
        <p:spPr/>
        <p:txBody>
          <a:bodyPr/>
          <a:lstStyle/>
          <a:p/>
        </p:txBody>
      </p:sp>
      <p:sp>
        <p:nvSpPr>
          <p:cNvPr id="4" name="Safety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VEHICLE MOTION, EMERGENCY BRAKING, AND 360° LIDAR SAFETY BUBBLE</a:t>
            </a:r>
          </a:p>
        </p:txBody>
      </p:sp>
      <p:sp>
        <p:nvSpPr>
          <p:cNvPr id="5" name="Safety_Points_Text"/>
          <p:cNvSpPr txBox="1"/>
          <p:nvPr/>
        </p:nvSpPr>
        <p:spPr>
          <a:xfrm>
            <a:off x="777240" y="1261872"/>
            <a:ext cx="5349240" cy="425196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Smooth Vehicle Driving: </a:t>
            </a:r>
            <a:r>
              <a:rPr sz="1100" b="0">
                <a:solidFill>
                  <a:srgbClr val="334155"/>
                </a:solidFill>
                <a:latin typeface="Calisto MT"/>
              </a:rPr>
              <a:t>All 6 commands (Forward, Reverse, Left, Right, Stop, Follow) drove the 4WD mobile robot smoothly without motor stalls or wheel skids.</a:t>
            </a:r>
          </a:p>
          <a:p>
            <a:pPr algn="l">
              <a:lnSpc>
                <a:spcPct val="115000"/>
              </a:lnSpc>
              <a:spcAft>
                <a:spcPts val="700"/>
              </a:spcAft>
            </a:pPr>
            <a:r>
              <a:rPr sz="1100" b="1">
                <a:solidFill>
                  <a:srgbClr val="002060"/>
                </a:solidFill>
                <a:latin typeface="Calisto MT"/>
              </a:rPr>
              <a:t>• Safe Dual Power Rails: </a:t>
            </a:r>
            <a:r>
              <a:rPr sz="1100" b="0">
                <a:solidFill>
                  <a:srgbClr val="334155"/>
                </a:solidFill>
                <a:latin typeface="Calisto MT"/>
              </a:rPr>
              <a:t>High motor current spikes during rapid forward-to-reverse driving never restarted the onboard computer, proving isolated power buses protect system stability.</a:t>
            </a:r>
          </a:p>
          <a:p>
            <a:pPr algn="l">
              <a:lnSpc>
                <a:spcPct val="115000"/>
              </a:lnSpc>
              <a:spcAft>
                <a:spcPts val="700"/>
              </a:spcAft>
            </a:pPr>
            <a:r>
              <a:rPr sz="1100" b="1">
                <a:solidFill>
                  <a:srgbClr val="002060"/>
                </a:solidFill>
                <a:latin typeface="Calisto MT"/>
              </a:rPr>
              <a:t>• Instant 98 ms Braking: </a:t>
            </a:r>
            <a:r>
              <a:rPr sz="1100" b="0">
                <a:solidFill>
                  <a:srgbClr val="334155"/>
                </a:solidFill>
                <a:latin typeface="Calisto MT"/>
              </a:rPr>
              <a:t>When the STOP command is shown or an obstacle enters the path, the robot comes to a complete physical halt within 98 milliseconds—well within the 0.36-meter safety margin.</a:t>
            </a:r>
          </a:p>
          <a:p>
            <a:pPr algn="l">
              <a:lnSpc>
                <a:spcPct val="115000"/>
              </a:lnSpc>
              <a:spcAft>
                <a:spcPts val="700"/>
              </a:spcAft>
            </a:pPr>
            <a:r>
              <a:rPr sz="1100" b="1">
                <a:solidFill>
                  <a:srgbClr val="002060"/>
                </a:solidFill>
                <a:latin typeface="Calisto MT"/>
              </a:rPr>
              <a:t>• Smart Hallway Safety Corridor: </a:t>
            </a:r>
            <a:r>
              <a:rPr sz="1100" b="0">
                <a:solidFill>
                  <a:srgbClr val="334155"/>
                </a:solidFill>
                <a:latin typeface="Calisto MT"/>
              </a:rPr>
              <a:t>Replaced the wide sensor cone with a rectangular corridor (|y| &lt;= 0.18 m) that only reacts to obstacles directly ahead, eliminating false alarms from side chairs and tables.</a:t>
            </a:r>
          </a:p>
          <a:p>
            <a:pPr algn="l">
              <a:lnSpc>
                <a:spcPct val="115000"/>
              </a:lnSpc>
              <a:spcAft>
                <a:spcPts val="700"/>
              </a:spcAft>
            </a:pPr>
            <a:r>
              <a:rPr sz="1100" b="1">
                <a:solidFill>
                  <a:srgbClr val="002060"/>
                </a:solidFill>
                <a:latin typeface="Calisto MT"/>
              </a:rPr>
              <a:t>• Rear Collision Guard: </a:t>
            </a:r>
            <a:r>
              <a:rPr sz="1100" b="0">
                <a:solidFill>
                  <a:srgbClr val="334155"/>
                </a:solidFill>
                <a:latin typeface="Calisto MT"/>
              </a:rPr>
              <a:t>Before backing away from a frontal obstacle, the robot checks behind itself; if an object is within 0.25 meters, it stops immediately instead of backing up blindly.</a:t>
            </a:r>
          </a:p>
          <a:p>
            <a:pPr algn="l">
              <a:lnSpc>
                <a:spcPct val="115000"/>
              </a:lnSpc>
              <a:spcAft>
                <a:spcPts val="0"/>
              </a:spcAft>
            </a:pPr>
            <a:r>
              <a:rPr sz="1100" b="1">
                <a:solidFill>
                  <a:srgbClr val="002060"/>
                </a:solidFill>
                <a:latin typeface="Calisto MT"/>
              </a:rPr>
              <a:t>• Certified ISO 15066 Safety: </a:t>
            </a:r>
            <a:r>
              <a:rPr sz="1100" b="0">
                <a:solidFill>
                  <a:srgbClr val="334155"/>
                </a:solidFill>
                <a:latin typeface="Calisto MT"/>
              </a:rPr>
              <a:t>Cruising speed is capped at 0.20 m/s with 12.6 scans per second, ensuring the robot is safe to operate around humans in collaborative workspaces.</a:t>
            </a:r>
          </a:p>
        </p:txBody>
      </p:sp>
      <p:pic>
        <p:nvPicPr>
          <p:cNvPr id="6" name="Safety_Lidar_Img" descr="image.png"/>
          <p:cNvPicPr>
            <a:picLocks noChangeAspect="1"/>
          </p:cNvPicPr>
          <p:nvPr/>
        </p:nvPicPr>
        <p:blipFill>
          <a:blip r:embed="rId2"/>
          <a:stretch>
            <a:fillRect/>
          </a:stretch>
        </p:blipFill>
        <p:spPr>
          <a:xfrm>
            <a:off x="6355080" y="1261872"/>
            <a:ext cx="5029200" cy="2743200"/>
          </a:xfrm>
          <a:prstGeom prst="rect">
            <a:avLst/>
          </a:prstGeom>
        </p:spPr>
      </p:pic>
      <p:sp>
        <p:nvSpPr>
          <p:cNvPr id="7" name="Safety_Lidar_Cap"/>
          <p:cNvSpPr txBox="1"/>
          <p:nvPr/>
        </p:nvSpPr>
        <p:spPr>
          <a:xfrm>
            <a:off x="6355080" y="4041648"/>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4.2: Smart Rectangular Safety Corridor vs. Old Cone (Eliminating False Alarms)</a:t>
            </a:r>
          </a:p>
        </p:txBody>
      </p:sp>
      <p:sp>
        <p:nvSpPr>
          <p:cNvPr id="8" name="Safety_Bench_Text"/>
          <p:cNvSpPr txBox="1"/>
          <p:nvPr/>
        </p:nvSpPr>
        <p:spPr>
          <a:xfrm>
            <a:off x="6355080" y="4370832"/>
            <a:ext cx="5029200" cy="114300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VERIFIED PHYSICAL SAFETY &amp; LOCOMOTION METRICS:</a:t>
            </a:r>
          </a:p>
          <a:p>
            <a:pPr algn="l">
              <a:lnSpc>
                <a:spcPct val="112000"/>
              </a:lnSpc>
              <a:spcAft>
                <a:spcPts val="250"/>
              </a:spcAft>
            </a:pPr>
            <a:r>
              <a:rPr sz="880" b="1">
                <a:solidFill>
                  <a:srgbClr val="002060"/>
                </a:solidFill>
                <a:latin typeface="Calisto MT"/>
              </a:rPr>
              <a:t>• Braking Speed: </a:t>
            </a:r>
            <a:r>
              <a:rPr sz="880" b="0">
                <a:solidFill>
                  <a:srgbClr val="334155"/>
                </a:solidFill>
                <a:latin typeface="Calisto MT"/>
              </a:rPr>
              <a:t>98 ms average physical emergency stop from 0.20 m/s cruising speed</a:t>
            </a:r>
          </a:p>
          <a:p>
            <a:pPr algn="l">
              <a:lnSpc>
                <a:spcPct val="112000"/>
              </a:lnSpc>
              <a:spcAft>
                <a:spcPts val="250"/>
              </a:spcAft>
            </a:pPr>
            <a:r>
              <a:rPr sz="880" b="1">
                <a:solidFill>
                  <a:srgbClr val="002060"/>
                </a:solidFill>
                <a:latin typeface="Calisto MT"/>
              </a:rPr>
              <a:t>• Front Safety Zones: </a:t>
            </a:r>
            <a:r>
              <a:rPr sz="880" b="0">
                <a:solidFill>
                  <a:srgbClr val="334155"/>
                </a:solidFill>
                <a:latin typeface="Calisto MT"/>
              </a:rPr>
              <a:t>0.36 m danger halt threshold; 0.55 m caution recovery buffer</a:t>
            </a:r>
          </a:p>
          <a:p>
            <a:pPr algn="l">
              <a:lnSpc>
                <a:spcPct val="112000"/>
              </a:lnSpc>
              <a:spcAft>
                <a:spcPts val="250"/>
              </a:spcAft>
            </a:pPr>
            <a:r>
              <a:rPr sz="880" b="1">
                <a:solidFill>
                  <a:srgbClr val="002060"/>
                </a:solidFill>
                <a:latin typeface="Calisto MT"/>
              </a:rPr>
              <a:t>• Rear Guard Clearance: </a:t>
            </a:r>
            <a:r>
              <a:rPr sz="880" b="0">
                <a:solidFill>
                  <a:srgbClr val="334155"/>
                </a:solidFill>
                <a:latin typeface="Calisto MT"/>
              </a:rPr>
              <a:t>Instant reverse abort if obstacles detected within 0.25 m clearance</a:t>
            </a:r>
          </a:p>
          <a:p>
            <a:pPr algn="l">
              <a:lnSpc>
                <a:spcPct val="112000"/>
              </a:lnSpc>
              <a:spcAft>
                <a:spcPts val="0"/>
              </a:spcAft>
            </a:pPr>
            <a:r>
              <a:rPr sz="880" b="1">
                <a:solidFill>
                  <a:srgbClr val="002060"/>
                </a:solidFill>
                <a:latin typeface="Calisto MT"/>
              </a:rPr>
              <a:t>• Safety Compliance: </a:t>
            </a:r>
            <a:r>
              <a:rPr sz="880" b="0">
                <a:solidFill>
                  <a:srgbClr val="334155"/>
                </a:solidFill>
                <a:latin typeface="Calisto MT"/>
              </a:rPr>
              <a:t>100% compliant with ISO 15066 collaborative robotic safety criteria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13. CONCLUSION, LIMITATIONS &amp; RECOMMENDATIONS</a:t>
            </a:r>
          </a:p>
        </p:txBody>
      </p:sp>
      <p:sp>
        <p:nvSpPr>
          <p:cNvPr id="3" name="Content Placeholder 2"/>
          <p:cNvSpPr>
            <a:spLocks noGrp="1"/>
          </p:cNvSpPr>
          <p:nvPr>
            <p:ph idx="1"/>
          </p:nvPr>
        </p:nvSpPr>
        <p:spPr/>
        <p:txBody>
          <a:bodyPr/>
          <a:lstStyle/>
          <a:p/>
        </p:txBody>
      </p:sp>
      <p:sp>
        <p:nvSpPr>
          <p:cNvPr id="4" name="Conclu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PROJECT CONTRIBUTIONS, TECHNICAL LIMITATIONS, AND RECOMMENDATIONS FOR FUTURE WORK</a:t>
            </a:r>
          </a:p>
        </p:txBody>
      </p:sp>
      <p:sp>
        <p:nvSpPr>
          <p:cNvPr id="5" name="Conclusion_Points_Text"/>
          <p:cNvSpPr txBox="1"/>
          <p:nvPr/>
        </p:nvSpPr>
        <p:spPr>
          <a:xfrm>
            <a:off x="777240" y="1261872"/>
            <a:ext cx="5349240" cy="4251960"/>
          </a:xfrm>
          <a:prstGeom prst="rect">
            <a:avLst/>
          </a:prstGeom>
          <a:noFill/>
        </p:spPr>
        <p:txBody>
          <a:bodyPr wrap="square" lIns="18288" rIns="18288" tIns="18288" bIns="18288">
            <a:spAutoFit/>
          </a:bodyPr>
          <a:lstStyle/>
          <a:p>
            <a:pPr algn="l">
              <a:lnSpc>
                <a:spcPct val="114000"/>
              </a:lnSpc>
              <a:spcBef>
                <a:spcPts val="0"/>
              </a:spcBef>
              <a:spcAft>
                <a:spcPts val="300"/>
              </a:spcAft>
              <a:defRPr sz="1000" b="1" i="0">
                <a:solidFill>
                  <a:srgbClr val="B8860B"/>
                </a:solidFill>
                <a:latin typeface="Calisto MT"/>
              </a:defRPr>
            </a:pPr>
            <a:r>
              <a:t>KEY RESEARCH CONCLUSIONS:</a:t>
            </a:r>
          </a:p>
          <a:p>
            <a:pPr algn="l">
              <a:lnSpc>
                <a:spcPct val="113000"/>
              </a:lnSpc>
              <a:spcAft>
                <a:spcPts val="500"/>
              </a:spcAft>
            </a:pPr>
            <a:r>
              <a:rPr sz="1000" b="1">
                <a:solidFill>
                  <a:srgbClr val="002060"/>
                </a:solidFill>
                <a:latin typeface="Calisto MT"/>
              </a:rPr>
              <a:t>• Complete Edge Autonomy: </a:t>
            </a:r>
            <a:r>
              <a:rPr sz="1000" b="0">
                <a:solidFill>
                  <a:srgbClr val="334155"/>
                </a:solidFill>
                <a:latin typeface="Calisto MT"/>
              </a:rPr>
              <a:t>AI vision, gesture recognition, human tracking, and SLAM execute 100% onboard the Raspberry Pi 5 without clouds or external GPUs.</a:t>
            </a:r>
          </a:p>
          <a:p>
            <a:pPr algn="l">
              <a:lnSpc>
                <a:spcPct val="113000"/>
              </a:lnSpc>
              <a:spcAft>
                <a:spcPts val="500"/>
              </a:spcAft>
            </a:pPr>
            <a:r>
              <a:rPr sz="1000" b="1">
                <a:solidFill>
                  <a:srgbClr val="002060"/>
                </a:solidFill>
                <a:latin typeface="Calisto MT"/>
              </a:rPr>
              <a:t>• High Real-World Accuracy: </a:t>
            </a:r>
            <a:r>
              <a:rPr sz="1000" b="0">
                <a:solidFill>
                  <a:srgbClr val="334155"/>
                </a:solidFill>
                <a:latin typeface="Calisto MT"/>
              </a:rPr>
              <a:t>Achieved 99.38% lab test accuracy and 96.67% physical driving success across 180 mobile trials in the laboratory.</a:t>
            </a:r>
          </a:p>
          <a:p>
            <a:pPr algn="l">
              <a:lnSpc>
                <a:spcPct val="113000"/>
              </a:lnSpc>
              <a:spcAft>
                <a:spcPts val="500"/>
              </a:spcAft>
            </a:pPr>
            <a:r>
              <a:rPr sz="1000" b="1">
                <a:solidFill>
                  <a:srgbClr val="002060"/>
                </a:solidFill>
                <a:latin typeface="Calisto MT"/>
              </a:rPr>
              <a:t>• Certified Collaborative Safety: </a:t>
            </a:r>
            <a:r>
              <a:rPr sz="1000" b="0">
                <a:solidFill>
                  <a:srgbClr val="334155"/>
                </a:solidFill>
                <a:latin typeface="Calisto MT"/>
              </a:rPr>
              <a:t>132 ms total response time and 98 ms physical braking fully satisfy ISO 15066 safety standards for human-robot shared spaces.</a:t>
            </a:r>
          </a:p>
          <a:p>
            <a:pPr algn="l">
              <a:lnSpc>
                <a:spcPct val="114000"/>
              </a:lnSpc>
              <a:spcBef>
                <a:spcPts val="0"/>
              </a:spcBef>
              <a:spcAft>
                <a:spcPts val="300"/>
              </a:spcAft>
              <a:defRPr sz="1000" b="1" i="0">
                <a:solidFill>
                  <a:srgbClr val="B8860B"/>
                </a:solidFill>
                <a:latin typeface="Calisto MT"/>
              </a:defRPr>
            </a:pPr>
            <a:r>
              <a:t>TECHNICAL LIMITATIONS OF THE STUDY:</a:t>
            </a:r>
          </a:p>
          <a:p>
            <a:pPr algn="l">
              <a:lnSpc>
                <a:spcPct val="113000"/>
              </a:lnSpc>
              <a:spcAft>
                <a:spcPts val="500"/>
              </a:spcAft>
            </a:pPr>
            <a:r>
              <a:rPr sz="1000" b="1">
                <a:solidFill>
                  <a:srgbClr val="002060"/>
                </a:solidFill>
                <a:latin typeface="Calisto MT"/>
              </a:rPr>
              <a:t>• Single Indoor Environment: </a:t>
            </a:r>
            <a:r>
              <a:rPr sz="1000" b="0">
                <a:solidFill>
                  <a:srgbClr val="334155"/>
                </a:solidFill>
                <a:latin typeface="Calisto MT"/>
              </a:rPr>
              <a:t>Evaluated in a single research lab; extreme direct sunlight washout and transparent glass partitions were not tested.</a:t>
            </a:r>
          </a:p>
          <a:p>
            <a:pPr algn="l">
              <a:lnSpc>
                <a:spcPct val="113000"/>
              </a:lnSpc>
              <a:spcAft>
                <a:spcPts val="500"/>
              </a:spcAft>
            </a:pPr>
            <a:r>
              <a:rPr sz="1000" b="1">
                <a:solidFill>
                  <a:srgbClr val="002060"/>
                </a:solidFill>
                <a:latin typeface="Calisto MT"/>
              </a:rPr>
              <a:t>• Edge CPU Compute Headroom: </a:t>
            </a:r>
            <a:r>
              <a:rPr sz="1000" b="0">
                <a:solidFill>
                  <a:srgbClr val="334155"/>
                </a:solidFill>
                <a:latin typeface="Calisto MT"/>
              </a:rPr>
              <a:t>Running continuous facial recognition alongside hand and person tracking saturated the 4-core CPU, requiring face ID to run offline.</a:t>
            </a:r>
          </a:p>
          <a:p>
            <a:pPr algn="l">
              <a:lnSpc>
                <a:spcPct val="113000"/>
              </a:lnSpc>
              <a:spcAft>
                <a:spcPts val="0"/>
              </a:spcAft>
            </a:pPr>
            <a:r>
              <a:rPr sz="1000" b="1">
                <a:solidFill>
                  <a:srgbClr val="002060"/>
                </a:solidFill>
                <a:latin typeface="Calisto MT"/>
              </a:rPr>
              <a:t>• Evaluation Cohort Size: </a:t>
            </a:r>
            <a:r>
              <a:rPr sz="1000" b="0">
                <a:solidFill>
                  <a:srgbClr val="334155"/>
                </a:solidFill>
                <a:latin typeface="Calisto MT"/>
              </a:rPr>
              <a:t>Physical driving trials involved 3 participants across 180 runs; broader demographic testing across diverse hand shapes is recommended.</a:t>
            </a:r>
          </a:p>
        </p:txBody>
      </p:sp>
      <p:pic>
        <p:nvPicPr>
          <p:cNvPr id="6" name="Conclusion_Robot_Img" descr="image.jpg"/>
          <p:cNvPicPr>
            <a:picLocks noChangeAspect="1"/>
          </p:cNvPicPr>
          <p:nvPr/>
        </p:nvPicPr>
        <p:blipFill>
          <a:blip r:embed="rId2"/>
          <a:stretch>
            <a:fillRect/>
          </a:stretch>
        </p:blipFill>
        <p:spPr>
          <a:xfrm>
            <a:off x="6355080" y="1261872"/>
            <a:ext cx="2423160" cy="1874519"/>
          </a:xfrm>
          <a:prstGeom prst="rect">
            <a:avLst/>
          </a:prstGeom>
        </p:spPr>
      </p:pic>
      <p:sp>
        <p:nvSpPr>
          <p:cNvPr id="7" name="Conclusion_Robot_Cap"/>
          <p:cNvSpPr txBox="1"/>
          <p:nvPr/>
        </p:nvSpPr>
        <p:spPr>
          <a:xfrm>
            <a:off x="6355080" y="3163824"/>
            <a:ext cx="2423160" cy="201168"/>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5.1: Fully Integrated Mobile Robot</a:t>
            </a:r>
          </a:p>
        </p:txBody>
      </p:sp>
      <p:sp>
        <p:nvSpPr>
          <p:cNvPr id="8" name="Conclusion_Milestones_Text"/>
          <p:cNvSpPr txBox="1"/>
          <p:nvPr/>
        </p:nvSpPr>
        <p:spPr>
          <a:xfrm>
            <a:off x="8961120" y="1261872"/>
            <a:ext cx="2423160" cy="205740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PROJECT IMPACT &amp; REACH:</a:t>
            </a:r>
          </a:p>
          <a:p>
            <a:pPr algn="l">
              <a:lnSpc>
                <a:spcPct val="112000"/>
              </a:lnSpc>
              <a:spcAft>
                <a:spcPts val="400"/>
              </a:spcAft>
            </a:pPr>
            <a:r>
              <a:rPr sz="880" b="1">
                <a:solidFill>
                  <a:srgbClr val="002060"/>
                </a:solidFill>
                <a:latin typeface="Calisto MT"/>
              </a:rPr>
              <a:t>• Zero Cloud Dependency: </a:t>
            </a:r>
            <a:r>
              <a:rPr sz="880" b="0">
                <a:solidFill>
                  <a:srgbClr val="334155"/>
                </a:solidFill>
                <a:latin typeface="Calisto MT"/>
              </a:rPr>
              <a:t>Complete privacy, security, and offline field reliability</a:t>
            </a:r>
          </a:p>
          <a:p>
            <a:pPr algn="l">
              <a:lnSpc>
                <a:spcPct val="112000"/>
              </a:lnSpc>
              <a:spcAft>
                <a:spcPts val="400"/>
              </a:spcAft>
            </a:pPr>
            <a:r>
              <a:rPr sz="880" b="1">
                <a:solidFill>
                  <a:srgbClr val="002060"/>
                </a:solidFill>
                <a:latin typeface="Calisto MT"/>
              </a:rPr>
              <a:t>• Low-Cost Platform: </a:t>
            </a:r>
            <a:r>
              <a:rPr sz="880" b="0">
                <a:solidFill>
                  <a:srgbClr val="334155"/>
                </a:solidFill>
                <a:latin typeface="Calisto MT"/>
              </a:rPr>
              <a:t>Accessible edge robotics under modest computing budgets</a:t>
            </a:r>
          </a:p>
          <a:p>
            <a:pPr algn="l">
              <a:lnSpc>
                <a:spcPct val="112000"/>
              </a:lnSpc>
              <a:spcAft>
                <a:spcPts val="0"/>
              </a:spcAft>
            </a:pPr>
            <a:r>
              <a:rPr sz="880" b="1">
                <a:solidFill>
                  <a:srgbClr val="002060"/>
                </a:solidFill>
                <a:latin typeface="Calisto MT"/>
              </a:rPr>
              <a:t>• Industry Standards: </a:t>
            </a:r>
            <a:r>
              <a:rPr sz="880" b="0">
                <a:solidFill>
                  <a:srgbClr val="334155"/>
                </a:solidFill>
                <a:latin typeface="Calisto MT"/>
              </a:rPr>
              <a:t>100% compliant with ISO 15066 and ROS REP-103/105</a:t>
            </a:r>
          </a:p>
        </p:txBody>
      </p:sp>
      <p:sp>
        <p:nvSpPr>
          <p:cNvPr id="9" name="Conclusion_Demo_Text"/>
          <p:cNvSpPr txBox="1"/>
          <p:nvPr/>
        </p:nvSpPr>
        <p:spPr>
          <a:xfrm>
            <a:off x="6355080" y="3429000"/>
            <a:ext cx="5029200" cy="205740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RECOMMENDATIONS FOR FUTURE WORK:</a:t>
            </a:r>
          </a:p>
          <a:p>
            <a:pPr algn="l">
              <a:lnSpc>
                <a:spcPct val="112000"/>
              </a:lnSpc>
              <a:spcAft>
                <a:spcPts val="250"/>
              </a:spcAft>
            </a:pPr>
            <a:r>
              <a:rPr sz="880" b="1">
                <a:solidFill>
                  <a:srgbClr val="002060"/>
                </a:solidFill>
                <a:latin typeface="Calisto MT"/>
              </a:rPr>
              <a:t>• Edge NPU Acceleration: </a:t>
            </a:r>
            <a:r>
              <a:rPr sz="880" b="0">
                <a:solidFill>
                  <a:srgbClr val="334155"/>
                </a:solidFill>
                <a:latin typeface="Calisto MT"/>
              </a:rPr>
              <a:t>Add an M.2 Neural Processing Unit (Hailo-8) to run face recognition, hand gestures, and body tracking concurrently at 30 FPS.</a:t>
            </a:r>
          </a:p>
          <a:p>
            <a:pPr algn="l">
              <a:lnSpc>
                <a:spcPct val="112000"/>
              </a:lnSpc>
              <a:spcAft>
                <a:spcPts val="250"/>
              </a:spcAft>
            </a:pPr>
            <a:r>
              <a:rPr sz="880" b="1">
                <a:solidFill>
                  <a:srgbClr val="002060"/>
                </a:solidFill>
                <a:latin typeface="Calisto MT"/>
              </a:rPr>
              <a:t>• Dual-Mode Navigation: </a:t>
            </a:r>
            <a:r>
              <a:rPr sz="880" b="0">
                <a:solidFill>
                  <a:srgbClr val="334155"/>
                </a:solidFill>
                <a:latin typeface="Calisto MT"/>
              </a:rPr>
              <a:t>Implement human-led mapping in unknown areas ('Follow-to-Map'), and autonomous semantic waypoint dispatch in mapped spaces.</a:t>
            </a:r>
          </a:p>
          <a:p>
            <a:pPr algn="l">
              <a:lnSpc>
                <a:spcPct val="112000"/>
              </a:lnSpc>
              <a:spcAft>
                <a:spcPts val="250"/>
              </a:spcAft>
            </a:pPr>
            <a:r>
              <a:rPr sz="880" b="1">
                <a:solidFill>
                  <a:srgbClr val="002060"/>
                </a:solidFill>
                <a:latin typeface="Calisto MT"/>
              </a:rPr>
              <a:t>• High-Speed PCIe NVMe Storage: </a:t>
            </a:r>
            <a:r>
              <a:rPr sz="880" b="0">
                <a:solidFill>
                  <a:srgbClr val="334155"/>
                </a:solidFill>
                <a:latin typeface="Calisto MT"/>
              </a:rPr>
              <a:t>Equip the Pi 5 with an NVMe SSD to record full-rate video streams and sensor logs without SD card bottlenecks.</a:t>
            </a:r>
          </a:p>
          <a:p>
            <a:pPr algn="l">
              <a:lnSpc>
                <a:spcPct val="112000"/>
              </a:lnSpc>
              <a:spcAft>
                <a:spcPts val="0"/>
              </a:spcAft>
            </a:pPr>
            <a:r>
              <a:rPr sz="880" b="1">
                <a:solidFill>
                  <a:srgbClr val="002060"/>
                </a:solidFill>
                <a:latin typeface="Calisto MT"/>
              </a:rPr>
              <a:t>• Multi-Sensor Redundancy: </a:t>
            </a:r>
            <a:r>
              <a:rPr sz="880" b="0">
                <a:solidFill>
                  <a:srgbClr val="334155"/>
                </a:solidFill>
                <a:latin typeface="Calisto MT"/>
              </a:rPr>
              <a:t>Add ultrasonic sonar or depth cameras to detect transparent glass walls and low obstacles below the 2D LiDAR plane.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