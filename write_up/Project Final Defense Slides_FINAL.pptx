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65760"/>
            <a:ext cx="10515600" cy="685800"/>
          </a:xfrm>
        </p:spPr>
        <p:txBody>
          <a:bodyPr/>
          <a:lstStyle/>
          <a:p>
            <a:pPr algn="ctr">
              <a:lnSpc>
                <a:spcPct val="115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Bench_Label"/>
          <p:cNvSpPr txBox="1"/>
          <p:nvPr/>
        </p:nvSpPr>
        <p:spPr>
          <a:xfrm>
            <a:off x="914400" y="1097280"/>
            <a:ext cx="4114800" cy="256032"/>
          </a:xfrm>
          <a:prstGeom prst="rect">
            <a:avLst/>
          </a:prstGeom>
          <a:noFill/>
        </p:spPr>
        <p:txBody>
          <a:bodyPr wrap="square" lIns="0" rIns="0" tIns="0" bIns="0">
            <a:spAutoFit/>
          </a:bodyPr>
          <a:lstStyle/>
          <a:p>
            <a:pPr algn="l">
              <a:lnSpc>
                <a:spcPct val="115000"/>
              </a:lnSpc>
              <a:spcBef>
                <a:spcPts val="0"/>
              </a:spcBef>
              <a:spcAft>
                <a:spcPts val="200"/>
              </a:spcAft>
              <a:defRPr sz="1200" b="1" i="0">
                <a:solidFill>
                  <a:srgbClr val="B8860B"/>
                </a:solidFill>
                <a:latin typeface="Calisto MT"/>
              </a:defRPr>
            </a:pPr>
            <a:r>
              <a:t>BENCHMARK LITERATURE EVALUATION</a:t>
            </a:r>
          </a:p>
        </p:txBody>
      </p:sp>
      <p:sp>
        <p:nvSpPr>
          <p:cNvPr id="5" name="Lit_Study_0"/>
          <p:cNvSpPr txBox="1"/>
          <p:nvPr/>
        </p:nvSpPr>
        <p:spPr>
          <a:xfrm>
            <a:off x="914400" y="1353312"/>
            <a:ext cx="3227832" cy="1737360"/>
          </a:xfrm>
          <a:prstGeom prst="rect">
            <a:avLst/>
          </a:prstGeom>
          <a:noFill/>
        </p:spPr>
        <p:txBody>
          <a:bodyPr wrap="square" lIns="36576" rIns="36576" tIns="36576" bIns="36576">
            <a:spAutoFit/>
          </a:bodyPr>
          <a:lstStyle/>
          <a:p>
            <a:pPr algn="l">
              <a:lnSpc>
                <a:spcPct val="115000"/>
              </a:lnSpc>
              <a:spcBef>
                <a:spcPts val="0"/>
              </a:spcBef>
              <a:spcAft>
                <a:spcPts val="100"/>
              </a:spcAft>
              <a:defRPr sz="1400" b="1" i="0">
                <a:solidFill>
                  <a:srgbClr val="002060"/>
                </a:solidFill>
                <a:latin typeface="Calisto MT"/>
              </a:defRPr>
            </a:pPr>
            <a:r>
              <a:t>Tsitos et al. (2022)</a:t>
            </a:r>
          </a:p>
          <a:p>
            <a:pPr algn="l">
              <a:lnSpc>
                <a:spcPct val="115000"/>
              </a:lnSpc>
              <a:spcBef>
                <a:spcPts val="0"/>
              </a:spcBef>
              <a:spcAft>
                <a:spcPts val="400"/>
              </a:spcAft>
              <a:defRPr sz="1100" b="0" i="1">
                <a:solidFill>
                  <a:srgbClr val="64748B"/>
                </a:solidFill>
                <a:latin typeface="Calisto MT"/>
              </a:defRPr>
            </a:pPr>
            <a:r>
              <a:t>Fast Reaching Intention (Robotic Arm)</a:t>
            </a:r>
          </a:p>
          <a:p>
            <a:pPr algn="l">
              <a:lnSpc>
                <a:spcPct val="115000"/>
              </a:lnSpc>
              <a:spcAft>
                <a:spcPts val="300"/>
              </a:spcAft>
            </a:pPr>
            <a:r>
              <a:rPr sz="1150" b="1">
                <a:solidFill>
                  <a:srgbClr val="1E293B"/>
                </a:solidFill>
                <a:latin typeface="Calisto MT"/>
              </a:rPr>
              <a:t>• Strength: </a:t>
            </a:r>
            <a:r>
              <a:rPr sz="1150" b="0">
                <a:solidFill>
                  <a:srgbClr val="334155"/>
                </a:solidFill>
                <a:latin typeface="Calisto MT"/>
              </a:rPr>
              <a:t>Fast reaction time under 150 ms threshold.</a:t>
            </a:r>
          </a:p>
          <a:p>
            <a:pPr algn="l">
              <a:lnSpc>
                <a:spcPct val="115000"/>
              </a:lnSpc>
              <a:spcAft>
                <a:spcPts val="0"/>
              </a:spcAft>
            </a:pPr>
            <a:r>
              <a:rPr sz="1150" b="1">
                <a:solidFill>
                  <a:srgbClr val="1E293B"/>
                </a:solidFill>
                <a:latin typeface="Calisto MT"/>
              </a:rPr>
              <a:t>• Limitation: </a:t>
            </a:r>
            <a:r>
              <a:rPr sz="1150" b="0">
                <a:solidFill>
                  <a:srgbClr val="334155"/>
                </a:solidFill>
                <a:latin typeface="Calisto MT"/>
              </a:rPr>
              <a:t>Fixed on a desk — cannot drive on wheels or accept hand gestures.</a:t>
            </a:r>
          </a:p>
        </p:txBody>
      </p:sp>
      <p:sp>
        <p:nvSpPr>
          <p:cNvPr id="6" name="Lit_Study_1"/>
          <p:cNvSpPr txBox="1"/>
          <p:nvPr/>
        </p:nvSpPr>
        <p:spPr>
          <a:xfrm>
            <a:off x="4480560" y="1353312"/>
            <a:ext cx="3227832" cy="1737360"/>
          </a:xfrm>
          <a:prstGeom prst="rect">
            <a:avLst/>
          </a:prstGeom>
          <a:noFill/>
        </p:spPr>
        <p:txBody>
          <a:bodyPr wrap="square" lIns="36576" rIns="36576" tIns="36576" bIns="36576">
            <a:spAutoFit/>
          </a:bodyPr>
          <a:lstStyle/>
          <a:p>
            <a:pPr algn="l">
              <a:lnSpc>
                <a:spcPct val="115000"/>
              </a:lnSpc>
              <a:spcBef>
                <a:spcPts val="0"/>
              </a:spcBef>
              <a:spcAft>
                <a:spcPts val="100"/>
              </a:spcAft>
              <a:defRPr sz="1400" b="1" i="0">
                <a:solidFill>
                  <a:srgbClr val="002060"/>
                </a:solidFill>
                <a:latin typeface="Calisto MT"/>
              </a:defRPr>
            </a:pPr>
            <a:r>
              <a:t>Mahmud et al. (2022)</a:t>
            </a:r>
          </a:p>
          <a:p>
            <a:pPr algn="l">
              <a:lnSpc>
                <a:spcPct val="115000"/>
              </a:lnSpc>
              <a:spcBef>
                <a:spcPts val="0"/>
              </a:spcBef>
              <a:spcAft>
                <a:spcPts val="400"/>
              </a:spcAft>
              <a:defRPr sz="1100" b="0" i="1">
                <a:solidFill>
                  <a:srgbClr val="64748B"/>
                </a:solidFill>
                <a:latin typeface="Calisto MT"/>
              </a:defRPr>
            </a:pPr>
            <a:r>
              <a:t>3D Deep Gesture Tracking</a:t>
            </a:r>
          </a:p>
          <a:p>
            <a:pPr algn="l">
              <a:lnSpc>
                <a:spcPct val="115000"/>
              </a:lnSpc>
              <a:spcAft>
                <a:spcPts val="300"/>
              </a:spcAft>
            </a:pPr>
            <a:r>
              <a:rPr sz="1150" b="1">
                <a:solidFill>
                  <a:srgbClr val="1E293B"/>
                </a:solidFill>
                <a:latin typeface="Calisto MT"/>
              </a:rPr>
              <a:t>• Strength: </a:t>
            </a:r>
            <a:r>
              <a:rPr sz="1150" b="0">
                <a:solidFill>
                  <a:srgbClr val="334155"/>
                </a:solidFill>
                <a:latin typeface="Calisto MT"/>
              </a:rPr>
              <a:t>High accuracy across multi-class hand gestures.</a:t>
            </a:r>
          </a:p>
          <a:p>
            <a:pPr algn="l">
              <a:lnSpc>
                <a:spcPct val="115000"/>
              </a:lnSpc>
              <a:spcAft>
                <a:spcPts val="0"/>
              </a:spcAft>
            </a:pPr>
            <a:r>
              <a:rPr sz="1150" b="1">
                <a:solidFill>
                  <a:srgbClr val="1E293B"/>
                </a:solidFill>
                <a:latin typeface="Calisto MT"/>
              </a:rPr>
              <a:t>• Limitation: </a:t>
            </a:r>
            <a:r>
              <a:rPr sz="1150" b="0">
                <a:solidFill>
                  <a:srgbClr val="334155"/>
                </a:solidFill>
                <a:latin typeface="Calisto MT"/>
              </a:rPr>
              <a:t>Relies on cloud servers — suffers from network lag and Wi-Fi dropouts.</a:t>
            </a:r>
          </a:p>
        </p:txBody>
      </p:sp>
      <p:sp>
        <p:nvSpPr>
          <p:cNvPr id="7" name="Lit_Study_2"/>
          <p:cNvSpPr txBox="1"/>
          <p:nvPr/>
        </p:nvSpPr>
        <p:spPr>
          <a:xfrm>
            <a:off x="8046720" y="1353312"/>
            <a:ext cx="3227832" cy="1737360"/>
          </a:xfrm>
          <a:prstGeom prst="rect">
            <a:avLst/>
          </a:prstGeom>
          <a:noFill/>
        </p:spPr>
        <p:txBody>
          <a:bodyPr wrap="square" lIns="36576" rIns="36576" tIns="36576" bIns="36576">
            <a:spAutoFit/>
          </a:bodyPr>
          <a:lstStyle/>
          <a:p>
            <a:pPr algn="l">
              <a:lnSpc>
                <a:spcPct val="115000"/>
              </a:lnSpc>
              <a:spcBef>
                <a:spcPts val="0"/>
              </a:spcBef>
              <a:spcAft>
                <a:spcPts val="100"/>
              </a:spcAft>
              <a:defRPr sz="1400" b="1" i="0">
                <a:solidFill>
                  <a:srgbClr val="002060"/>
                </a:solidFill>
                <a:latin typeface="Calisto MT"/>
              </a:defRPr>
            </a:pPr>
            <a:r>
              <a:t>Li et al. (2023)</a:t>
            </a:r>
          </a:p>
          <a:p>
            <a:pPr algn="l">
              <a:lnSpc>
                <a:spcPct val="115000"/>
              </a:lnSpc>
              <a:spcBef>
                <a:spcPts val="0"/>
              </a:spcBef>
              <a:spcAft>
                <a:spcPts val="400"/>
              </a:spcAft>
              <a:defRPr sz="1100" b="0" i="1">
                <a:solidFill>
                  <a:srgbClr val="64748B"/>
                </a:solidFill>
                <a:latin typeface="Calisto MT"/>
              </a:defRPr>
            </a:pPr>
            <a:r>
              <a:t>Intention-Aware Navigation</a:t>
            </a:r>
          </a:p>
          <a:p>
            <a:pPr algn="l">
              <a:lnSpc>
                <a:spcPct val="115000"/>
              </a:lnSpc>
              <a:spcAft>
                <a:spcPts val="300"/>
              </a:spcAft>
            </a:pPr>
            <a:r>
              <a:rPr sz="1150" b="1">
                <a:solidFill>
                  <a:srgbClr val="1E293B"/>
                </a:solidFill>
                <a:latin typeface="Calisto MT"/>
              </a:rPr>
              <a:t>• Strength: </a:t>
            </a:r>
            <a:r>
              <a:rPr sz="1150" b="0">
                <a:solidFill>
                  <a:srgbClr val="334155"/>
                </a:solidFill>
                <a:latin typeface="Calisto MT"/>
              </a:rPr>
              <a:t>Smart path planning around moving humans.</a:t>
            </a:r>
          </a:p>
          <a:p>
            <a:pPr algn="l">
              <a:lnSpc>
                <a:spcPct val="115000"/>
              </a:lnSpc>
              <a:spcAft>
                <a:spcPts val="0"/>
              </a:spcAft>
            </a:pPr>
            <a:r>
              <a:rPr sz="1150" b="1">
                <a:solidFill>
                  <a:srgbClr val="1E293B"/>
                </a:solidFill>
                <a:latin typeface="Calisto MT"/>
              </a:rPr>
              <a:t>• Limitation: </a:t>
            </a:r>
            <a:r>
              <a:rPr sz="1150" b="0">
                <a:solidFill>
                  <a:srgbClr val="334155"/>
                </a:solidFill>
                <a:latin typeface="Calisto MT"/>
              </a:rPr>
              <a:t>Computer simulation only — never tested on a real physical robot.</a:t>
            </a:r>
          </a:p>
        </p:txBody>
      </p:sp>
      <p:cxnSp>
        <p:nvCxnSpPr>
          <p:cNvPr id="8" name="Lit_Divider_Line"/>
          <p:cNvCxnSpPr/>
          <p:nvPr/>
        </p:nvCxnSpPr>
        <p:spPr>
          <a:xfrm>
            <a:off x="914400" y="3246120"/>
            <a:ext cx="103601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9" name="Lit_Gap_Label"/>
          <p:cNvSpPr txBox="1"/>
          <p:nvPr/>
        </p:nvSpPr>
        <p:spPr>
          <a:xfrm>
            <a:off x="914400" y="3429000"/>
            <a:ext cx="5029200" cy="256032"/>
          </a:xfrm>
          <a:prstGeom prst="rect">
            <a:avLst/>
          </a:prstGeom>
          <a:noFill/>
        </p:spPr>
        <p:txBody>
          <a:bodyPr wrap="square" lIns="0" rIns="0" tIns="0" bIns="0">
            <a:spAutoFit/>
          </a:bodyPr>
          <a:lstStyle/>
          <a:p>
            <a:pPr algn="l">
              <a:lnSpc>
                <a:spcPct val="115000"/>
              </a:lnSpc>
              <a:spcBef>
                <a:spcPts val="0"/>
              </a:spcBef>
              <a:spcAft>
                <a:spcPts val="200"/>
              </a:spcAft>
              <a:defRPr sz="1200" b="1" i="0">
                <a:solidFill>
                  <a:srgbClr val="B8860B"/>
                </a:solidFill>
                <a:latin typeface="Calisto MT"/>
              </a:defRPr>
            </a:pPr>
            <a:r>
              <a:t>CRITICAL RESEARCH GAPS RESOLVED IN THIS WORK</a:t>
            </a:r>
          </a:p>
        </p:txBody>
      </p:sp>
      <p:sp>
        <p:nvSpPr>
          <p:cNvPr id="10" name="Lit_Gap_0"/>
          <p:cNvSpPr txBox="1"/>
          <p:nvPr/>
        </p:nvSpPr>
        <p:spPr>
          <a:xfrm>
            <a:off x="914400" y="3730752"/>
            <a:ext cx="3227832" cy="1783080"/>
          </a:xfrm>
          <a:prstGeom prst="rect">
            <a:avLst/>
          </a:prstGeom>
          <a:noFill/>
        </p:spPr>
        <p:txBody>
          <a:bodyPr wrap="square" lIns="36576" rIns="36576" tIns="36576" bIns="36576">
            <a:spAutoFit/>
          </a:bodyPr>
          <a:lstStyle/>
          <a:p>
            <a:pPr algn="l">
              <a:spcAft>
                <a:spcPts val="300"/>
              </a:spcAft>
              <a:defRPr sz="1350" b="1">
                <a:solidFill>
                  <a:srgbClr val="002060"/>
                </a:solidFill>
                <a:latin typeface="Calisto MT"/>
              </a:defRPr>
            </a:pPr>
            <a:r>
              <a:t>01.  All-Onboard Edge AI</a:t>
            </a:r>
          </a:p>
          <a:p>
            <a:pPr algn="l">
              <a:lnSpc>
                <a:spcPct val="115000"/>
              </a:lnSpc>
              <a:spcBef>
                <a:spcPts val="0"/>
              </a:spcBef>
              <a:spcAft>
                <a:spcPts val="200"/>
              </a:spcAft>
              <a:defRPr sz="1150" b="0" i="0">
                <a:solidFill>
                  <a:srgbClr val="334155"/>
                </a:solidFill>
                <a:latin typeface="Calisto MT"/>
              </a:defRPr>
            </a:pPr>
            <a:r>
              <a:t>All computer vision runs directly on the robot (Raspberry Pi 5) without cloud lag, internet dependency, or Wi-Fi dropouts.</a:t>
            </a:r>
          </a:p>
        </p:txBody>
      </p:sp>
      <p:sp>
        <p:nvSpPr>
          <p:cNvPr id="11" name="Lit_Gap_1"/>
          <p:cNvSpPr txBox="1"/>
          <p:nvPr/>
        </p:nvSpPr>
        <p:spPr>
          <a:xfrm>
            <a:off x="4480560" y="3730752"/>
            <a:ext cx="3227832" cy="1783080"/>
          </a:xfrm>
          <a:prstGeom prst="rect">
            <a:avLst/>
          </a:prstGeom>
          <a:noFill/>
        </p:spPr>
        <p:txBody>
          <a:bodyPr wrap="square" lIns="36576" rIns="36576" tIns="36576" bIns="36576">
            <a:spAutoFit/>
          </a:bodyPr>
          <a:lstStyle/>
          <a:p>
            <a:pPr algn="l">
              <a:spcAft>
                <a:spcPts val="300"/>
              </a:spcAft>
              <a:defRPr sz="1350" b="1">
                <a:solidFill>
                  <a:srgbClr val="002060"/>
                </a:solidFill>
                <a:latin typeface="Calisto MT"/>
              </a:defRPr>
            </a:pPr>
            <a:r>
              <a:t>02.  Direct Vision-to-Wheels</a:t>
            </a:r>
          </a:p>
          <a:p>
            <a:pPr algn="l">
              <a:lnSpc>
                <a:spcPct val="115000"/>
              </a:lnSpc>
              <a:spcBef>
                <a:spcPts val="0"/>
              </a:spcBef>
              <a:spcAft>
                <a:spcPts val="200"/>
              </a:spcAft>
              <a:defRPr sz="1150" b="0" i="0">
                <a:solidFill>
                  <a:srgbClr val="334155"/>
                </a:solidFill>
                <a:latin typeface="Calisto MT"/>
              </a:defRPr>
            </a:pPr>
            <a:r>
              <a:t>Hand gestures directly guide the robot's physical wheel motors in real time through an active visual-tracking camera gimbal.</a:t>
            </a:r>
          </a:p>
        </p:txBody>
      </p:sp>
      <p:sp>
        <p:nvSpPr>
          <p:cNvPr id="12" name="Lit_Gap_2"/>
          <p:cNvSpPr txBox="1"/>
          <p:nvPr/>
        </p:nvSpPr>
        <p:spPr>
          <a:xfrm>
            <a:off x="8046720" y="3730752"/>
            <a:ext cx="3227832" cy="1783080"/>
          </a:xfrm>
          <a:prstGeom prst="rect">
            <a:avLst/>
          </a:prstGeom>
          <a:noFill/>
        </p:spPr>
        <p:txBody>
          <a:bodyPr wrap="square" lIns="36576" rIns="36576" tIns="36576" bIns="36576">
            <a:spAutoFit/>
          </a:bodyPr>
          <a:lstStyle/>
          <a:p>
            <a:pPr algn="l">
              <a:spcAft>
                <a:spcPts val="300"/>
              </a:spcAft>
              <a:defRPr sz="1350" b="1">
                <a:solidFill>
                  <a:srgbClr val="002060"/>
                </a:solidFill>
                <a:latin typeface="Calisto MT"/>
              </a:defRPr>
            </a:pPr>
            <a:r>
              <a:t>03.  Dual-Modality &amp; Safety</a:t>
            </a:r>
          </a:p>
          <a:p>
            <a:pPr algn="l">
              <a:lnSpc>
                <a:spcPct val="115000"/>
              </a:lnSpc>
              <a:spcBef>
                <a:spcPts val="0"/>
              </a:spcBef>
              <a:spcAft>
                <a:spcPts val="200"/>
              </a:spcAft>
              <a:defRPr sz="1150" b="0" i="0">
                <a:solidFill>
                  <a:srgbClr val="334155"/>
                </a:solidFill>
                <a:latin typeface="Calisto MT"/>
              </a:defRPr>
            </a:pPr>
            <a:r>
              <a:t>Unifies 6 deliberate hand gestures with continuous human tracking and automatic 360° LiDAR collision safety stops.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