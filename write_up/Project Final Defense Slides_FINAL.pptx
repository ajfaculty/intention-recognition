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61872"/>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400"/>
              </a:spcAft>
              <a:defRPr sz="1200" b="1" i="0">
                <a:solidFill>
                  <a:srgbClr val="002060"/>
                </a:solidFill>
                <a:latin typeface="Calisto MT"/>
              </a:defRPr>
            </a:pPr>
            <a:r>
              <a:t>Mechatronics &amp; Embedded Hardware</a:t>
            </a:r>
          </a:p>
          <a:p>
            <a:pPr algn="l">
              <a:lnSpc>
                <a:spcPct val="114000"/>
              </a:lnSpc>
              <a:spcBef>
                <a:spcPts val="0"/>
              </a:spcBef>
              <a:spcAft>
                <a:spcPts val="300"/>
              </a:spcAft>
              <a:defRPr sz="1000" b="0" i="0">
                <a:solidFill>
                  <a:srgbClr val="1E293B"/>
                </a:solidFill>
                <a:latin typeface="Calisto MT"/>
              </a:defRPr>
            </a:pPr>
            <a:r>
              <a:t>• Built Yahboom 4WD mobile chassis with DC encoder motors and 2-DOF camera gimbal.</a:t>
            </a:r>
          </a:p>
          <a:p>
            <a:pPr algn="l">
              <a:lnSpc>
                <a:spcPct val="114000"/>
              </a:lnSpc>
              <a:spcBef>
                <a:spcPts val="0"/>
              </a:spcBef>
              <a:spcAft>
                <a:spcPts val="300"/>
              </a:spcAft>
              <a:defRPr sz="1000" b="0" i="0">
                <a:solidFill>
                  <a:srgbClr val="1E293B"/>
                </a:solidFill>
                <a:latin typeface="Calisto MT"/>
              </a:defRPr>
            </a:pPr>
            <a:r>
              <a:t>• Integrated Raspberry Pi 5 (8GB) edge compute node and ESP32-S3 micro-ROS co-processor.</a:t>
            </a:r>
          </a:p>
          <a:p>
            <a:pPr algn="l">
              <a:lnSpc>
                <a:spcPct val="114000"/>
              </a:lnSpc>
              <a:spcBef>
                <a:spcPts val="0"/>
              </a:spcBef>
              <a:spcAft>
                <a:spcPts val="0"/>
              </a:spcAft>
              <a:defRPr sz="1000" b="0" i="0">
                <a:solidFill>
                  <a:srgbClr val="1E293B"/>
                </a:solidFill>
                <a:latin typeface="Calisto MT"/>
              </a:defRPr>
            </a:pPr>
            <a:r>
              <a:t>• Implemented decoupled dual-bus power regulation (7.4V Li-ion) isolating logic from motor spikes.</a:t>
            </a:r>
          </a:p>
        </p:txBody>
      </p:sp>
      <p:sp>
        <p:nvSpPr>
          <p:cNvPr id="6" name="Meth_P2"/>
          <p:cNvSpPr txBox="1"/>
          <p:nvPr/>
        </p:nvSpPr>
        <p:spPr>
          <a:xfrm>
            <a:off x="4480560" y="1261872"/>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400"/>
              </a:spcAft>
              <a:defRPr sz="1200" b="1" i="0">
                <a:solidFill>
                  <a:srgbClr val="002060"/>
                </a:solidFill>
                <a:latin typeface="Calisto MT"/>
              </a:defRPr>
            </a:pPr>
            <a:r>
              <a:t>Data Acquisition &amp; Calibration</a:t>
            </a:r>
          </a:p>
          <a:p>
            <a:pPr algn="l">
              <a:lnSpc>
                <a:spcPct val="114000"/>
              </a:lnSpc>
              <a:spcBef>
                <a:spcPts val="0"/>
              </a:spcBef>
              <a:spcAft>
                <a:spcPts val="300"/>
              </a:spcAft>
              <a:defRPr sz="1000" b="0" i="0">
                <a:solidFill>
                  <a:srgbClr val="1E293B"/>
                </a:solidFill>
                <a:latin typeface="Calisto MT"/>
              </a:defRPr>
            </a:pPr>
            <a:r>
              <a:t>• Captured and balanced custom 6,000-sample dataset directly through onboard camera.</a:t>
            </a:r>
          </a:p>
          <a:p>
            <a:pPr algn="l">
              <a:lnSpc>
                <a:spcPct val="114000"/>
              </a:lnSpc>
              <a:spcBef>
                <a:spcPts val="0"/>
              </a:spcBef>
              <a:spcAft>
                <a:spcPts val="300"/>
              </a:spcAft>
              <a:defRPr sz="1000" b="0" i="0">
                <a:solidFill>
                  <a:srgbClr val="1E293B"/>
                </a:solidFill>
                <a:latin typeface="Calisto MT"/>
              </a:defRPr>
            </a:pPr>
            <a:r>
              <a:t>• Mapped 6 operational gesture classes: STOP, GO, FOLLOW, LEFT, RIGHT, BACK.</a:t>
            </a:r>
          </a:p>
          <a:p>
            <a:pPr algn="l">
              <a:lnSpc>
                <a:spcPct val="114000"/>
              </a:lnSpc>
              <a:spcBef>
                <a:spcPts val="0"/>
              </a:spcBef>
              <a:spcAft>
                <a:spcPts val="0"/>
              </a:spcAft>
              <a:defRPr sz="1000" b="0" i="0">
                <a:solidFill>
                  <a:srgbClr val="1E293B"/>
                </a:solidFill>
                <a:latin typeface="Calisto MT"/>
              </a:defRPr>
            </a:pPr>
            <a:r>
              <a:t>• Calibrated across varying distances (1.0m to 2.5m) under natural indoor lighting.</a:t>
            </a:r>
          </a:p>
        </p:txBody>
      </p:sp>
      <p:sp>
        <p:nvSpPr>
          <p:cNvPr id="7" name="Meth_P3"/>
          <p:cNvSpPr txBox="1"/>
          <p:nvPr/>
        </p:nvSpPr>
        <p:spPr>
          <a:xfrm>
            <a:off x="8183879" y="1261872"/>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400"/>
              </a:spcAft>
              <a:defRPr sz="1200" b="1" i="0">
                <a:solidFill>
                  <a:srgbClr val="002060"/>
                </a:solidFill>
                <a:latin typeface="Calisto MT"/>
              </a:defRPr>
            </a:pPr>
            <a:r>
              <a:t>Feature Engineering &amp; Edge AI</a:t>
            </a:r>
          </a:p>
          <a:p>
            <a:pPr algn="l">
              <a:lnSpc>
                <a:spcPct val="114000"/>
              </a:lnSpc>
              <a:spcBef>
                <a:spcPts val="0"/>
              </a:spcBef>
              <a:spcAft>
                <a:spcPts val="300"/>
              </a:spcAft>
              <a:defRPr sz="1000" b="0" i="0">
                <a:solidFill>
                  <a:srgbClr val="1E293B"/>
                </a:solidFill>
                <a:latin typeface="Calisto MT"/>
              </a:defRPr>
            </a:pPr>
            <a:r>
              <a:t>• Extracted 21 MediaPipe hand landmarks and computed 19-D geometric invariant features.</a:t>
            </a:r>
          </a:p>
          <a:p>
            <a:pPr algn="l">
              <a:lnSpc>
                <a:spcPct val="114000"/>
              </a:lnSpc>
              <a:spcBef>
                <a:spcPts val="0"/>
              </a:spcBef>
              <a:spcAft>
                <a:spcPts val="300"/>
              </a:spcAft>
              <a:defRPr sz="1000" b="0" i="0">
                <a:solidFill>
                  <a:srgbClr val="1E293B"/>
                </a:solidFill>
                <a:latin typeface="Calisto MT"/>
              </a:defRPr>
            </a:pPr>
            <a:r>
              <a:t>• Trained lightweight PyTorch MLP neural classifier (46 KB, sub-2ms CPU inference).</a:t>
            </a:r>
          </a:p>
          <a:p>
            <a:pPr algn="l">
              <a:lnSpc>
                <a:spcPct val="114000"/>
              </a:lnSpc>
              <a:spcBef>
                <a:spcPts val="0"/>
              </a:spcBef>
              <a:spcAft>
                <a:spcPts val="0"/>
              </a:spcAft>
              <a:defRPr sz="1000" b="0" i="0">
                <a:solidFill>
                  <a:srgbClr val="1E293B"/>
                </a:solidFill>
                <a:latin typeface="Calisto MT"/>
              </a:defRPr>
            </a:pPr>
            <a:r>
              <a:t>• Implemented 10-frame LSTM recurrent network for short-horizon human motion prediction.</a:t>
            </a:r>
          </a:p>
        </p:txBody>
      </p:sp>
      <p:sp>
        <p:nvSpPr>
          <p:cNvPr id="8" name="Meth_Arrow_R0_0"/>
          <p:cNvSpPr/>
          <p:nvPr/>
        </p:nvSpPr>
        <p:spPr>
          <a:xfrm>
            <a:off x="4096512" y="1298448"/>
            <a:ext cx="292608" cy="118872"/>
          </a:xfrm>
          <a:prstGeom prst="rightArrow">
            <a:avLst/>
          </a:prstGeom>
          <a:solidFill>
            <a:srgbClr val="B8860B"/>
          </a:solidFill>
          <a:ln>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eth_Arrow_R0_1"/>
          <p:cNvSpPr/>
          <p:nvPr/>
        </p:nvSpPr>
        <p:spPr>
          <a:xfrm>
            <a:off x="7799831" y="1298448"/>
            <a:ext cx="292608" cy="118872"/>
          </a:xfrm>
          <a:prstGeom prst="rightArrow">
            <a:avLst/>
          </a:prstGeom>
          <a:solidFill>
            <a:srgbClr val="B8860B"/>
          </a:solidFill>
          <a:ln>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th_Transition"/>
          <p:cNvSpPr txBox="1"/>
          <p:nvPr/>
        </p:nvSpPr>
        <p:spPr>
          <a:xfrm>
            <a:off x="1371600" y="3200400"/>
            <a:ext cx="9445752" cy="237744"/>
          </a:xfrm>
          <a:prstGeom prst="rect">
            <a:avLst/>
          </a:prstGeom>
          <a:noFill/>
        </p:spPr>
        <p:txBody>
          <a:bodyPr wrap="square" lIns="0" rIns="0" tIns="0" bIns="0">
            <a:spAutoFit/>
          </a:bodyPr>
          <a:lstStyle/>
          <a:p>
            <a:pPr algn="ctr">
              <a:lnSpc>
                <a:spcPct val="114000"/>
              </a:lnSpc>
              <a:spcBef>
                <a:spcPts val="0"/>
              </a:spcBef>
              <a:spcAft>
                <a:spcPts val="200"/>
              </a:spcAft>
              <a:defRPr sz="950" b="1" i="0">
                <a:solidFill>
                  <a:srgbClr val="64748B"/>
                </a:solidFill>
                <a:latin typeface="Calisto MT"/>
              </a:defRPr>
            </a:pPr>
            <a:r>
              <a:t>──  SEQUENTIAL PROGRESSION TO SUPERVISORY MIDDLEWARE &amp; NAVIGATION INTEGRATION  ──</a:t>
            </a:r>
          </a:p>
        </p:txBody>
      </p:sp>
      <p:sp>
        <p:nvSpPr>
          <p:cNvPr id="11" name="Meth_P4"/>
          <p:cNvSpPr txBox="1"/>
          <p:nvPr/>
        </p:nvSpPr>
        <p:spPr>
          <a:xfrm>
            <a:off x="777240" y="3520440"/>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400"/>
              </a:spcAft>
              <a:defRPr sz="1200" b="1" i="0">
                <a:solidFill>
                  <a:srgbClr val="002060"/>
                </a:solidFill>
                <a:latin typeface="Calisto MT"/>
              </a:defRPr>
            </a:pPr>
            <a:r>
              <a:t>Supervisory Control &amp; Safety</a:t>
            </a:r>
          </a:p>
          <a:p>
            <a:pPr algn="l">
              <a:lnSpc>
                <a:spcPct val="114000"/>
              </a:lnSpc>
              <a:spcBef>
                <a:spcPts val="0"/>
              </a:spcBef>
              <a:spcAft>
                <a:spcPts val="300"/>
              </a:spcAft>
              <a:defRPr sz="1000" b="0" i="0">
                <a:solidFill>
                  <a:srgbClr val="1E293B"/>
                </a:solidFill>
                <a:latin typeface="Calisto MT"/>
              </a:defRPr>
            </a:pPr>
            <a:r>
              <a:t>• Established centralized ROS 2 Humble node graph on dedicated communication Domain 20.</a:t>
            </a:r>
          </a:p>
          <a:p>
            <a:pPr algn="l">
              <a:lnSpc>
                <a:spcPct val="114000"/>
              </a:lnSpc>
              <a:spcBef>
                <a:spcPts val="0"/>
              </a:spcBef>
              <a:spcAft>
                <a:spcPts val="300"/>
              </a:spcAft>
              <a:defRPr sz="1000" b="0" i="0">
                <a:solidFill>
                  <a:srgbClr val="1E293B"/>
                </a:solidFill>
                <a:latin typeface="Calisto MT"/>
              </a:defRPr>
            </a:pPr>
            <a:r>
              <a:t>• Engineered brain_node state machine with 5-frame rolling consensus and visual servoing.</a:t>
            </a:r>
          </a:p>
          <a:p>
            <a:pPr algn="l">
              <a:lnSpc>
                <a:spcPct val="114000"/>
              </a:lnSpc>
              <a:spcBef>
                <a:spcPts val="0"/>
              </a:spcBef>
              <a:spcAft>
                <a:spcPts val="0"/>
              </a:spcAft>
              <a:defRPr sz="1000" b="0" i="0">
                <a:solidFill>
                  <a:srgbClr val="1E293B"/>
                </a:solidFill>
                <a:latin typeface="Calisto MT"/>
              </a:defRPr>
            </a:pPr>
            <a:r>
              <a:t>• Enforced priority velocity multiplexing (twist_mux) with 0.36m reactive laser safety stop.</a:t>
            </a:r>
          </a:p>
        </p:txBody>
      </p:sp>
      <p:sp>
        <p:nvSpPr>
          <p:cNvPr id="12" name="Meth_P5"/>
          <p:cNvSpPr txBox="1"/>
          <p:nvPr/>
        </p:nvSpPr>
        <p:spPr>
          <a:xfrm>
            <a:off x="4480560" y="3520440"/>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400"/>
              </a:spcAft>
              <a:defRPr sz="1200" b="1" i="0">
                <a:solidFill>
                  <a:srgbClr val="002060"/>
                </a:solidFill>
                <a:latin typeface="Calisto MT"/>
              </a:defRPr>
            </a:pPr>
            <a:r>
              <a:t>Metric SLAM &amp; Autonomous Navigation</a:t>
            </a:r>
          </a:p>
          <a:p>
            <a:pPr algn="l">
              <a:lnSpc>
                <a:spcPct val="114000"/>
              </a:lnSpc>
              <a:spcBef>
                <a:spcPts val="0"/>
              </a:spcBef>
              <a:spcAft>
                <a:spcPts val="300"/>
              </a:spcAft>
              <a:defRPr sz="1000" b="0" i="0">
                <a:solidFill>
                  <a:srgbClr val="1E293B"/>
                </a:solidFill>
                <a:latin typeface="Calisto MT"/>
              </a:defRPr>
            </a:pPr>
            <a:r>
              <a:t>• Generated high-fidelity 2D occupancy grid maps (5cm resolution) via slam_toolbox.</a:t>
            </a:r>
          </a:p>
          <a:p>
            <a:pPr algn="l">
              <a:lnSpc>
                <a:spcPct val="114000"/>
              </a:lnSpc>
              <a:spcBef>
                <a:spcPts val="0"/>
              </a:spcBef>
              <a:spcAft>
                <a:spcPts val="300"/>
              </a:spcAft>
              <a:defRPr sz="1000" b="0" i="0">
                <a:solidFill>
                  <a:srgbClr val="1E293B"/>
                </a:solidFill>
                <a:latin typeface="Calisto MT"/>
              </a:defRPr>
            </a:pPr>
            <a:r>
              <a:t>• Fused wheel odometry and 6-axis IMU through Extended Kalman Filter (EKF) localization.</a:t>
            </a:r>
          </a:p>
          <a:p>
            <a:pPr algn="l">
              <a:lnSpc>
                <a:spcPct val="114000"/>
              </a:lnSpc>
              <a:spcBef>
                <a:spcPts val="0"/>
              </a:spcBef>
              <a:spcAft>
                <a:spcPts val="0"/>
              </a:spcAft>
              <a:defRPr sz="1000" b="0" i="0">
                <a:solidFill>
                  <a:srgbClr val="1E293B"/>
                </a:solidFill>
                <a:latin typeface="Calisto MT"/>
              </a:defRPr>
            </a:pPr>
            <a:r>
              <a:t>• Configured Nav2 global and local costmaps with 0.25m obstacle inflation padding.</a:t>
            </a:r>
          </a:p>
        </p:txBody>
      </p:sp>
      <p:sp>
        <p:nvSpPr>
          <p:cNvPr id="13" name="Meth_P6"/>
          <p:cNvSpPr txBox="1"/>
          <p:nvPr/>
        </p:nvSpPr>
        <p:spPr>
          <a:xfrm>
            <a:off x="8183879" y="3520440"/>
            <a:ext cx="3227832" cy="1874519"/>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400"/>
              </a:spcAft>
              <a:defRPr sz="1200" b="1" i="0">
                <a:solidFill>
                  <a:srgbClr val="002060"/>
                </a:solidFill>
                <a:latin typeface="Calisto MT"/>
              </a:defRPr>
            </a:pPr>
            <a:r>
              <a:t>Empirical Benchmarking &amp; Validation</a:t>
            </a:r>
          </a:p>
          <a:p>
            <a:pPr algn="l">
              <a:lnSpc>
                <a:spcPct val="114000"/>
              </a:lnSpc>
              <a:spcBef>
                <a:spcPts val="0"/>
              </a:spcBef>
              <a:spcAft>
                <a:spcPts val="300"/>
              </a:spcAft>
              <a:defRPr sz="1000" b="0" i="0">
                <a:solidFill>
                  <a:srgbClr val="1E293B"/>
                </a:solidFill>
                <a:latin typeface="Calisto MT"/>
              </a:defRPr>
            </a:pPr>
            <a:r>
              <a:t>• Quantified end-to-end component latency budget at 74.2 ms (well under 150 ms threshold).</a:t>
            </a:r>
          </a:p>
          <a:p>
            <a:pPr algn="l">
              <a:lnSpc>
                <a:spcPct val="114000"/>
              </a:lnSpc>
              <a:spcBef>
                <a:spcPts val="0"/>
              </a:spcBef>
              <a:spcAft>
                <a:spcPts val="300"/>
              </a:spcAft>
              <a:defRPr sz="1000" b="0" i="0">
                <a:solidFill>
                  <a:srgbClr val="1E293B"/>
                </a:solidFill>
                <a:latin typeface="Calisto MT"/>
              </a:defRPr>
            </a:pPr>
            <a:r>
              <a:t>• Validated closed-loop control across 180 physical trials (96.67% real-world accuracy).</a:t>
            </a:r>
          </a:p>
          <a:p>
            <a:pPr algn="l">
              <a:lnSpc>
                <a:spcPct val="114000"/>
              </a:lnSpc>
              <a:spcBef>
                <a:spcPts val="0"/>
              </a:spcBef>
              <a:spcAft>
                <a:spcPts val="0"/>
              </a:spcAft>
              <a:defRPr sz="1000" b="0" i="0">
                <a:solidFill>
                  <a:srgbClr val="1E293B"/>
                </a:solidFill>
                <a:latin typeface="Calisto MT"/>
              </a:defRPr>
            </a:pPr>
            <a:r>
              <a:t>• Verified collaborative safety compliance under ISO 15066 (&lt;0.36m deterministic halt).</a:t>
            </a:r>
          </a:p>
        </p:txBody>
      </p:sp>
      <p:sp>
        <p:nvSpPr>
          <p:cNvPr id="14" name="Meth_Arrow_R1_0"/>
          <p:cNvSpPr/>
          <p:nvPr/>
        </p:nvSpPr>
        <p:spPr>
          <a:xfrm>
            <a:off x="4096512" y="3557016"/>
            <a:ext cx="292608" cy="118872"/>
          </a:xfrm>
          <a:prstGeom prst="rightArrow">
            <a:avLst/>
          </a:prstGeom>
          <a:solidFill>
            <a:srgbClr val="B8860B"/>
          </a:solidFill>
          <a:ln>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Meth_Arrow_R1_1"/>
          <p:cNvSpPr/>
          <p:nvPr/>
        </p:nvSpPr>
        <p:spPr>
          <a:xfrm>
            <a:off x="7799831" y="3557016"/>
            <a:ext cx="292608" cy="118872"/>
          </a:xfrm>
          <a:prstGeom prst="rightArrow">
            <a:avLst/>
          </a:prstGeom>
          <a:solidFill>
            <a:srgbClr val="B8860B"/>
          </a:solidFill>
          <a:ln>
            <a:solidFill>
              <a:srgbClr val="B886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