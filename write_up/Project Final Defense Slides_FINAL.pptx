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Img" descr="image.jpg"/>
          <p:cNvPicPr>
            <a:picLocks noChangeAspect="1"/>
          </p:cNvPicPr>
          <p:nvPr/>
        </p:nvPicPr>
        <p:blipFill>
          <a:blip r:embed="rId2"/>
          <a:stretch>
            <a:fillRect/>
          </a:stretch>
        </p:blipFill>
        <p:spPr>
          <a:xfrm>
            <a:off x="6839712" y="1261872"/>
            <a:ext cx="4572000" cy="3209544"/>
          </a:xfrm>
          <a:prstGeom prst="rect">
            <a:avLst/>
          </a:prstGeom>
        </p:spPr>
      </p:pic>
      <p:sp>
        <p:nvSpPr>
          <p:cNvPr id="7" name="Hw_Caption"/>
          <p:cNvSpPr txBox="1"/>
          <p:nvPr/>
        </p:nvSpPr>
        <p:spPr>
          <a:xfrm>
            <a:off x="6839712" y="4517136"/>
            <a:ext cx="4572000" cy="201168"/>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Assembled 4WD Mobile Robot with Active Vision &amp; 2D LiDAR</a:t>
            </a:r>
          </a:p>
        </p:txBody>
      </p:sp>
      <p:sp>
        <p:nvSpPr>
          <p:cNvPr id="8" name="Hw_Specs_Text"/>
          <p:cNvSpPr txBox="1"/>
          <p:nvPr/>
        </p:nvSpPr>
        <p:spPr>
          <a:xfrm>
            <a:off x="6839712" y="4773168"/>
            <a:ext cx="4572000" cy="804672"/>
          </a:xfrm>
          <a:prstGeom prst="rect">
            <a:avLst/>
          </a:prstGeom>
          <a:noFill/>
        </p:spPr>
        <p:txBody>
          <a:bodyPr wrap="square" lIns="0" rIns="0" tIns="0" bIns="0">
            <a:spAutoFit/>
          </a:bodyPr>
          <a:lstStyle/>
          <a:p>
            <a:pPr algn="l">
              <a:lnSpc>
                <a:spcPct val="112000"/>
              </a:lnSpc>
              <a:spcAft>
                <a:spcPts val="300"/>
              </a:spcAft>
            </a:pPr>
            <a:r>
              <a:rPr sz="950" b="1">
                <a:solidFill>
                  <a:srgbClr val="002060"/>
                </a:solidFill>
                <a:latin typeface="Calisto MT"/>
              </a:rPr>
              <a:t>• Dimensions &amp; Mass: </a:t>
            </a:r>
            <a:r>
              <a:rPr sz="950" b="0">
                <a:solidFill>
                  <a:srgbClr val="334155"/>
                </a:solidFill>
                <a:latin typeface="Calisto MT"/>
              </a:rPr>
              <a:t>220 × 180 × 165 mm | Total Platform Weight: 1.65 kg</a:t>
            </a:r>
          </a:p>
          <a:p>
            <a:pPr algn="l">
              <a:lnSpc>
                <a:spcPct val="112000"/>
              </a:lnSpc>
              <a:spcAft>
                <a:spcPts val="300"/>
              </a:spcAft>
            </a:pPr>
            <a:r>
              <a:rPr sz="950" b="1">
                <a:solidFill>
                  <a:srgbClr val="002060"/>
                </a:solidFill>
                <a:latin typeface="Calisto MT"/>
              </a:rPr>
              <a:t>• Operating Speeds: </a:t>
            </a:r>
            <a:r>
              <a:rPr sz="950" b="0">
                <a:solidFill>
                  <a:srgbClr val="334155"/>
                </a:solidFill>
                <a:latin typeface="Calisto MT"/>
              </a:rPr>
              <a:t>0.20 m/s cruise speed | ±0.50 rad/s rotation | 98 ms halt</a:t>
            </a:r>
          </a:p>
          <a:p>
            <a:pPr algn="l">
              <a:lnSpc>
                <a:spcPct val="112000"/>
              </a:lnSpc>
              <a:spcAft>
                <a:spcPts val="0"/>
              </a:spcAft>
            </a:pPr>
            <a:r>
              <a:rPr sz="950" b="1">
                <a:solidFill>
                  <a:srgbClr val="002060"/>
                </a:solidFill>
                <a:latin typeface="Calisto MT"/>
              </a:rPr>
              <a:t>• Power Isolation: </a:t>
            </a:r>
            <a:r>
              <a:rPr sz="950" b="0">
                <a:solidFill>
                  <a:srgbClr val="334155"/>
                </a:solidFill>
                <a:latin typeface="Calisto MT"/>
              </a:rPr>
              <a:t>7.4V Li-ion (2000 mAh) with dedicated 5V/5A buck converter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