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MODULAR ROS 2 HUMBLE MIDDLEWARE, TOPIC PIPELINES &amp; HARDWARE BRIDGE</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Middleware Core (ROS 2 Humble): </a:t>
            </a:r>
            <a:r>
              <a:rPr sz="1100" b="0">
                <a:solidFill>
                  <a:srgbClr val="334155"/>
                </a:solidFill>
                <a:latin typeface="Calisto MT"/>
              </a:rPr>
              <a:t>Distributed node graph operating on dedicated communication Domain 20 to eliminate cross-talk and network packet drops.</a:t>
            </a:r>
          </a:p>
          <a:p>
            <a:pPr algn="l">
              <a:lnSpc>
                <a:spcPct val="115000"/>
              </a:lnSpc>
              <a:spcAft>
                <a:spcPts val="800"/>
              </a:spcAft>
            </a:pPr>
            <a:r>
              <a:rPr sz="1100" b="1">
                <a:solidFill>
                  <a:srgbClr val="002060"/>
                </a:solidFill>
                <a:latin typeface="Calisto MT"/>
              </a:rPr>
              <a:t>• Topic-Based Dataflow: </a:t>
            </a:r>
            <a:r>
              <a:rPr sz="1100" b="0">
                <a:solidFill>
                  <a:srgbClr val="334155"/>
                </a:solidFill>
                <a:latin typeface="Calisto MT"/>
              </a:rPr>
              <a:t>Decouples sensor drivers from AI nodes using standardized publish/subscribe messages (/camera/image_raw at 20 FPS, /scan at 12.5 Hz).</a:t>
            </a:r>
          </a:p>
          <a:p>
            <a:pPr algn="l">
              <a:lnSpc>
                <a:spcPct val="115000"/>
              </a:lnSpc>
              <a:spcAft>
                <a:spcPts val="800"/>
              </a:spcAft>
            </a:pPr>
            <a:r>
              <a:rPr sz="1100" b="1">
                <a:solidFill>
                  <a:srgbClr val="002060"/>
                </a:solidFill>
                <a:latin typeface="Calisto MT"/>
              </a:rPr>
              <a:t>• Neural Perception Pipeline: </a:t>
            </a:r>
            <a:r>
              <a:rPr sz="1100" b="0">
                <a:solidFill>
                  <a:srgbClr val="334155"/>
                </a:solidFill>
                <a:latin typeface="Calisto MT"/>
              </a:rPr>
              <a:t>YOLOv8 isolates the operator in the central HUD; gesture_node extracts 21 hand landmarks and publishes /cognition/gesture.</a:t>
            </a:r>
          </a:p>
          <a:p>
            <a:pPr algn="l">
              <a:lnSpc>
                <a:spcPct val="115000"/>
              </a:lnSpc>
              <a:spcAft>
                <a:spcPts val="800"/>
              </a:spcAft>
            </a:pPr>
            <a:r>
              <a:rPr sz="1100" b="1">
                <a:solidFill>
                  <a:srgbClr val="002060"/>
                </a:solidFill>
                <a:latin typeface="Calisto MT"/>
              </a:rPr>
              <a:t>• Supervisory Consensus (brain_node): </a:t>
            </a:r>
            <a:r>
              <a:rPr sz="1100" b="0">
                <a:solidFill>
                  <a:srgbClr val="334155"/>
                </a:solidFill>
                <a:latin typeface="Calisto MT"/>
              </a:rPr>
              <a:t>Finite state machine requires 5 consecutive identical gesture frames before committing, filtering out accidental hand motions.</a:t>
            </a:r>
          </a:p>
          <a:p>
            <a:pPr algn="l">
              <a:lnSpc>
                <a:spcPct val="115000"/>
              </a:lnSpc>
              <a:spcAft>
                <a:spcPts val="800"/>
              </a:spcAft>
            </a:pPr>
            <a:r>
              <a:rPr sz="1100" b="1">
                <a:solidFill>
                  <a:srgbClr val="002060"/>
                </a:solidFill>
                <a:latin typeface="Calisto MT"/>
              </a:rPr>
              <a:t>• Priority Command Mux (twist_mux): </a:t>
            </a:r>
            <a:r>
              <a:rPr sz="1100" b="0">
                <a:solidFill>
                  <a:srgbClr val="334155"/>
                </a:solidFill>
                <a:latin typeface="Calisto MT"/>
              </a:rPr>
              <a:t>Hardware safety layer assigning absolute priority (100) to LiDAR obstacle halts over autonomous gesture driving commands (40).</a:t>
            </a:r>
          </a:p>
          <a:p>
            <a:pPr algn="l">
              <a:lnSpc>
                <a:spcPct val="115000"/>
              </a:lnSpc>
              <a:spcAft>
                <a:spcPts val="0"/>
              </a:spcAft>
            </a:pPr>
            <a:r>
              <a:rPr sz="1100" b="1">
                <a:solidFill>
                  <a:srgbClr val="002060"/>
                </a:solidFill>
                <a:latin typeface="Calisto MT"/>
              </a:rPr>
              <a:t>• Embedded micro-ROS Bridge: </a:t>
            </a:r>
            <a:r>
              <a:rPr sz="1100" b="0">
                <a:solidFill>
                  <a:srgbClr val="334155"/>
                </a:solidFill>
                <a:latin typeface="Calisto MT"/>
              </a:rPr>
              <a:t>Streams velocity setpoints across a high-speed 921,600 baud serial UART link to the ESP32-S3 real-time motor co-processor.</a:t>
            </a:r>
          </a:p>
        </p:txBody>
      </p:sp>
      <p:pic>
        <p:nvPicPr>
          <p:cNvPr id="6" name="Arch_Diagram_Img" descr="software_flowchart.png"/>
          <p:cNvPicPr>
            <a:picLocks noChangeAspect="1"/>
          </p:cNvPicPr>
          <p:nvPr/>
        </p:nvPicPr>
        <p:blipFill>
          <a:blip r:embed="rId4"/>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ROS 2 Software Node Flowchart &amp; Priority Decision Dataflow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