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7" r:id="rId2"/>
    <p:sldId id="354" r:id="rId3"/>
    <p:sldId id="555" r:id="rId4"/>
    <p:sldId id="558" r:id="rId5"/>
    <p:sldId id="561" r:id="rId6"/>
    <p:sldId id="562"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BEE616-86D3-4099-A968-B4A6BDE18D0F}">
          <p14:sldIdLst>
            <p14:sldId id="257"/>
            <p14:sldId id="354"/>
            <p14:sldId id="555"/>
            <p14:sldId id="558"/>
            <p14:sldId id="561"/>
          </p14:sldIdLst>
        </p14:section>
        <p14:section name="Untitled Section" id="{D22B2DA1-3DFA-46D2-BA1D-DAD7CC7F72F2}">
          <p14:sldIdLst/>
        </p14:section>
        <p14:section name="Untitled Section" id="{5930E777-D3D8-4E75-983C-AF214C42B144}">
          <p14:sldIdLst/>
        </p14:section>
      </p14:sectionLst>
    </p:ext>
    <p:ext uri="{EFAFB233-063F-42B5-8137-9DF3F51BA10A}">
      <p15:sldGuideLst xmlns:p15="http://schemas.microsoft.com/office/powerpoint/2012/main">
        <p15:guide id="1" orient="horz" pos="2199">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DF9433-C4BD-03CD-4185-8F7C4220F16F}" name="Owusu Agyeman Antwi" initials="OA" userId="0c4d93facfc3ac5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F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179" autoAdjust="0"/>
  </p:normalViewPr>
  <p:slideViewPr>
    <p:cSldViewPr snapToGrid="0">
      <p:cViewPr varScale="1">
        <p:scale>
          <a:sx n="82" d="100"/>
          <a:sy n="82" d="100"/>
        </p:scale>
        <p:origin x="720" y="72"/>
      </p:cViewPr>
      <p:guideLst>
        <p:guide orient="horz" pos="2199"/>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8/10/relationships/authors" Target="authors.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5482A5-FD59-4225-A350-DA787E19AAD6}" type="datetimeFigureOut">
              <a:rPr lang="en-US" smtClean="0"/>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E7C8E-9966-49AA-A950-642A59F8B08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90E7C8E-9966-49AA-A950-642A59F8B087}" type="slidenum">
              <a:rPr lang="en-US" smtClean="0"/>
              <a:t>1</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3D334C30-18F6-499E-B529-FBBBA5BA8601}" type="datetimeFigureOut">
              <a:rPr lang="en-US" smtClean="0"/>
              <a:t>12/5/2025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16EBCE5-9DE5-46EE-9318-4795EB416EE9}" type="slidenum">
              <a:rPr lang="en-US" smtClean="0"/>
              <a:t>‹#›</a:t>
            </a:fld>
            <a:endParaRPr lang="en-US"/>
          </a:p>
        </p:txBody>
      </p:sp>
      <p:sp>
        <p:nvSpPr>
          <p:cNvPr id="14" name="Content Placeholder 13"/>
          <p:cNvSpPr>
            <a:spLocks noGrp="1"/>
          </p:cNvSpPr>
          <p:nvPr>
            <p:ph sz="quarter" idx="13"/>
          </p:nvPr>
        </p:nvSpPr>
        <p:spPr>
          <a:xfrm>
            <a:off x="1712913" y="3832225"/>
            <a:ext cx="9186862" cy="1798638"/>
          </a:xfrm>
        </p:spPr>
        <p:txBody>
          <a:bodyPr/>
          <a:lstStyle>
            <a:lvl1pPr marL="0" indent="0">
              <a:buNone/>
              <a:defRPr/>
            </a:lvl1pPr>
          </a:lstStyle>
          <a:p>
            <a:pPr lvl="0"/>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a:xfrm>
            <a:off x="609600" y="6356351"/>
            <a:ext cx="2844800" cy="365125"/>
          </a:xfrm>
          <a:prstGeom prst="rect">
            <a:avLst/>
          </a:prstGeom>
        </p:spPr>
        <p:txBody>
          <a:bodyPr/>
          <a:lstStyle/>
          <a:p>
            <a:fld id="{365C8B60-5CF0-444C-8758-FD6AA4E3BF27}" type="datetime1">
              <a:rPr lang="en-GB" smtClean="0"/>
              <a:t>05/12/2025</a:t>
            </a:fld>
            <a:endParaRPr lang="en-GB" dirty="0"/>
          </a:p>
        </p:txBody>
      </p:sp>
      <p:sp>
        <p:nvSpPr>
          <p:cNvPr id="5" name="Footer Placeholder 4"/>
          <p:cNvSpPr>
            <a:spLocks noGrp="1"/>
          </p:cNvSpPr>
          <p:nvPr>
            <p:ph type="ftr" sz="quarter" idx="11"/>
          </p:nvPr>
        </p:nvSpPr>
        <p:spPr>
          <a:xfrm>
            <a:off x="4165600" y="6356351"/>
            <a:ext cx="3860800" cy="365125"/>
          </a:xfrm>
          <a:prstGeom prst="rect">
            <a:avLst/>
          </a:prstGeom>
        </p:spPr>
        <p:txBody>
          <a:bodyPr/>
          <a:lstStyle/>
          <a:p>
            <a:r>
              <a:rPr lang="en-GB" dirty="0"/>
              <a:t>....Linking Learners Everywhere 2013 All Rights Reserved</a:t>
            </a:r>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0DF291AF-424A-45FD-966C-A7A9D7595FCE}" type="slidenum">
              <a:rPr lang="en-GB" smtClean="0"/>
              <a:t>‹#›</a:t>
            </a:fld>
            <a:endParaRPr lang="en-GB"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CC">
            <a:alpha val="0"/>
          </a:srgbClr>
        </a:solidFill>
        <a:effectLst/>
      </p:bgPr>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038600" y="2334533"/>
            <a:ext cx="3309258" cy="3187020"/>
          </a:xfrm>
          <a:prstGeom prst="ellipse">
            <a:avLst/>
          </a:prstGeom>
          <a:ln>
            <a:noFill/>
          </a:ln>
          <a:effectLst>
            <a:softEdge rad="112500"/>
          </a:effectLst>
        </p:spPr>
      </p:pic>
      <p:sp>
        <p:nvSpPr>
          <p:cNvPr id="10" name="Rectangle 9"/>
          <p:cNvSpPr/>
          <p:nvPr userDrawn="1"/>
        </p:nvSpPr>
        <p:spPr>
          <a:xfrm>
            <a:off x="0" y="0"/>
            <a:ext cx="12192000" cy="6176963"/>
          </a:xfrm>
          <a:prstGeom prst="rect">
            <a:avLst/>
          </a:prstGeom>
          <a:solidFill>
            <a:srgbClr val="FFFFCC">
              <a:alpha val="8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p:cNvSpPr/>
          <p:nvPr userDrawn="1"/>
        </p:nvSpPr>
        <p:spPr>
          <a:xfrm>
            <a:off x="0" y="0"/>
            <a:ext cx="9144000" cy="185738"/>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9144000" y="0"/>
            <a:ext cx="3048000" cy="185738"/>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userDrawn="1"/>
        </p:nvSpPr>
        <p:spPr>
          <a:xfrm>
            <a:off x="0" y="6176963"/>
            <a:ext cx="12192000" cy="681037"/>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p:cNvPicPr>
            <a:picLocks noChangeAspect="1"/>
          </p:cNvPicPr>
          <p:nvPr userDrawn="1"/>
        </p:nvPicPr>
        <p:blipFill>
          <a:blip r:embed="rId5" cstate="print"/>
          <a:stretch>
            <a:fillRect/>
          </a:stretch>
        </p:blipFill>
        <p:spPr>
          <a:xfrm>
            <a:off x="8210550" y="6176963"/>
            <a:ext cx="3981450" cy="684907"/>
          </a:xfrm>
          <a:prstGeom prst="rect">
            <a:avLst/>
          </a:prstGeom>
          <a:ln>
            <a:noFill/>
          </a:ln>
          <a:effectLst>
            <a:softEdge rad="112500"/>
          </a:effectLst>
        </p:spPr>
      </p:pic>
    </p:spTree>
  </p:cSld>
  <p:clrMap bg1="dk1" tx1="lt1" bg2="dk2" tx2="lt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73486"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p:cNvSpPr/>
          <p:nvPr/>
        </p:nvSpPr>
        <p:spPr>
          <a:xfrm>
            <a:off x="5573486" y="0"/>
            <a:ext cx="348343" cy="6858001"/>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p:cNvSpPr/>
          <p:nvPr/>
        </p:nvSpPr>
        <p:spPr>
          <a:xfrm>
            <a:off x="5921654" y="0"/>
            <a:ext cx="6270040" cy="6858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wrap="square" lIns="365760" rIns="365760" tIns="320040" bIns="320040"/>
          <a:lstStyle/>
          <a:p>
            <a:pPr algn="ctr">
              <a:lnSpc>
                <a:spcPct val="115000"/>
              </a:lnSpc>
              <a:spcAft>
                <a:spcPts val="100"/>
              </a:spcAft>
              <a:defRPr sz="1400" b="1" i="0">
                <a:solidFill>
                  <a:srgbClr val="FDB813"/>
                </a:solidFill>
                <a:latin typeface="Calisto MT"/>
              </a:defRPr>
            </a:pPr>
            <a:r>
              <a:t>FACULTY OF ENGINEERING</a:t>
            </a:r>
            <a:endParaRPr lang="en-US" dirty="0">
              <a:solidFill>
                <a:schemeClr val="tx1"/>
              </a:solidFill>
              <a:latin typeface="Gill Sans MT" panose="020B0502020104020203" pitchFamily="34" charset="0"/>
              <a:cs typeface="Gill Sans MT" panose="020B0502020104020203" pitchFamily="34" charset="0"/>
            </a:endParaRPr>
          </a:p>
          <a:p>
            <a:pPr algn="ctr">
              <a:lnSpc>
                <a:spcPct val="115000"/>
              </a:lnSpc>
              <a:spcAft>
                <a:spcPts val="1400"/>
              </a:spcAft>
              <a:defRPr sz="1300" b="1" i="0">
                <a:solidFill>
                  <a:srgbClr val="E2E8F0"/>
                </a:solidFill>
                <a:latin typeface="Calisto MT"/>
              </a:defRPr>
            </a:pPr>
            <a:r>
              <a:t>DEPARTMENT OF COMPUTER ENGINEERING</a:t>
            </a:r>
          </a:p>
          <a:p>
            <a:pPr algn="ctr">
              <a:lnSpc>
                <a:spcPct val="115000"/>
              </a:lnSpc>
              <a:spcAft>
                <a:spcPts val="1200"/>
              </a:spcAft>
              <a:defRPr sz="1800" b="1" i="0">
                <a:solidFill>
                  <a:srgbClr val="FFFFFF"/>
                </a:solidFill>
                <a:latin typeface="Calisto MT"/>
              </a:defRPr>
            </a:pPr>
            <a:r>
              <a:t>DEVELOPMENT AND IMPLEMENTATION OF A ROBOTIC APPLICATION FOR HUMAN INTENTION RECOGNITION USING MOTION AND HAND GESTURE</a:t>
            </a:r>
          </a:p>
          <a:p>
            <a:pPr algn="ctr">
              <a:lnSpc>
                <a:spcPct val="115000"/>
              </a:lnSpc>
              <a:spcAft>
                <a:spcPts val="1800"/>
              </a:spcAft>
              <a:defRPr sz="1200" b="0" i="1">
                <a:solidFill>
                  <a:srgbClr val="E2E8F0"/>
                </a:solidFill>
                <a:latin typeface="Calisto MT"/>
              </a:defRPr>
            </a:pPr>
            <a:r>
              <a:t>A Final Project Report Submitted in Partial Fulfillment of the Requirements for the Degree of Bachelor of Science in Computer Engineering</a:t>
            </a:r>
          </a:p>
          <a:p>
            <a:pPr algn="ctr">
              <a:lnSpc>
                <a:spcPct val="115000"/>
              </a:lnSpc>
              <a:spcAft>
                <a:spcPts val="200"/>
              </a:spcAft>
              <a:defRPr sz="1200" b="1" i="0">
                <a:solidFill>
                  <a:srgbClr val="FDB813"/>
                </a:solidFill>
                <a:latin typeface="Calisto MT"/>
              </a:defRPr>
            </a:pPr>
            <a:r>
              <a:t>PRESENTATION BY:</a:t>
            </a:r>
          </a:p>
          <a:p>
            <a:pPr algn="ctr">
              <a:lnSpc>
                <a:spcPct val="115000"/>
              </a:lnSpc>
              <a:spcAft>
                <a:spcPts val="200"/>
              </a:spcAft>
              <a:defRPr sz="1350" b="1" i="0">
                <a:solidFill>
                  <a:srgbClr val="FFFFFF"/>
                </a:solidFill>
                <a:latin typeface="Calisto MT"/>
              </a:defRPr>
            </a:pPr>
            <a:r>
              <a:t>ELEANA OSEI OWUSU — 4121230024</a:t>
            </a:r>
          </a:p>
          <a:p>
            <a:pPr algn="ctr">
              <a:lnSpc>
                <a:spcPct val="115000"/>
              </a:lnSpc>
              <a:spcAft>
                <a:spcPts val="1600"/>
              </a:spcAft>
              <a:defRPr sz="1350" b="1" i="0">
                <a:solidFill>
                  <a:srgbClr val="FFFFFF"/>
                </a:solidFill>
                <a:latin typeface="Calisto MT"/>
              </a:defRPr>
            </a:pPr>
            <a:r>
              <a:t>JOEL NII ADJETEY AHULU — 4121230020</a:t>
            </a:r>
          </a:p>
          <a:p>
            <a:pPr algn="ctr">
              <a:lnSpc>
                <a:spcPct val="115000"/>
              </a:lnSpc>
              <a:spcAft>
                <a:spcPts val="200"/>
              </a:spcAft>
              <a:defRPr sz="1300" b="1" i="0">
                <a:solidFill>
                  <a:srgbClr val="FDB813"/>
                </a:solidFill>
                <a:latin typeface="Calisto MT"/>
              </a:defRPr>
            </a:pPr>
            <a:r>
              <a:t>SUPERVISOR: MR. MICHEAL XENYA</a:t>
            </a:r>
          </a:p>
          <a:p>
            <a:pPr algn="ctr">
              <a:lnSpc>
                <a:spcPct val="115000"/>
              </a:lnSpc>
              <a:spcAft>
                <a:spcPts val="0"/>
              </a:spcAft>
              <a:defRPr sz="1150" b="0" i="0">
                <a:solidFill>
                  <a:srgbClr val="E2E8F0"/>
                </a:solidFill>
                <a:latin typeface="Calisto MT"/>
              </a:defRPr>
            </a:pPr>
            <a:r>
              <a:t>ACADEMIC YEAR: 2025/2026</a:t>
            </a:r>
          </a:p>
        </p:txBody>
      </p:sp>
      <p:sp>
        <p:nvSpPr>
          <p:cNvPr id="2" name="Title 1"/>
          <p:cNvSpPr>
            <a:spLocks noGrp="1"/>
          </p:cNvSpPr>
          <p:nvPr>
            <p:ph type="ctrTitle"/>
          </p:nvPr>
        </p:nvSpPr>
        <p:spPr>
          <a:xfrm>
            <a:off x="5921829" y="5943600"/>
            <a:ext cx="6008913" cy="575187"/>
          </a:xfrm>
        </p:spPr>
        <p:txBody>
          <a:bodyPr>
            <a:normAutofit fontScale="90000"/>
          </a:bodyPr>
          <a:lstStyle/>
          <a:p>
            <a:pPr lvl="0" fontAlgn="base">
              <a:lnSpc>
                <a:spcPct val="200000"/>
              </a:lnSpc>
              <a:spcBef>
                <a:spcPts val="0"/>
              </a:spcBef>
              <a:buClr>
                <a:srgbClr val="000000"/>
              </a:buClr>
              <a:buSzPts val="1100"/>
            </a:pPr>
            <a:endParaRPr lang="en-US" sz="3200" b="1" dirty="0">
              <a:solidFill>
                <a:schemeClr val="tx1">
                  <a:lumMod val="95000"/>
                </a:schemeClr>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060" y="2658358"/>
            <a:ext cx="3995365" cy="3629319"/>
          </a:xfrm>
          <a:prstGeom prst="rect">
            <a:avLst/>
          </a:prstGeom>
        </p:spPr>
      </p:pic>
      <p:sp>
        <p:nvSpPr>
          <p:cNvPr id="10" name="TextBox 9"/>
          <p:cNvSpPr txBox="1"/>
          <p:nvPr/>
        </p:nvSpPr>
        <p:spPr>
          <a:xfrm>
            <a:off x="75414" y="210215"/>
            <a:ext cx="5846415" cy="2308324"/>
          </a:xfrm>
          <a:prstGeom prst="rect">
            <a:avLst/>
          </a:prstGeom>
          <a:noFill/>
        </p:spPr>
        <p:txBody>
          <a:bodyPr wrap="square" rtlCol="0">
            <a:spAutoFit/>
          </a:bodyPr>
          <a:lstStyle/>
          <a:p>
            <a:pPr algn="ctr"/>
            <a:r>
              <a:rPr lang="en-US" sz="3600" b="1" dirty="0">
                <a:solidFill>
                  <a:srgbClr val="002060"/>
                </a:solidFill>
                <a:latin typeface="Gill Sans MT" panose="020B0502020104020203" pitchFamily="34" charset="0"/>
                <a:ea typeface="Tahoma" panose="020B0604030504040204" pitchFamily="34" charset="0"/>
                <a:cs typeface="Arial" panose="020B0604020202020204" pitchFamily="34" charset="0"/>
              </a:rPr>
              <a:t>GHANA COMMUNICATION TECHNOLOGY UNIVERSITY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913169"/>
          </a:xfrm>
        </p:spPr>
        <p:txBody>
          <a:bodyPr>
            <a:normAutofit/>
          </a:bodyPr>
          <a:lstStyle/>
          <a:p>
            <a:pPr algn="ctr">
              <a:lnSpc>
                <a:spcPct val="115000"/>
              </a:lnSpc>
              <a:spcBef>
                <a:spcPts val="0"/>
              </a:spcBef>
              <a:spcAft>
                <a:spcPts val="200"/>
              </a:spcAft>
              <a:defRPr sz="2800" b="1" i="0">
                <a:solidFill>
                  <a:srgbClr val="002060"/>
                </a:solidFill>
                <a:latin typeface="Calisto MT"/>
              </a:defRPr>
            </a:pPr>
            <a:r>
              <a:t>PRESENTATION OUTLINE</a:t>
            </a:r>
            <a:endParaRPr lang="en-GB" sz="4000" b="1" u="sng" dirty="0">
              <a:solidFill>
                <a:srgbClr val="C00000"/>
              </a:solidFill>
              <a:latin typeface="Gill Sans MT" panose="020B0502020104020203" pitchFamily="34" charset="0"/>
              <a:ea typeface="Tahoma" panose="020B0604030504040204" pitchFamily="34" charset="0"/>
              <a:cs typeface="Times New Roman" panose="02020603050405020304" pitchFamily="18" charset="0"/>
              <a:sym typeface="+mn-ea"/>
            </a:endParaRPr>
          </a:p>
        </p:txBody>
      </p:sp>
      <p:sp>
        <p:nvSpPr>
          <p:cNvPr id="5" name="Content Placeholder 4"/>
          <p:cNvSpPr>
            <a:spLocks noGrp="1"/>
          </p:cNvSpPr>
          <p:nvPr>
            <p:ph idx="1"/>
          </p:nvPr>
        </p:nvSpPr>
        <p:spPr>
          <a:xfrm>
            <a:off x="278364" y="1362269"/>
            <a:ext cx="11635272" cy="4693713"/>
          </a:xfrm>
        </p:spPr>
        <p:txBody>
          <a:bodyPr>
            <a:noAutofit/>
          </a:bodyPr>
          <a:lstStyle/>
          <a:p>
            <a:pPr>
              <a:buFont typeface="Wingdings" panose="05000000000000000000" pitchFamily="2" charset="2"/>
              <a:buChar char="§"/>
            </a:pPr>
            <a:endParaRPr lang="en-US" sz="2400" dirty="0">
              <a:latin typeface="Gill Sans MT" panose="020B0502020104020203" pitchFamily="34" charset="0"/>
              <a:cs typeface="Gill Sans MT" panose="020B0502020104020203" pitchFamily="34" charset="0"/>
            </a:endParaRPr>
          </a:p>
        </p:txBody>
      </p:sp>
      <p:sp>
        <p:nvSpPr>
          <p:cNvPr id="6" name="Outline_Box"/>
          <p:cNvSpPr txBox="1"/>
          <p:nvPr/>
        </p:nvSpPr>
        <p:spPr>
          <a:xfrm>
            <a:off x="1371600" y="1645920"/>
            <a:ext cx="9445752" cy="4114800"/>
          </a:xfrm>
          <a:prstGeom prst="rect">
            <a:avLst/>
          </a:prstGeom>
          <a:noFill/>
        </p:spPr>
        <p:txBody>
          <a:bodyPr wrap="square" tIns="91440" bIns="91440">
            <a:spAutoFit/>
          </a:bodyPr>
          <a:lstStyle/>
          <a:p>
            <a:pPr algn="l">
              <a:lnSpc>
                <a:spcPct val="120000"/>
              </a:lnSpc>
              <a:spcAft>
                <a:spcPts val="1800"/>
              </a:spcAft>
              <a:defRPr sz="2400" b="1">
                <a:solidFill>
                  <a:srgbClr val="002060"/>
                </a:solidFill>
                <a:latin typeface="Calisto MT"/>
              </a:defRPr>
            </a:pPr>
            <a:r>
              <a:t>01. Introduction, Problem Statement &amp; Objectives</a:t>
            </a:r>
          </a:p>
          <a:p>
            <a:pPr algn="l">
              <a:lnSpc>
                <a:spcPct val="120000"/>
              </a:lnSpc>
              <a:spcAft>
                <a:spcPts val="1800"/>
              </a:spcAft>
              <a:defRPr sz="2400" b="1">
                <a:solidFill>
                  <a:srgbClr val="002060"/>
                </a:solidFill>
                <a:latin typeface="Calisto MT"/>
              </a:defRPr>
            </a:pPr>
            <a:r>
              <a:t>02. Literature Review &amp; Critical Research Gaps</a:t>
            </a:r>
          </a:p>
          <a:p>
            <a:pPr algn="l">
              <a:lnSpc>
                <a:spcPct val="120000"/>
              </a:lnSpc>
              <a:spcAft>
                <a:spcPts val="1800"/>
              </a:spcAft>
              <a:defRPr sz="2400" b="1">
                <a:solidFill>
                  <a:srgbClr val="002060"/>
                </a:solidFill>
                <a:latin typeface="Calisto MT"/>
              </a:defRPr>
            </a:pPr>
            <a:r>
              <a:t>03. System Architecture &amp; 6-Phase Methodology</a:t>
            </a:r>
          </a:p>
          <a:p>
            <a:pPr algn="l">
              <a:lnSpc>
                <a:spcPct val="120000"/>
              </a:lnSpc>
              <a:spcAft>
                <a:spcPts val="1800"/>
              </a:spcAft>
              <a:defRPr sz="2400" b="1">
                <a:solidFill>
                  <a:srgbClr val="002060"/>
                </a:solidFill>
                <a:latin typeface="Calisto MT"/>
              </a:defRPr>
            </a:pPr>
            <a:r>
              <a:t>04. Implementation &amp; Intelligent Algorithms</a:t>
            </a:r>
          </a:p>
          <a:p>
            <a:pPr algn="l">
              <a:lnSpc>
                <a:spcPct val="120000"/>
              </a:lnSpc>
              <a:spcAft>
                <a:spcPts val="1800"/>
              </a:spcAft>
              <a:defRPr sz="2400" b="1">
                <a:solidFill>
                  <a:srgbClr val="002060"/>
                </a:solidFill>
                <a:latin typeface="Calisto MT"/>
              </a:defRPr>
            </a:pPr>
            <a:r>
              <a:t>05. Experimental Results &amp; ISO Safety Compliance</a:t>
            </a:r>
          </a:p>
          <a:p>
            <a:pPr algn="l">
              <a:lnSpc>
                <a:spcPct val="120000"/>
              </a:lnSpc>
              <a:spcAft>
                <a:spcPts val="1800"/>
              </a:spcAft>
              <a:defRPr sz="2400" b="1">
                <a:solidFill>
                  <a:srgbClr val="002060"/>
                </a:solidFill>
                <a:latin typeface="Calisto MT"/>
              </a:defRPr>
            </a:pPr>
            <a:r>
              <a:t>06. Conclusion &amp; Physical Demonstration Transition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26557"/>
          </a:xfrm>
        </p:spPr>
        <p:txBody>
          <a:bodyPr>
            <a:normAutofit/>
          </a:bodyPr>
          <a:lstStyle/>
          <a:p>
            <a:pPr algn="ctr">
              <a:lnSpc>
                <a:spcPct val="115000"/>
              </a:lnSpc>
              <a:spcBef>
                <a:spcPts val="0"/>
              </a:spcBef>
              <a:spcAft>
                <a:spcPts val="200"/>
              </a:spcAft>
              <a:defRPr sz="2800" b="1" i="0">
                <a:solidFill>
                  <a:srgbClr val="002060"/>
                </a:solidFill>
                <a:latin typeface="Calisto MT"/>
              </a:defRPr>
            </a:pPr>
            <a:r>
              <a:t>01. INTRODUCTION &amp; RESEARCH BACKGROUND</a:t>
            </a:r>
            <a:endParaRPr lang="en-US" sz="4000" b="1" u="sng" dirty="0">
              <a:gradFill>
                <a:gsLst>
                  <a:gs pos="0">
                    <a:srgbClr val="E30000"/>
                  </a:gs>
                  <a:gs pos="100000">
                    <a:srgbClr val="760303"/>
                  </a:gs>
                </a:gsLst>
                <a:lin scaled="0"/>
              </a:gradFill>
              <a:latin typeface="Gill Sans MT" panose="020B0502020104020203" pitchFamily="34" charset="0"/>
              <a:cs typeface="Gill Sans MT" panose="020B0502020104020203" pitchFamily="34" charset="0"/>
            </a:endParaRPr>
          </a:p>
        </p:txBody>
      </p:sp>
      <p:sp>
        <p:nvSpPr>
          <p:cNvPr id="3" name="Content Placeholder 2"/>
          <p:cNvSpPr>
            <a:spLocks noGrp="1"/>
          </p:cNvSpPr>
          <p:nvPr>
            <p:ph idx="1"/>
          </p:nvPr>
        </p:nvSpPr>
        <p:spPr>
          <a:xfrm>
            <a:off x="410547" y="1231642"/>
            <a:ext cx="11364686" cy="4945322"/>
          </a:xfrm>
        </p:spPr>
        <p:txBody>
          <a:bodyPr>
            <a:normAutofit/>
          </a:bodyPr>
          <a:lstStyle/>
          <a:p>
            <a:pPr>
              <a:buFont typeface="Wingdings" panose="05000000000000000000" pitchFamily="2" charset="2"/>
              <a:buChar char="§"/>
            </a:pPr>
            <a:endParaRPr lang="en-US" sz="2000" dirty="0">
              <a:latin typeface="Gill Sans MT" panose="020B0502020104020203" pitchFamily="34" charset="0"/>
              <a:cs typeface="Gill Sans MT" panose="020B0502020104020203" pitchFamily="34" charset="0"/>
            </a:endParaRPr>
          </a:p>
        </p:txBody>
      </p:sp>
      <p:sp>
        <p:nvSpPr>
          <p:cNvPr id="4" name="Intro_Text"/>
          <p:cNvSpPr txBox="1"/>
          <p:nvPr/>
        </p:nvSpPr>
        <p:spPr>
          <a:xfrm>
            <a:off x="777240" y="1325880"/>
            <a:ext cx="6263640" cy="4480560"/>
          </a:xfrm>
          <a:prstGeom prst="rect">
            <a:avLst/>
          </a:prstGeom>
          <a:noFill/>
        </p:spPr>
        <p:txBody>
          <a:bodyPr wrap="square" tIns="91440" bIns="91440">
            <a:spAutoFit/>
          </a:bodyPr>
          <a:lstStyle/>
          <a:p>
            <a:pPr algn="l">
              <a:lnSpc>
                <a:spcPct val="115000"/>
              </a:lnSpc>
              <a:spcBef>
                <a:spcPts val="0"/>
              </a:spcBef>
              <a:spcAft>
                <a:spcPts val="300"/>
              </a:spcAft>
              <a:defRPr sz="1800" b="1" i="0">
                <a:solidFill>
                  <a:srgbClr val="002060"/>
                </a:solidFill>
                <a:latin typeface="Calisto MT"/>
              </a:defRPr>
            </a:pPr>
            <a:r>
              <a:t>Robots Working Directly with Humans</a:t>
            </a:r>
          </a:p>
          <a:p>
            <a:pPr algn="l">
              <a:lnSpc>
                <a:spcPct val="118000"/>
              </a:lnSpc>
              <a:spcBef>
                <a:spcPts val="0"/>
              </a:spcBef>
              <a:spcAft>
                <a:spcPts val="1400"/>
              </a:spcAft>
              <a:defRPr sz="1500" b="0" i="0">
                <a:solidFill>
                  <a:srgbClr val="1E293B"/>
                </a:solidFill>
                <a:latin typeface="Calisto MT"/>
              </a:defRPr>
            </a:pPr>
            <a:r>
              <a:t>Robots are leaving safety cages to work alongside people in hospitals, warehouses, and homes. For humans and robots to coexist safely, the robot must understand where people are and respect their personal space.</a:t>
            </a:r>
          </a:p>
          <a:p>
            <a:pPr algn="l">
              <a:lnSpc>
                <a:spcPct val="115000"/>
              </a:lnSpc>
              <a:spcBef>
                <a:spcPts val="0"/>
              </a:spcBef>
              <a:spcAft>
                <a:spcPts val="300"/>
              </a:spcAft>
              <a:defRPr sz="1800" b="1" i="0">
                <a:solidFill>
                  <a:srgbClr val="002060"/>
                </a:solidFill>
                <a:latin typeface="Calisto MT"/>
              </a:defRPr>
            </a:pPr>
            <a:r>
              <a:t>Natural, Hands-Free Interaction</a:t>
            </a:r>
          </a:p>
          <a:p>
            <a:pPr algn="l">
              <a:lnSpc>
                <a:spcPct val="118000"/>
              </a:lnSpc>
              <a:spcBef>
                <a:spcPts val="0"/>
              </a:spcBef>
              <a:spcAft>
                <a:spcPts val="1400"/>
              </a:spcAft>
              <a:defRPr sz="1500" b="0" i="0">
                <a:solidFill>
                  <a:srgbClr val="1E293B"/>
                </a:solidFill>
                <a:latin typeface="Calisto MT"/>
              </a:defRPr>
            </a:pPr>
            <a:r>
              <a:t>Instead of requiring handheld controllers, touchscreens, or keyboards, humans can guide the robot using natural hand gestures and body movement—just like signaling to a human coworker.</a:t>
            </a:r>
          </a:p>
          <a:p>
            <a:pPr algn="l">
              <a:lnSpc>
                <a:spcPct val="115000"/>
              </a:lnSpc>
              <a:spcBef>
                <a:spcPts val="0"/>
              </a:spcBef>
              <a:spcAft>
                <a:spcPts val="300"/>
              </a:spcAft>
              <a:defRPr sz="1800" b="1" i="0">
                <a:solidFill>
                  <a:srgbClr val="002060"/>
                </a:solidFill>
                <a:latin typeface="Calisto MT"/>
              </a:defRPr>
            </a:pPr>
            <a:r>
              <a:t>Fast Onboard Intelligence (No Cloud Lag)</a:t>
            </a:r>
          </a:p>
          <a:p>
            <a:pPr algn="l">
              <a:lnSpc>
                <a:spcPct val="118000"/>
              </a:lnSpc>
              <a:spcBef>
                <a:spcPts val="0"/>
              </a:spcBef>
              <a:spcAft>
                <a:spcPts val="0"/>
              </a:spcAft>
              <a:defRPr sz="1500" b="0" i="0">
                <a:solidFill>
                  <a:srgbClr val="1E293B"/>
                </a:solidFill>
                <a:latin typeface="Calisto MT"/>
              </a:defRPr>
            </a:pPr>
            <a:r>
              <a:t>Sending live video over the internet causes dangerous delays (&gt;200 ms) and fails when Wi-Fi drops. In this project, all AI recognition and navigation decisions happen entirely inside the robot in real time.</a:t>
            </a:r>
          </a:p>
        </p:txBody>
      </p:sp>
      <p:pic>
        <p:nvPicPr>
          <p:cNvPr id="5" name="Intro_Image" descr="shared_workspace_human_robot.jpg"/>
          <p:cNvPicPr>
            <a:picLocks noChangeAspect="1"/>
          </p:cNvPicPr>
          <p:nvPr/>
        </p:nvPicPr>
        <p:blipFill>
          <a:blip r:embed="rId3"/>
          <a:stretch>
            <a:fillRect/>
          </a:stretch>
        </p:blipFill>
        <p:spPr>
          <a:xfrm>
            <a:off x="7315200" y="1417320"/>
            <a:ext cx="4206240" cy="3154680"/>
          </a:xfrm>
          <a:prstGeom prst="rect">
            <a:avLst/>
          </a:prstGeom>
        </p:spPr>
      </p:pic>
      <p:sp>
        <p:nvSpPr>
          <p:cNvPr id="6" name="Intro_Caption"/>
          <p:cNvSpPr txBox="1"/>
          <p:nvPr/>
        </p:nvSpPr>
        <p:spPr>
          <a:xfrm>
            <a:off x="7315200" y="4681728"/>
            <a:ext cx="4206240" cy="731520"/>
          </a:xfrm>
          <a:prstGeom prst="rect">
            <a:avLst/>
          </a:prstGeom>
          <a:noFill/>
        </p:spPr>
        <p:txBody>
          <a:bodyPr wrap="square" lIns="45720" rIns="45720">
            <a:spAutoFit/>
          </a:bodyPr>
          <a:lstStyle/>
          <a:p>
            <a:pPr algn="ctr">
              <a:lnSpc>
                <a:spcPct val="115000"/>
              </a:lnSpc>
              <a:spcBef>
                <a:spcPts val="0"/>
              </a:spcBef>
              <a:spcAft>
                <a:spcPts val="200"/>
              </a:spcAft>
              <a:defRPr sz="1200" b="0" i="1">
                <a:solidFill>
                  <a:srgbClr val="475569"/>
                </a:solidFill>
                <a:latin typeface="Calisto MT"/>
              </a:defRPr>
            </a:pPr>
            <a:r>
              <a:t>Figure 1.1: Collaborative Human-Robot Interaction (HRI) in an industrial shared workspace, illustrating contactless gesture coordination.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863"/>
          </a:xfrm>
        </p:spPr>
        <p:txBody>
          <a:bodyPr>
            <a:normAutofit/>
          </a:bodyPr>
          <a:lstStyle/>
          <a:p>
            <a:pPr algn="ctr">
              <a:lnSpc>
                <a:spcPct val="115000"/>
              </a:lnSpc>
              <a:spcBef>
                <a:spcPts val="0"/>
              </a:spcBef>
              <a:spcAft>
                <a:spcPts val="200"/>
              </a:spcAft>
              <a:defRPr sz="2800" b="1" i="0">
                <a:solidFill>
                  <a:srgbClr val="002060"/>
                </a:solidFill>
                <a:latin typeface="Calisto MT"/>
              </a:defRPr>
            </a:pPr>
            <a:r>
              <a:t>02. PROBLEM STATEMENT</a:t>
            </a:r>
            <a:endParaRPr lang="en-US" sz="4000" b="1" u="sng" dirty="0">
              <a:solidFill>
                <a:srgbClr val="C00000"/>
              </a:solidFill>
              <a:latin typeface="Gill Sans MT" panose="020B0502020104020203" pitchFamily="34" charset="0"/>
              <a:cs typeface="Times New Roman" panose="02020603050405020304" pitchFamily="18" charset="0"/>
            </a:endParaRPr>
          </a:p>
        </p:txBody>
      </p:sp>
      <p:sp>
        <p:nvSpPr>
          <p:cNvPr id="3" name="Content Placeholder 2"/>
          <p:cNvSpPr>
            <a:spLocks noGrp="1"/>
          </p:cNvSpPr>
          <p:nvPr>
            <p:ph idx="1"/>
          </p:nvPr>
        </p:nvSpPr>
        <p:spPr>
          <a:xfrm>
            <a:off x="326571" y="1343608"/>
            <a:ext cx="11420670" cy="4833355"/>
          </a:xfrm>
        </p:spPr>
        <p:txBody>
          <a:bodyPr>
            <a:normAutofit/>
          </a:bodyPr>
          <a:lstStyle/>
          <a:p>
            <a:pPr>
              <a:buFont typeface="Wingdings" panose="05000000000000000000" pitchFamily="2" charset="2"/>
              <a:buChar char="§"/>
            </a:pPr>
            <a:endParaRPr lang="en-US" sz="4400" dirty="0">
              <a:latin typeface="Gill Sans MT" panose="020B0502020104020203" pitchFamily="34" charset="0"/>
              <a:cs typeface="Times New Roman" panose="02020603050405020304" pitchFamily="18" charset="0"/>
            </a:endParaRPr>
          </a:p>
        </p:txBody>
      </p:sp>
      <p:sp>
        <p:nvSpPr>
          <p:cNvPr id="4" name="Prob_Core"/>
          <p:cNvSpPr txBox="1"/>
          <p:nvPr/>
        </p:nvSpPr>
        <p:spPr>
          <a:xfrm>
            <a:off x="777240" y="1234440"/>
            <a:ext cx="10634472" cy="2011680"/>
          </a:xfrm>
          <a:prstGeom prst="rect">
            <a:avLst/>
          </a:prstGeom>
          <a:noFill/>
        </p:spPr>
        <p:txBody>
          <a:bodyPr wrap="square">
            <a:spAutoFit/>
          </a:bodyPr>
          <a:lstStyle/>
          <a:p>
            <a:pPr algn="ctr">
              <a:lnSpc>
                <a:spcPct val="120000"/>
              </a:lnSpc>
              <a:spcBef>
                <a:spcPts val="0"/>
              </a:spcBef>
              <a:spcAft>
                <a:spcPts val="1200"/>
              </a:spcAft>
              <a:defRPr sz="2100" b="0" i="0">
                <a:solidFill>
                  <a:srgbClr val="1E293B"/>
                </a:solidFill>
                <a:latin typeface="Calisto MT"/>
              </a:defRPr>
            </a:pPr>
            <a:r>
              <a:t>Current mobile robots separate vision recognition from active navigation, relying on remote cloud servers that suffer from high network lag (&gt;200 ms) and connection dropouts.</a:t>
            </a:r>
          </a:p>
          <a:p>
            <a:pPr algn="ctr">
              <a:lnSpc>
                <a:spcPct val="120000"/>
              </a:lnSpc>
              <a:spcBef>
                <a:spcPts val="0"/>
              </a:spcBef>
              <a:spcAft>
                <a:spcPts val="0"/>
              </a:spcAft>
              <a:defRPr sz="2100" b="0" i="0">
                <a:solidFill>
                  <a:srgbClr val="1E293B"/>
                </a:solidFill>
                <a:latin typeface="Calisto MT"/>
              </a:defRPr>
            </a:pPr>
            <a:r>
              <a:t>In shared human-robot workspaces, this delay prevents robots from reacting in real time to human gestures, creating severe collision hazards under ISO 15066 safety standards.</a:t>
            </a:r>
          </a:p>
        </p:txBody>
      </p:sp>
      <p:sp>
        <p:nvSpPr>
          <p:cNvPr id="5" name="Prob_Card_0"/>
          <p:cNvSpPr/>
          <p:nvPr/>
        </p:nvSpPr>
        <p:spPr>
          <a:xfrm>
            <a:off x="7772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PERCEPTION-ACTION GAP</a:t>
            </a:r>
          </a:p>
          <a:p>
            <a:pPr algn="ctr">
              <a:lnSpc>
                <a:spcPct val="118000"/>
              </a:lnSpc>
              <a:spcBef>
                <a:spcPts val="0"/>
              </a:spcBef>
              <a:spcAft>
                <a:spcPts val="200"/>
              </a:spcAft>
              <a:defRPr sz="1300" b="0" i="0">
                <a:solidFill>
                  <a:srgbClr val="1E293B"/>
                </a:solidFill>
                <a:latin typeface="Calisto MT"/>
              </a:defRPr>
            </a:pPr>
            <a:r>
              <a:t>Vision AI isolated from wheel motors &amp; obstacle avoidance</a:t>
            </a:r>
            <a:br/>
            <a:r>
              <a:t>(Tsitos et al., 2022)</a:t>
            </a:r>
          </a:p>
        </p:txBody>
      </p:sp>
      <p:sp>
        <p:nvSpPr>
          <p:cNvPr id="6" name="Prob_Card_1"/>
          <p:cNvSpPr/>
          <p:nvPr/>
        </p:nvSpPr>
        <p:spPr>
          <a:xfrm>
            <a:off x="44348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CLOUD LATENCY HAZARD</a:t>
            </a:r>
          </a:p>
          <a:p>
            <a:pPr algn="ctr">
              <a:lnSpc>
                <a:spcPct val="118000"/>
              </a:lnSpc>
              <a:spcBef>
                <a:spcPts val="0"/>
              </a:spcBef>
              <a:spcAft>
                <a:spcPts val="200"/>
              </a:spcAft>
              <a:defRPr sz="1300" b="0" i="0">
                <a:solidFill>
                  <a:srgbClr val="1E293B"/>
                </a:solidFill>
                <a:latin typeface="Calisto MT"/>
              </a:defRPr>
            </a:pPr>
            <a:r>
              <a:t>Network lag &gt; 200 ms &amp; Wi-Fi drops violate ISO 15066 safe stopping margins</a:t>
            </a:r>
          </a:p>
        </p:txBody>
      </p:sp>
      <p:sp>
        <p:nvSpPr>
          <p:cNvPr id="7" name="Prob_Card_2"/>
          <p:cNvSpPr/>
          <p:nvPr/>
        </p:nvSpPr>
        <p:spPr>
          <a:xfrm>
            <a:off x="80924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EDGE COMPUTING LIMIT</a:t>
            </a:r>
          </a:p>
          <a:p>
            <a:pPr algn="ctr">
              <a:lnSpc>
                <a:spcPct val="118000"/>
              </a:lnSpc>
              <a:spcBef>
                <a:spcPts val="0"/>
              </a:spcBef>
              <a:spcAft>
                <a:spcPts val="200"/>
              </a:spcAft>
              <a:defRPr sz="1300" b="0" i="0">
                <a:solidFill>
                  <a:srgbClr val="1E293B"/>
                </a:solidFill>
                <a:latin typeface="Calisto MT"/>
              </a:defRPr>
            </a:pPr>
            <a:r>
              <a:t>Heavy vision AI overheats mobile chips; demands a sub-135 ms onboard pipeline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5D8E2-4F8C-64A5-14D0-AC29A3DF1480}"/>
              </a:ext>
            </a:extLst>
          </p:cNvPr>
          <p:cNvSpPr>
            <a:spLocks noGrp="1"/>
          </p:cNvSpPr>
          <p:nvPr>
            <p:ph type="title"/>
          </p:nvPr>
        </p:nvSpPr>
        <p:spPr>
          <a:xfrm>
            <a:off x="838200" y="365126"/>
            <a:ext cx="10515600" cy="959822"/>
          </a:xfrm>
        </p:spPr>
        <p:txBody>
          <a:bodyPr>
            <a:normAutofit/>
          </a:bodyPr>
          <a:lstStyle/>
          <a:p>
            <a:pPr algn="ctr">
              <a:lnSpc>
                <a:spcPct val="115000"/>
              </a:lnSpc>
              <a:spcBef>
                <a:spcPts val="0"/>
              </a:spcBef>
              <a:spcAft>
                <a:spcPts val="200"/>
              </a:spcAft>
              <a:defRPr sz="2800" b="1" i="0">
                <a:solidFill>
                  <a:srgbClr val="002060"/>
                </a:solidFill>
                <a:latin typeface="Calisto MT"/>
              </a:defRPr>
            </a:pPr>
            <a:r>
              <a:t>03. PROJECT OBJECTIVES</a:t>
            </a:r>
            <a:endParaRPr lang="en-US" sz="4000" b="1" u="sng" dirty="0">
              <a:solidFill>
                <a:srgbClr val="C00000"/>
              </a:solidFill>
              <a:latin typeface="Gill Sans MT" panose="020B0502020104020203" pitchFamily="34" charset="0"/>
            </a:endParaRPr>
          </a:p>
        </p:txBody>
      </p:sp>
      <p:sp>
        <p:nvSpPr>
          <p:cNvPr id="3" name="Content Placeholder 2">
            <a:extLst>
              <a:ext uri="{FF2B5EF4-FFF2-40B4-BE49-F238E27FC236}">
                <a16:creationId xmlns:a16="http://schemas.microsoft.com/office/drawing/2014/main" id="{EA278EA5-37CB-3495-D1CC-8784768C09CA}"/>
              </a:ext>
            </a:extLst>
          </p:cNvPr>
          <p:cNvSpPr>
            <a:spLocks noGrp="1"/>
          </p:cNvSpPr>
          <p:nvPr>
            <p:ph idx="1"/>
          </p:nvPr>
        </p:nvSpPr>
        <p:spPr>
          <a:xfrm>
            <a:off x="438539" y="1324948"/>
            <a:ext cx="11168743" cy="4852015"/>
          </a:xfrm>
        </p:spPr>
        <p:txBody>
          <a:bodyPr>
            <a:normAutofit/>
          </a:bodyPr>
          <a:lstStyle/>
          <a:p>
            <a:endParaRPr lang="en-US" dirty="0"/>
          </a:p>
        </p:txBody>
      </p:sp>
      <p:sp>
        <p:nvSpPr>
          <p:cNvPr id="4" name="Obj_Gen_Text"/>
          <p:cNvSpPr txBox="1"/>
          <p:nvPr/>
        </p:nvSpPr>
        <p:spPr>
          <a:xfrm>
            <a:off x="914400" y="1143000"/>
            <a:ext cx="10360152" cy="960120"/>
          </a:xfrm>
          <a:prstGeom prst="rect">
            <a:avLst/>
          </a:prstGeom>
          <a:noFill/>
        </p:spPr>
        <p:txBody>
          <a:bodyPr wrap="square" lIns="45720" rIns="45720" tIns="18288" bIns="18288">
            <a:spAutoFit/>
          </a:bodyPr>
          <a:lstStyle/>
          <a:p>
            <a:pPr algn="ctr">
              <a:lnSpc>
                <a:spcPct val="115000"/>
              </a:lnSpc>
              <a:spcBef>
                <a:spcPts val="0"/>
              </a:spcBef>
              <a:spcAft>
                <a:spcPts val="400"/>
              </a:spcAft>
              <a:defRPr sz="1300" b="1" i="0">
                <a:solidFill>
                  <a:srgbClr val="B8860B"/>
                </a:solidFill>
                <a:latin typeface="Calisto MT"/>
              </a:defRPr>
            </a:pPr>
            <a:r>
              <a:t>GENERAL OBJECTIVE</a:t>
            </a:r>
          </a:p>
          <a:p>
            <a:pPr algn="ctr">
              <a:lnSpc>
                <a:spcPct val="118000"/>
              </a:lnSpc>
              <a:spcBef>
                <a:spcPts val="0"/>
              </a:spcBef>
              <a:spcAft>
                <a:spcPts val="200"/>
              </a:spcAft>
              <a:defRPr sz="1500" b="0" i="0">
                <a:solidFill>
                  <a:srgbClr val="1E293B"/>
                </a:solidFill>
                <a:latin typeface="Calisto MT"/>
              </a:defRPr>
            </a:pPr>
            <a:r>
              <a:t>To design, implement, and evaluate an edge-deployed, real-time human intention recognition and autonomous navigation system powered by ROS 2 on an embedded mobile robot.</a:t>
            </a:r>
          </a:p>
        </p:txBody>
      </p:sp>
      <p:cxnSp>
        <p:nvCxnSpPr>
          <p:cNvPr id="5" name="Obj_Divider_Line"/>
          <p:cNvCxnSpPr/>
          <p:nvPr/>
        </p:nvCxnSpPr>
        <p:spPr>
          <a:xfrm>
            <a:off x="2286000" y="2240280"/>
            <a:ext cx="76169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6" name="Obj_Item_0"/>
          <p:cNvSpPr txBox="1"/>
          <p:nvPr/>
        </p:nvSpPr>
        <p:spPr>
          <a:xfrm>
            <a:off x="914400"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01.  Invariant Vision Pipeline</a:t>
            </a:r>
          </a:p>
          <a:p>
            <a:pPr algn="l">
              <a:lnSpc>
                <a:spcPct val="115000"/>
              </a:lnSpc>
              <a:spcBef>
                <a:spcPts val="0"/>
              </a:spcBef>
              <a:spcAft>
                <a:spcPts val="200"/>
              </a:spcAft>
              <a:defRPr sz="1200" b="0" i="0">
                <a:solidFill>
                  <a:srgbClr val="334155"/>
                </a:solidFill>
                <a:latin typeface="Calisto MT"/>
              </a:defRPr>
            </a:pPr>
            <a:r>
              <a:t>Compute 19 scale-invariant geometric features from 21 hand landmarks for real-time onboard MLP classification.</a:t>
            </a:r>
          </a:p>
        </p:txBody>
      </p:sp>
      <p:sp>
        <p:nvSpPr>
          <p:cNvPr id="7" name="Obj_Item_1"/>
          <p:cNvSpPr txBox="1"/>
          <p:nvPr/>
        </p:nvSpPr>
        <p:spPr>
          <a:xfrm>
            <a:off x="914400"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02.  Balanced 6,000-Sample Dataset</a:t>
            </a:r>
          </a:p>
          <a:p>
            <a:pPr algn="l">
              <a:lnSpc>
                <a:spcPct val="115000"/>
              </a:lnSpc>
              <a:spcBef>
                <a:spcPts val="0"/>
              </a:spcBef>
              <a:spcAft>
                <a:spcPts val="200"/>
              </a:spcAft>
              <a:defRPr sz="1200" b="0" i="0">
                <a:solidFill>
                  <a:srgbClr val="334155"/>
                </a:solidFill>
                <a:latin typeface="Calisto MT"/>
              </a:defRPr>
            </a:pPr>
            <a:r>
              <a:t>Capture and balance a custom 6-class dataset directly through the onboard camera to eliminate perspective domain shift.</a:t>
            </a:r>
          </a:p>
        </p:txBody>
      </p:sp>
      <p:sp>
        <p:nvSpPr>
          <p:cNvPr id="8" name="Obj_Item_2"/>
          <p:cNvSpPr txBox="1"/>
          <p:nvPr/>
        </p:nvSpPr>
        <p:spPr>
          <a:xfrm>
            <a:off x="914400"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03.  LSTM Trajectory Prediction</a:t>
            </a:r>
          </a:p>
          <a:p>
            <a:pPr algn="l">
              <a:lnSpc>
                <a:spcPct val="115000"/>
              </a:lnSpc>
              <a:spcBef>
                <a:spcPts val="0"/>
              </a:spcBef>
              <a:spcAft>
                <a:spcPts val="200"/>
              </a:spcAft>
              <a:defRPr sz="1200" b="0" i="0">
                <a:solidFill>
                  <a:srgbClr val="334155"/>
                </a:solidFill>
                <a:latin typeface="Calisto MT"/>
              </a:defRPr>
            </a:pPr>
            <a:r>
              <a:t>Forecast short-horizon operator motion trajectories from continuous body pose landmarks using recurrent neural networks.</a:t>
            </a:r>
          </a:p>
        </p:txBody>
      </p:sp>
      <p:sp>
        <p:nvSpPr>
          <p:cNvPr id="9" name="Obj_Item_3"/>
          <p:cNvSpPr txBox="1"/>
          <p:nvPr/>
        </p:nvSpPr>
        <p:spPr>
          <a:xfrm>
            <a:off x="6382512"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04.  Supervisory Brain Node</a:t>
            </a:r>
          </a:p>
          <a:p>
            <a:pPr algn="l">
              <a:lnSpc>
                <a:spcPct val="115000"/>
              </a:lnSpc>
              <a:spcBef>
                <a:spcPts val="0"/>
              </a:spcBef>
              <a:spcAft>
                <a:spcPts val="200"/>
              </a:spcAft>
              <a:defRPr sz="1200" b="0" i="0">
                <a:solidFill>
                  <a:srgbClr val="334155"/>
                </a:solidFill>
                <a:latin typeface="Calisto MT"/>
              </a:defRPr>
            </a:pPr>
            <a:r>
              <a:t>Execute a deterministic finite state machine with 5-frame rolling consensus, active operator lock, and visual servoing.</a:t>
            </a:r>
          </a:p>
        </p:txBody>
      </p:sp>
      <p:sp>
        <p:nvSpPr>
          <p:cNvPr id="10" name="Obj_Item_4"/>
          <p:cNvSpPr txBox="1"/>
          <p:nvPr/>
        </p:nvSpPr>
        <p:spPr>
          <a:xfrm>
            <a:off x="6382512"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05.  2D LiDAR SLAM &amp; Nav2</a:t>
            </a:r>
          </a:p>
          <a:p>
            <a:pPr algn="l">
              <a:lnSpc>
                <a:spcPct val="115000"/>
              </a:lnSpc>
              <a:spcBef>
                <a:spcPts val="0"/>
              </a:spcBef>
              <a:spcAft>
                <a:spcPts val="200"/>
              </a:spcAft>
              <a:defRPr sz="1200" b="0" i="0">
                <a:solidFill>
                  <a:srgbClr val="334155"/>
                </a:solidFill>
                <a:latin typeface="Calisto MT"/>
              </a:defRPr>
            </a:pPr>
            <a:r>
              <a:t>Deploy real-time Cartographer mapping and the Nav2 navigation stack for socially aware, collision-free path execution.</a:t>
            </a:r>
          </a:p>
        </p:txBody>
      </p:sp>
      <p:sp>
        <p:nvSpPr>
          <p:cNvPr id="11" name="Obj_Item_5"/>
          <p:cNvSpPr txBox="1"/>
          <p:nvPr/>
        </p:nvSpPr>
        <p:spPr>
          <a:xfrm>
            <a:off x="6382512"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06.  Empirical Safety Benchmarking</a:t>
            </a:r>
          </a:p>
          <a:p>
            <a:pPr algn="l">
              <a:lnSpc>
                <a:spcPct val="115000"/>
              </a:lnSpc>
              <a:spcBef>
                <a:spcPts val="0"/>
              </a:spcBef>
              <a:spcAft>
                <a:spcPts val="200"/>
              </a:spcAft>
              <a:defRPr sz="1200" b="0" i="0">
                <a:solidFill>
                  <a:srgbClr val="334155"/>
                </a:solidFill>
                <a:latin typeface="Calisto MT"/>
              </a:defRPr>
            </a:pPr>
            <a:r>
              <a:t>Quantify end-to-end latency (132 ms), physical classification accuracy (96.7%), and compliance with ISO 15066 safety margins.</a:t>
            </a:r>
          </a:p>
        </p:txBody>
      </p:sp>
    </p:spTree>
    <p:extLst>
      <p:ext uri="{BB962C8B-B14F-4D97-AF65-F5344CB8AC3E}">
        <p14:creationId xmlns:p14="http://schemas.microsoft.com/office/powerpoint/2010/main" val="3882807801"/>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20040"/>
            <a:ext cx="10515600" cy="640080"/>
          </a:xfrm>
        </p:spPr>
        <p:txBody>
          <a:bodyPr/>
          <a:lstStyle/>
          <a:p>
            <a:pPr algn="ctr">
              <a:lnSpc>
                <a:spcPct val="112000"/>
              </a:lnSpc>
              <a:spcBef>
                <a:spcPts val="0"/>
              </a:spcBef>
              <a:spcAft>
                <a:spcPts val="200"/>
              </a:spcAft>
              <a:defRPr sz="2800" b="1" i="0">
                <a:solidFill>
                  <a:srgbClr val="002060"/>
                </a:solidFill>
                <a:latin typeface="Calisto MT"/>
              </a:defRPr>
            </a:pPr>
            <a:r>
              <a:t>04. LITERATURE REVIEW &amp; RESEARCH GAPS</a:t>
            </a:r>
          </a:p>
        </p:txBody>
      </p:sp>
      <p:sp>
        <p:nvSpPr>
          <p:cNvPr id="3" name="Content Placeholder 2"/>
          <p:cNvSpPr>
            <a:spLocks noGrp="1"/>
          </p:cNvSpPr>
          <p:nvPr>
            <p:ph idx="1"/>
          </p:nvPr>
        </p:nvSpPr>
        <p:spPr/>
        <p:txBody>
          <a:bodyPr/>
          <a:lstStyle/>
          <a:p/>
        </p:txBody>
      </p:sp>
      <p:sp>
        <p:nvSpPr>
          <p:cNvPr id="4" name="Lit_Subhead"/>
          <p:cNvSpPr txBox="1"/>
          <p:nvPr/>
        </p:nvSpPr>
        <p:spPr>
          <a:xfrm>
            <a:off x="822960" y="1024128"/>
            <a:ext cx="10515600" cy="228600"/>
          </a:xfrm>
          <a:prstGeom prst="rect">
            <a:avLst/>
          </a:prstGeom>
          <a:noFill/>
        </p:spPr>
        <p:txBody>
          <a:bodyPr wrap="square" lIns="0" rIns="0" tIns="0" bIns="0">
            <a:spAutoFit/>
          </a:bodyPr>
          <a:lstStyle/>
          <a:p>
            <a:pPr algn="l">
              <a:lnSpc>
                <a:spcPct val="112000"/>
              </a:lnSpc>
              <a:spcBef>
                <a:spcPts val="0"/>
              </a:spcBef>
              <a:spcAft>
                <a:spcPts val="200"/>
              </a:spcAft>
              <a:defRPr sz="1150" b="1" i="0">
                <a:solidFill>
                  <a:srgbClr val="B8860B"/>
                </a:solidFill>
                <a:latin typeface="Calisto MT"/>
              </a:defRPr>
            </a:pPr>
            <a:r>
              <a:t>CRITICAL APPRAISAL OF CORE BENCHMARK STUDIES (THESIS CHAPTER 2)</a:t>
            </a:r>
          </a:p>
        </p:txBody>
      </p:sp>
      <p:sp>
        <p:nvSpPr>
          <p:cNvPr id="5" name="Lit_Paper_0"/>
          <p:cNvSpPr txBox="1"/>
          <p:nvPr/>
        </p:nvSpPr>
        <p:spPr>
          <a:xfrm>
            <a:off x="8229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Athanasios Tsitos, Maria Dagioglou &amp; Theodoros Giannakopoulos (2022)</a:t>
            </a:r>
          </a:p>
          <a:p>
            <a:pPr algn="l">
              <a:lnSpc>
                <a:spcPct val="110000"/>
              </a:lnSpc>
              <a:spcBef>
                <a:spcPts val="0"/>
              </a:spcBef>
              <a:spcAft>
                <a:spcPts val="500"/>
              </a:spcAft>
              <a:defRPr sz="950" b="0" i="1">
                <a:solidFill>
                  <a:srgbClr val="64748B"/>
                </a:solidFill>
                <a:latin typeface="Calisto MT"/>
              </a:defRPr>
            </a:pPr>
            <a:r>
              <a:t>"Real-Time Feasibility of a Human Intention Method Evaluated Through a Competitive Human-Robot Reaching Game"</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Predict human reaching intent early to guide robot arm trajectories within a 150 ms reaction threshold.</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RGB-D camera tracking wrist kinematics with SVM on a 6-DOF UR3 industrial robotic arm.</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Confined to a static desk — lacks mobile base movement and provides no explicit hand gesture command channel.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Direct vision-to-wheels coupling for mobile navigation guided by 6 touchless hand gestures.</a:t>
            </a:r>
          </a:p>
        </p:txBody>
      </p:sp>
      <p:sp>
        <p:nvSpPr>
          <p:cNvPr id="6" name="Lit_Paper_1"/>
          <p:cNvSpPr txBox="1"/>
          <p:nvPr/>
        </p:nvSpPr>
        <p:spPr>
          <a:xfrm>
            <a:off x="44805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Jubayer Al Mahmud (2022)</a:t>
            </a:r>
          </a:p>
          <a:p>
            <a:pPr algn="l">
              <a:lnSpc>
                <a:spcPct val="110000"/>
              </a:lnSpc>
              <a:spcBef>
                <a:spcPts val="0"/>
              </a:spcBef>
              <a:spcAft>
                <a:spcPts val="500"/>
              </a:spcAft>
              <a:defRPr sz="950" b="0" i="1">
                <a:solidFill>
                  <a:srgbClr val="64748B"/>
                </a:solidFill>
                <a:latin typeface="Calisto MT"/>
              </a:defRPr>
            </a:pPr>
            <a:r>
              <a:t>"3D Gesture Recognition and Adaptation for Human–Robot Interaction"</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Classify 3D pointing and dynamic hand gestures in real time to guide robot interaction across age groups.</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Kinect v2 depth sensor + 3D skeletal normalization + CNN / SVM classifiers on 3,600 samples.</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Relies on heavy cloud / GPU computing clusters; vulnerable to network lag (&gt;200 ms) and connection drops.</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Executes 100% of vision AI directly onboard a low-cost Raspberry Pi 5 with zero cloud dependency.</a:t>
            </a:r>
          </a:p>
        </p:txBody>
      </p:sp>
      <p:sp>
        <p:nvSpPr>
          <p:cNvPr id="7" name="Lit_Paper_2"/>
          <p:cNvSpPr txBox="1"/>
          <p:nvPr/>
        </p:nvSpPr>
        <p:spPr>
          <a:xfrm>
            <a:off x="81381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Y. Li, H. Zhang, Guang Yang &amp; Shuoyu Wang (2023)</a:t>
            </a:r>
          </a:p>
          <a:p>
            <a:pPr algn="l">
              <a:lnSpc>
                <a:spcPct val="110000"/>
              </a:lnSpc>
              <a:spcBef>
                <a:spcPts val="0"/>
              </a:spcBef>
              <a:spcAft>
                <a:spcPts val="500"/>
              </a:spcAft>
              <a:defRPr sz="950" b="0" i="1">
                <a:solidFill>
                  <a:srgbClr val="64748B"/>
                </a:solidFill>
                <a:latin typeface="Calisto MT"/>
              </a:defRPr>
            </a:pPr>
            <a:r>
              <a:t>"Safe and Efficient Motion Planning for Material Transportation Robots Considering Intention Prediction of Obstacles"</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Plan collision-free mobile robot paths by predicting whether human workers will clear the hallway.</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2D LiDAR + CNN obstacle prediction dynamically updating ROS 2 Nav2 costmaps in Isaac Sim.</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Tested only in computer simulation — never validated on physical robot hardware; lacks touchless gesture control.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Physically validated on a real mobile robot with 2D LiDAR SLAM, active visual servoing, and ISO safety stops.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TotalTime>
  <Words>9</Words>
  <Application>Microsoft Office PowerPoint</Application>
  <PresentationFormat>Widescreen</PresentationFormat>
  <Paragraphs>3</Paragraphs>
  <Slides>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Calibri Light</vt:lpstr>
      <vt:lpstr>Gill Sans MT</vt:lpstr>
      <vt:lpstr>Wingdings</vt:lpstr>
      <vt:lpstr>Office Theme</vt:lpstr>
      <vt:lpstr>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dc:creator>
  <cp:lastModifiedBy>Owusu Agyeman Antwi</cp:lastModifiedBy>
  <cp:revision>212</cp:revision>
  <dcterms:created xsi:type="dcterms:W3CDTF">2020-12-21T23:45:00Z</dcterms:created>
  <dcterms:modified xsi:type="dcterms:W3CDTF">2025-12-05T09:20:25Z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ies>
</file>