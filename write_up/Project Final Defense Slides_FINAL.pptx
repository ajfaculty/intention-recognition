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5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51560"/>
            <a:ext cx="10515600" cy="256032"/>
          </a:xfrm>
          <a:prstGeom prst="rect">
            <a:avLst/>
          </a:prstGeom>
          <a:noFill/>
        </p:spPr>
        <p:txBody>
          <a:bodyPr wrap="square" lIns="0" rIns="0" tIns="0" bIns="0">
            <a:spAutoFit/>
          </a:bodyPr>
          <a:lstStyle/>
          <a:p>
            <a:pPr algn="l">
              <a:lnSpc>
                <a:spcPct val="115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325880"/>
            <a:ext cx="3227832" cy="4251960"/>
          </a:xfrm>
          <a:prstGeom prst="rect">
            <a:avLst/>
          </a:prstGeom>
          <a:noFill/>
        </p:spPr>
        <p:txBody>
          <a:bodyPr wrap="square" lIns="18288" rIns="18288" tIns="18288" bIns="18288">
            <a:spAutoFit/>
          </a:bodyPr>
          <a:lstStyle/>
          <a:p>
            <a:pPr algn="l">
              <a:lnSpc>
                <a:spcPct val="115000"/>
              </a:lnSpc>
              <a:spcBef>
                <a:spcPts val="0"/>
              </a:spcBef>
              <a:spcAft>
                <a:spcPts val="100"/>
              </a:spcAft>
              <a:defRPr sz="1350" b="1" i="0">
                <a:solidFill>
                  <a:srgbClr val="002060"/>
                </a:solidFill>
                <a:latin typeface="Calisto MT"/>
              </a:defRPr>
            </a:pPr>
            <a:r>
              <a:t>Athanasios Tsitos et al. (2022)</a:t>
            </a:r>
          </a:p>
          <a:p>
            <a:pPr algn="l">
              <a:lnSpc>
                <a:spcPct val="115000"/>
              </a:lnSpc>
              <a:spcBef>
                <a:spcPts val="0"/>
              </a:spcBef>
              <a:spcAft>
                <a:spcPts val="600"/>
              </a:spcAft>
              <a:defRPr sz="1050" b="0" i="1">
                <a:solidFill>
                  <a:srgbClr val="64748B"/>
                </a:solidFill>
                <a:latin typeface="Calisto MT"/>
              </a:defRPr>
            </a:pPr>
            <a:r>
              <a:t>Competitive Reaching Intention Game</a:t>
            </a:r>
          </a:p>
          <a:p>
            <a:pPr algn="l">
              <a:lnSpc>
                <a:spcPct val="115000"/>
              </a:lnSpc>
              <a:spcAft>
                <a:spcPts val="500"/>
              </a:spcAft>
            </a:pPr>
            <a:r>
              <a:rPr sz="1080" b="1">
                <a:solidFill>
                  <a:srgbClr val="1E293B"/>
                </a:solidFill>
                <a:latin typeface="Calisto MT"/>
              </a:rPr>
              <a:t>• Objective: </a:t>
            </a:r>
            <a:r>
              <a:rPr sz="1080" b="0">
                <a:solidFill>
                  <a:srgbClr val="334155"/>
                </a:solidFill>
                <a:latin typeface="Calisto MT"/>
              </a:rPr>
              <a:t>Predict human reaching intent early to govern robot arm trajectories within a 150 ms reaction threshold.</a:t>
            </a:r>
          </a:p>
          <a:p>
            <a:pPr algn="l">
              <a:lnSpc>
                <a:spcPct val="115000"/>
              </a:lnSpc>
              <a:spcAft>
                <a:spcPts val="500"/>
              </a:spcAft>
            </a:pPr>
            <a:r>
              <a:rPr sz="1080" b="1">
                <a:solidFill>
                  <a:srgbClr val="1E293B"/>
                </a:solidFill>
                <a:latin typeface="Calisto MT"/>
              </a:rPr>
              <a:t>• Method: </a:t>
            </a:r>
            <a:r>
              <a:rPr sz="1080" b="0">
                <a:solidFill>
                  <a:srgbClr val="334155"/>
                </a:solidFill>
                <a:latin typeface="Calisto MT"/>
              </a:rPr>
              <a:t>RGB-D camera + OpenPose wrist tracking + SVM / Decision Trees on an industrial 6-DOF UR3 robotic arm.</a:t>
            </a:r>
          </a:p>
          <a:p>
            <a:pPr algn="l">
              <a:lnSpc>
                <a:spcPct val="115000"/>
              </a:lnSpc>
              <a:spcAft>
                <a:spcPts val="700"/>
              </a:spcAft>
            </a:pPr>
            <a:r>
              <a:rPr sz="1080" b="1">
                <a:solidFill>
                  <a:srgbClr val="1E293B"/>
                </a:solidFill>
                <a:latin typeface="Calisto MT"/>
              </a:rPr>
              <a:t>• Research Gap: </a:t>
            </a:r>
            <a:r>
              <a:rPr sz="1080" b="0">
                <a:solidFill>
                  <a:srgbClr val="334155"/>
                </a:solidFill>
                <a:latin typeface="Calisto MT"/>
              </a:rPr>
              <a:t>Confined to a static desk — lacks mobile base movement and provides no explicit hand gesture command channel.</a:t>
            </a:r>
          </a:p>
          <a:p>
            <a:pPr algn="l">
              <a:lnSpc>
                <a:spcPct val="115000"/>
              </a:lnSpc>
              <a:spcAft>
                <a:spcPts val="0"/>
              </a:spcAft>
            </a:pPr>
            <a:r>
              <a:rPr sz="1080" b="1">
                <a:solidFill>
                  <a:srgbClr val="002060"/>
                </a:solidFill>
                <a:latin typeface="Calisto MT"/>
              </a:rPr>
              <a:t>👉 Our Solution: </a:t>
            </a:r>
            <a:r>
              <a:rPr sz="1080" b="0">
                <a:solidFill>
                  <a:srgbClr val="1E293B"/>
                </a:solidFill>
                <a:latin typeface="Calisto MT"/>
              </a:rPr>
              <a:t>Bridges intention directly to mobile wheels via 6 explicit hand gestures and autonomous navigation.</a:t>
            </a:r>
          </a:p>
        </p:txBody>
      </p:sp>
      <p:sp>
        <p:nvSpPr>
          <p:cNvPr id="6" name="Lit_Paper_1"/>
          <p:cNvSpPr txBox="1"/>
          <p:nvPr/>
        </p:nvSpPr>
        <p:spPr>
          <a:xfrm>
            <a:off x="4480560" y="1325880"/>
            <a:ext cx="3227832" cy="4251960"/>
          </a:xfrm>
          <a:prstGeom prst="rect">
            <a:avLst/>
          </a:prstGeom>
          <a:noFill/>
        </p:spPr>
        <p:txBody>
          <a:bodyPr wrap="square" lIns="18288" rIns="18288" tIns="18288" bIns="18288">
            <a:spAutoFit/>
          </a:bodyPr>
          <a:lstStyle/>
          <a:p>
            <a:pPr algn="l">
              <a:lnSpc>
                <a:spcPct val="115000"/>
              </a:lnSpc>
              <a:spcBef>
                <a:spcPts val="0"/>
              </a:spcBef>
              <a:spcAft>
                <a:spcPts val="100"/>
              </a:spcAft>
              <a:defRPr sz="1350" b="1" i="0">
                <a:solidFill>
                  <a:srgbClr val="002060"/>
                </a:solidFill>
                <a:latin typeface="Calisto MT"/>
              </a:defRPr>
            </a:pPr>
            <a:r>
              <a:t>J. A. Mahmud et al. (2022)</a:t>
            </a:r>
          </a:p>
          <a:p>
            <a:pPr algn="l">
              <a:lnSpc>
                <a:spcPct val="115000"/>
              </a:lnSpc>
              <a:spcBef>
                <a:spcPts val="0"/>
              </a:spcBef>
              <a:spcAft>
                <a:spcPts val="600"/>
              </a:spcAft>
              <a:defRPr sz="1050" b="0" i="1">
                <a:solidFill>
                  <a:srgbClr val="64748B"/>
                </a:solidFill>
                <a:latin typeface="Calisto MT"/>
              </a:defRPr>
            </a:pPr>
            <a:r>
              <a:t>3D Gesture Recognition &amp; Adaptation</a:t>
            </a:r>
          </a:p>
          <a:p>
            <a:pPr algn="l">
              <a:lnSpc>
                <a:spcPct val="115000"/>
              </a:lnSpc>
              <a:spcAft>
                <a:spcPts val="500"/>
              </a:spcAft>
            </a:pPr>
            <a:r>
              <a:rPr sz="1080" b="1">
                <a:solidFill>
                  <a:srgbClr val="1E293B"/>
                </a:solidFill>
                <a:latin typeface="Calisto MT"/>
              </a:rPr>
              <a:t>• Objective: </a:t>
            </a:r>
            <a:r>
              <a:rPr sz="1080" b="0">
                <a:solidFill>
                  <a:srgbClr val="334155"/>
                </a:solidFill>
                <a:latin typeface="Calisto MT"/>
              </a:rPr>
              <a:t>Classify 3D pointing and dynamic gestures in real time to guide robot interaction across age groups.</a:t>
            </a:r>
          </a:p>
          <a:p>
            <a:pPr algn="l">
              <a:lnSpc>
                <a:spcPct val="115000"/>
              </a:lnSpc>
              <a:spcAft>
                <a:spcPts val="500"/>
              </a:spcAft>
            </a:pPr>
            <a:r>
              <a:rPr sz="1080" b="1">
                <a:solidFill>
                  <a:srgbClr val="1E293B"/>
                </a:solidFill>
                <a:latin typeface="Calisto MT"/>
              </a:rPr>
              <a:t>• Method: </a:t>
            </a:r>
            <a:r>
              <a:rPr sz="1080" b="0">
                <a:solidFill>
                  <a:srgbClr val="334155"/>
                </a:solidFill>
                <a:latin typeface="Calisto MT"/>
              </a:rPr>
              <a:t>Kinect v2 depth sensor + 3D skeletal normalization + CNN / SVM classifiers on 3,600 gesture samples.</a:t>
            </a:r>
          </a:p>
          <a:p>
            <a:pPr algn="l">
              <a:lnSpc>
                <a:spcPct val="115000"/>
              </a:lnSpc>
              <a:spcAft>
                <a:spcPts val="700"/>
              </a:spcAft>
            </a:pPr>
            <a:r>
              <a:rPr sz="1080" b="1">
                <a:solidFill>
                  <a:srgbClr val="1E293B"/>
                </a:solidFill>
                <a:latin typeface="Calisto MT"/>
              </a:rPr>
              <a:t>• Research Gap: </a:t>
            </a:r>
            <a:r>
              <a:rPr sz="1080" b="0">
                <a:solidFill>
                  <a:srgbClr val="334155"/>
                </a:solidFill>
                <a:latin typeface="Calisto MT"/>
              </a:rPr>
              <a:t>Relies on heavy cloud / GPU computers; vulnerable to network latency (&gt;200 ms) and connection dropouts.</a:t>
            </a:r>
          </a:p>
          <a:p>
            <a:pPr algn="l">
              <a:lnSpc>
                <a:spcPct val="115000"/>
              </a:lnSpc>
              <a:spcAft>
                <a:spcPts val="0"/>
              </a:spcAft>
            </a:pPr>
            <a:r>
              <a:rPr sz="1080" b="1">
                <a:solidFill>
                  <a:srgbClr val="002060"/>
                </a:solidFill>
                <a:latin typeface="Calisto MT"/>
              </a:rPr>
              <a:t>👉 Our Solution: </a:t>
            </a:r>
            <a:r>
              <a:rPr sz="108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325880"/>
            <a:ext cx="3227832" cy="4251960"/>
          </a:xfrm>
          <a:prstGeom prst="rect">
            <a:avLst/>
          </a:prstGeom>
          <a:noFill/>
        </p:spPr>
        <p:txBody>
          <a:bodyPr wrap="square" lIns="18288" rIns="18288" tIns="18288" bIns="18288">
            <a:spAutoFit/>
          </a:bodyPr>
          <a:lstStyle/>
          <a:p>
            <a:pPr algn="l">
              <a:lnSpc>
                <a:spcPct val="115000"/>
              </a:lnSpc>
              <a:spcBef>
                <a:spcPts val="0"/>
              </a:spcBef>
              <a:spcAft>
                <a:spcPts val="100"/>
              </a:spcAft>
              <a:defRPr sz="1350" b="1" i="0">
                <a:solidFill>
                  <a:srgbClr val="002060"/>
                </a:solidFill>
                <a:latin typeface="Calisto MT"/>
              </a:defRPr>
            </a:pPr>
            <a:r>
              <a:t>Y. Li &amp; H. Zhang et al. (2023)</a:t>
            </a:r>
          </a:p>
          <a:p>
            <a:pPr algn="l">
              <a:lnSpc>
                <a:spcPct val="115000"/>
              </a:lnSpc>
              <a:spcBef>
                <a:spcPts val="0"/>
              </a:spcBef>
              <a:spcAft>
                <a:spcPts val="600"/>
              </a:spcAft>
              <a:defRPr sz="1050" b="0" i="1">
                <a:solidFill>
                  <a:srgbClr val="64748B"/>
                </a:solidFill>
                <a:latin typeface="Calisto MT"/>
              </a:defRPr>
            </a:pPr>
            <a:r>
              <a:t>Intention-Aware Motion Planning</a:t>
            </a:r>
          </a:p>
          <a:p>
            <a:pPr algn="l">
              <a:lnSpc>
                <a:spcPct val="115000"/>
              </a:lnSpc>
              <a:spcAft>
                <a:spcPts val="500"/>
              </a:spcAft>
            </a:pPr>
            <a:r>
              <a:rPr sz="1080" b="1">
                <a:solidFill>
                  <a:srgbClr val="1E293B"/>
                </a:solidFill>
                <a:latin typeface="Calisto MT"/>
              </a:rPr>
              <a:t>• Objective: </a:t>
            </a:r>
            <a:r>
              <a:rPr sz="1080" b="0">
                <a:solidFill>
                  <a:srgbClr val="334155"/>
                </a:solidFill>
                <a:latin typeface="Calisto MT"/>
              </a:rPr>
              <a:t>Plan mobile robot paths around moving site workers by predicting whether obstacles will clear the hallway.</a:t>
            </a:r>
          </a:p>
          <a:p>
            <a:pPr algn="l">
              <a:lnSpc>
                <a:spcPct val="115000"/>
              </a:lnSpc>
              <a:spcAft>
                <a:spcPts val="500"/>
              </a:spcAft>
            </a:pPr>
            <a:r>
              <a:rPr sz="1080" b="1">
                <a:solidFill>
                  <a:srgbClr val="1E293B"/>
                </a:solidFill>
                <a:latin typeface="Calisto MT"/>
              </a:rPr>
              <a:t>• Method: </a:t>
            </a:r>
            <a:r>
              <a:rPr sz="1080" b="0">
                <a:solidFill>
                  <a:srgbClr val="334155"/>
                </a:solidFill>
                <a:latin typeface="Calisto MT"/>
              </a:rPr>
              <a:t>2D LiDAR + camera object detection + CNN intention prediction integrated into ROS 2 Nav2 in Isaac Sim.</a:t>
            </a:r>
          </a:p>
          <a:p>
            <a:pPr algn="l">
              <a:lnSpc>
                <a:spcPct val="115000"/>
              </a:lnSpc>
              <a:spcAft>
                <a:spcPts val="700"/>
              </a:spcAft>
            </a:pPr>
            <a:r>
              <a:rPr sz="1080" b="1">
                <a:solidFill>
                  <a:srgbClr val="1E293B"/>
                </a:solidFill>
                <a:latin typeface="Calisto MT"/>
              </a:rPr>
              <a:t>• Research Gap: </a:t>
            </a:r>
            <a:r>
              <a:rPr sz="1080" b="0">
                <a:solidFill>
                  <a:srgbClr val="334155"/>
                </a:solidFill>
                <a:latin typeface="Calisto MT"/>
              </a:rPr>
              <a:t>Tested only in computer simulation — unverified on real physical robot hardware; lacks touchless gesture control.</a:t>
            </a:r>
          </a:p>
          <a:p>
            <a:pPr algn="l">
              <a:lnSpc>
                <a:spcPct val="115000"/>
              </a:lnSpc>
              <a:spcAft>
                <a:spcPts val="0"/>
              </a:spcAft>
            </a:pPr>
            <a:r>
              <a:rPr sz="1080" b="1">
                <a:solidFill>
                  <a:srgbClr val="002060"/>
                </a:solidFill>
                <a:latin typeface="Calisto MT"/>
              </a:rPr>
              <a:t>👉 Our Solution: </a:t>
            </a:r>
            <a:r>
              <a:rPr sz="1080" b="0">
                <a:solidFill>
                  <a:srgbClr val="1E293B"/>
                </a:solidFill>
                <a:latin typeface="Calisto MT"/>
              </a:rPr>
              <a:t>Physically deployed on a real mobile robot with 2D LiDAR SLAM, active visual servoing, and ISO 15066 safety stops.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