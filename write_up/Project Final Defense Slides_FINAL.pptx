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 id="569" r:id="rId20"/>
    <p:sldId id="570" r:id="rId21"/>
    <p:sldId id="5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Testing, Results &amp; Safety Analysis</a:t>
            </a:r>
          </a:p>
          <a:p>
            <a:pPr algn="l">
              <a:lnSpc>
                <a:spcPct val="120000"/>
              </a:lnSpc>
              <a:spcAft>
                <a:spcPts val="1800"/>
              </a:spcAft>
              <a:defRPr sz="2400" b="1">
                <a:solidFill>
                  <a:srgbClr val="002060"/>
                </a:solidFill>
                <a:latin typeface="Calisto MT"/>
              </a:defRPr>
            </a:pPr>
            <a:r>
              <a:t>06. Conclusion, Limitations &amp; Recommendations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image.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SLAM Toolbox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Testing, Results &amp; Analysis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132.0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reliably with low communication latency.</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automatically preempts driving commands and halts the vehicle.</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image.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reactive emergency halts.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Rapid AI Inference: </a:t>
            </a:r>
            <a:r>
              <a:rPr sz="1100" b="0">
                <a:solidFill>
                  <a:srgbClr val="334155"/>
                </a:solidFill>
                <a:latin typeface="Calisto MT"/>
              </a:rPr>
              <a:t>A compact neural network evaluates the 19 geometric hand features in just 1.8 milliseconds on the CPU, achieving 99.4% test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Edge AI Speed: </a:t>
            </a:r>
            <a:r>
              <a:rPr sz="900" b="0">
                <a:solidFill>
                  <a:srgbClr val="334155"/>
                </a:solidFill>
                <a:latin typeface="Calisto MT"/>
              </a:rPr>
              <a:t>Evaluates gestures in 1.8 milliseconds on the CPU</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Reactive Laser Safety Override: </a:t>
            </a:r>
            <a:r>
              <a:rPr sz="1100" b="0">
                <a:solidFill>
                  <a:srgbClr val="334155"/>
                </a:solidFill>
                <a:latin typeface="Calisto MT"/>
              </a:rPr>
              <a:t>The 360° laser sensor constantly scans the surroundings; if an obstacle enters within 0.36 meters, motor power is preempted in 5 milliseconds, overriding all AI.</a:t>
            </a:r>
          </a:p>
        </p:txBody>
      </p:sp>
      <p:pic>
        <p:nvPicPr>
          <p:cNvPr id="6" name="Control_LSTM_Img" descr="image.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image.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Emergency Safety Stop: </a:t>
            </a:r>
            <a:r>
              <a:rPr sz="880" b="0">
                <a:solidFill>
                  <a:srgbClr val="334155"/>
                </a:solidFill>
                <a:latin typeface="Calisto MT"/>
              </a:rPr>
              <a:t>Laser barrier (&lt; 0.36m) halts motors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image.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TESTING &amp; RESULTS: SYSTEM LATENCY &amp; ACCURACY</a:t>
            </a:r>
          </a:p>
        </p:txBody>
      </p:sp>
      <p:sp>
        <p:nvSpPr>
          <p:cNvPr id="3" name="Content Placeholder 2"/>
          <p:cNvSpPr>
            <a:spLocks noGrp="1"/>
          </p:cNvSpPr>
          <p:nvPr>
            <p:ph idx="1"/>
          </p:nvPr>
        </p:nvSpPr>
        <p:spPr/>
        <p:txBody>
          <a:bodyPr/>
          <a:lstStyle/>
          <a:p/>
        </p:txBody>
      </p:sp>
      <p:sp>
        <p:nvSpPr>
          <p:cNvPr id="4" name="Latenc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REAL-TIME RESPONSE SPEED, GESTURE ACCURACY, AND MULTI-CONDITION RELIABILITY</a:t>
            </a:r>
          </a:p>
        </p:txBody>
      </p:sp>
      <p:sp>
        <p:nvSpPr>
          <p:cNvPr id="5" name="Latency_Points_Text"/>
          <p:cNvSpPr txBox="1"/>
          <p:nvPr/>
        </p:nvSpPr>
        <p:spPr>
          <a:xfrm>
            <a:off x="777240" y="1261872"/>
            <a:ext cx="5349240" cy="4114800"/>
          </a:xfrm>
          <a:prstGeom prst="rect">
            <a:avLst/>
          </a:prstGeom>
          <a:noFill/>
        </p:spPr>
        <p:txBody>
          <a:bodyPr wrap="square" lIns="18288" rIns="18288" tIns="18288" bIns="18288">
            <a:spAutoFit/>
          </a:bodyPr>
          <a:lstStyle/>
          <a:p>
            <a:pPr algn="l">
              <a:lnSpc>
                <a:spcPct val="115000"/>
              </a:lnSpc>
              <a:spcAft>
                <a:spcPts val="1000"/>
              </a:spcAft>
            </a:pPr>
            <a:r>
              <a:rPr sz="1100" b="1">
                <a:solidFill>
                  <a:srgbClr val="002060"/>
                </a:solidFill>
                <a:latin typeface="Calisto MT"/>
              </a:rPr>
              <a:t>• 132 ms Total Response Time: </a:t>
            </a:r>
            <a:r>
              <a:rPr sz="1100" b="0">
                <a:solidFill>
                  <a:srgbClr val="334155"/>
                </a:solidFill>
                <a:latin typeface="Calisto MT"/>
              </a:rPr>
              <a:t>From optical camera capture to physical wheel movement takes 132.0 milliseconds—comfortably within the 150 ms real-time safety deadline for collaborative mobile robots.</a:t>
            </a:r>
          </a:p>
          <a:p>
            <a:pPr algn="l">
              <a:lnSpc>
                <a:spcPct val="115000"/>
              </a:lnSpc>
              <a:spcAft>
                <a:spcPts val="1000"/>
              </a:spcAft>
            </a:pPr>
            <a:r>
              <a:rPr sz="1100" b="1">
                <a:solidFill>
                  <a:srgbClr val="002060"/>
                </a:solidFill>
                <a:latin typeface="Calisto MT"/>
              </a:rPr>
              <a:t>• 1.8 ms AI Classification: </a:t>
            </a:r>
            <a:r>
              <a:rPr sz="1100" b="0">
                <a:solidFill>
                  <a:srgbClr val="334155"/>
                </a:solidFill>
                <a:latin typeface="Calisto MT"/>
              </a:rPr>
              <a:t>The compact neural network evaluates hand features in just 1.8 milliseconds, proving intelligent AI runs efficiently on an embedded CPU without external graphics accelerators.</a:t>
            </a:r>
          </a:p>
          <a:p>
            <a:pPr algn="l">
              <a:lnSpc>
                <a:spcPct val="115000"/>
              </a:lnSpc>
              <a:spcAft>
                <a:spcPts val="1000"/>
              </a:spcAft>
            </a:pPr>
            <a:r>
              <a:rPr sz="1100" b="1">
                <a:solidFill>
                  <a:srgbClr val="002060"/>
                </a:solidFill>
                <a:latin typeface="Calisto MT"/>
              </a:rPr>
              <a:t>• 96.67% Physical Driving Success: </a:t>
            </a:r>
            <a:r>
              <a:rPr sz="1100" b="0">
                <a:solidFill>
                  <a:srgbClr val="334155"/>
                </a:solidFill>
                <a:latin typeface="Calisto MT"/>
              </a:rPr>
              <a:t>In 180 real-world driving trials with operators walking in the lab, the robot correctly recognized and executed commands 96.67% of the time.</a:t>
            </a:r>
          </a:p>
          <a:p>
            <a:pPr algn="l">
              <a:lnSpc>
                <a:spcPct val="115000"/>
              </a:lnSpc>
              <a:spcAft>
                <a:spcPts val="1000"/>
              </a:spcAft>
            </a:pPr>
            <a:r>
              <a:rPr sz="1100" b="1">
                <a:solidFill>
                  <a:srgbClr val="002060"/>
                </a:solidFill>
                <a:latin typeface="Calisto MT"/>
              </a:rPr>
              <a:t>• Reliable Operating Range: </a:t>
            </a:r>
            <a:r>
              <a:rPr sz="1100" b="0">
                <a:solidFill>
                  <a:srgbClr val="334155"/>
                </a:solidFill>
                <a:latin typeface="Calisto MT"/>
              </a:rPr>
              <a:t>Because hand features are scaled automatically by palm size, accuracy stays strong from 1.0 meter (100%) up to 2.5 meters (92.6%) away.</a:t>
            </a:r>
          </a:p>
          <a:p>
            <a:pPr algn="l">
              <a:lnSpc>
                <a:spcPct val="115000"/>
              </a:lnSpc>
              <a:spcAft>
                <a:spcPts val="0"/>
              </a:spcAft>
            </a:pPr>
            <a:r>
              <a:rPr sz="1100" b="1">
                <a:solidFill>
                  <a:srgbClr val="002060"/>
                </a:solidFill>
                <a:latin typeface="Calisto MT"/>
              </a:rPr>
              <a:t>• Consistent in Any Lighting: </a:t>
            </a:r>
            <a:r>
              <a:rPr sz="1100" b="0">
                <a:solidFill>
                  <a:srgbClr val="334155"/>
                </a:solidFill>
                <a:latin typeface="Calisto MT"/>
              </a:rPr>
              <a:t>The robot achieved identical 96.7% accuracy under bright natural sunlight and fluorescent office lights, ensuring reliable all-day operation.</a:t>
            </a:r>
          </a:p>
        </p:txBody>
      </p:sp>
      <p:pic>
        <p:nvPicPr>
          <p:cNvPr id="6" name="Latency_Boxplot_Img" descr="image.png"/>
          <p:cNvPicPr>
            <a:picLocks noChangeAspect="1"/>
          </p:cNvPicPr>
          <p:nvPr/>
        </p:nvPicPr>
        <p:blipFill>
          <a:blip r:embed="rId4"/>
          <a:stretch>
            <a:fillRect/>
          </a:stretch>
        </p:blipFill>
        <p:spPr>
          <a:xfrm>
            <a:off x="6355080" y="1261872"/>
            <a:ext cx="5029200" cy="2084831"/>
          </a:xfrm>
          <a:prstGeom prst="rect">
            <a:avLst/>
          </a:prstGeom>
        </p:spPr>
      </p:pic>
      <p:sp>
        <p:nvSpPr>
          <p:cNvPr id="7" name="Latency_Boxplot_Cap"/>
          <p:cNvSpPr txBox="1"/>
          <p:nvPr/>
        </p:nvSpPr>
        <p:spPr>
          <a:xfrm>
            <a:off x="6355080" y="3383280"/>
            <a:ext cx="5029200" cy="22860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4.1: Observed Physical Accuracy Across Gestures, Operating Distances &amp; Lighting (180 Trials)</a:t>
            </a:r>
          </a:p>
        </p:txBody>
      </p:sp>
      <p:sp>
        <p:nvSpPr>
          <p:cNvPr id="8" name="Latency_Bench_Text"/>
          <p:cNvSpPr txBox="1"/>
          <p:nvPr/>
        </p:nvSpPr>
        <p:spPr>
          <a:xfrm>
            <a:off x="6355080" y="3703320"/>
            <a:ext cx="5029200" cy="178308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END-TO-END LATENCY BUDGET &amp; SPEED BREAKDOWN (132.0 ms TOTAL):</a:t>
            </a:r>
          </a:p>
          <a:p>
            <a:pPr algn="l">
              <a:lnSpc>
                <a:spcPct val="112000"/>
              </a:lnSpc>
              <a:spcAft>
                <a:spcPts val="250"/>
              </a:spcAft>
            </a:pPr>
            <a:r>
              <a:rPr sz="880" b="1">
                <a:solidFill>
                  <a:srgbClr val="002060"/>
                </a:solidFill>
                <a:latin typeface="Calisto MT"/>
              </a:rPr>
              <a:t>• Camera Video Capture: </a:t>
            </a:r>
            <a:r>
              <a:rPr sz="880" b="0">
                <a:solidFill>
                  <a:srgbClr val="334155"/>
                </a:solidFill>
                <a:latin typeface="Calisto MT"/>
              </a:rPr>
              <a:t>50.0 ms (640×480 @ 30 FPS video streaming)</a:t>
            </a:r>
          </a:p>
          <a:p>
            <a:pPr algn="l">
              <a:lnSpc>
                <a:spcPct val="112000"/>
              </a:lnSpc>
              <a:spcAft>
                <a:spcPts val="250"/>
              </a:spcAft>
            </a:pPr>
            <a:r>
              <a:rPr sz="880" b="1">
                <a:solidFill>
                  <a:srgbClr val="002060"/>
                </a:solidFill>
                <a:latin typeface="Calisto MT"/>
              </a:rPr>
              <a:t>• Hand Tracking: </a:t>
            </a:r>
            <a:r>
              <a:rPr sz="880" b="0">
                <a:solidFill>
                  <a:srgbClr val="334155"/>
                </a:solidFill>
                <a:latin typeface="Calisto MT"/>
              </a:rPr>
              <a:t>38.2 ms (MediaPipe landmark extraction on quad-core CPU)</a:t>
            </a:r>
          </a:p>
          <a:p>
            <a:pPr algn="l">
              <a:lnSpc>
                <a:spcPct val="112000"/>
              </a:lnSpc>
              <a:spcAft>
                <a:spcPts val="250"/>
              </a:spcAft>
            </a:pPr>
            <a:r>
              <a:rPr sz="880" b="1">
                <a:solidFill>
                  <a:srgbClr val="002060"/>
                </a:solidFill>
                <a:latin typeface="Calisto MT"/>
              </a:rPr>
              <a:t>• Neural Classifier: </a:t>
            </a:r>
            <a:r>
              <a:rPr sz="880" b="0">
                <a:solidFill>
                  <a:srgbClr val="334155"/>
                </a:solidFill>
                <a:latin typeface="Calisto MT"/>
              </a:rPr>
              <a:t>1.8 ms (instant geometric feature classification)</a:t>
            </a:r>
          </a:p>
          <a:p>
            <a:pPr algn="l">
              <a:lnSpc>
                <a:spcPct val="112000"/>
              </a:lnSpc>
              <a:spcAft>
                <a:spcPts val="250"/>
              </a:spcAft>
            </a:pPr>
            <a:r>
              <a:rPr sz="880" b="1">
                <a:solidFill>
                  <a:srgbClr val="002060"/>
                </a:solidFill>
                <a:latin typeface="Calisto MT"/>
              </a:rPr>
              <a:t>• Motor Communication: </a:t>
            </a:r>
            <a:r>
              <a:rPr sz="880" b="0">
                <a:solidFill>
                  <a:srgbClr val="334155"/>
                </a:solidFill>
                <a:latin typeface="Calisto MT"/>
              </a:rPr>
              <a:t>40.0 ms (micro-ROS UART command delivery to wheels)</a:t>
            </a:r>
          </a:p>
          <a:p>
            <a:pPr algn="l">
              <a:lnSpc>
                <a:spcPct val="112000"/>
              </a:lnSpc>
              <a:spcAft>
                <a:spcPts val="0"/>
              </a:spcAft>
            </a:pPr>
            <a:r>
              <a:rPr sz="880" b="1">
                <a:solidFill>
                  <a:srgbClr val="002060"/>
                </a:solidFill>
                <a:latin typeface="Calisto MT"/>
              </a:rPr>
              <a:t>• Safety Standard: </a:t>
            </a:r>
            <a:r>
              <a:rPr sz="880" b="0">
                <a:solidFill>
                  <a:srgbClr val="334155"/>
                </a:solidFill>
                <a:latin typeface="Calisto MT"/>
              </a:rPr>
              <a:t>100% of runs below 150 ms ISO 15066 safety deadline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TESTING &amp; RESULTS: PHYSICAL LOCOMOTION &amp; SAFETY</a:t>
            </a:r>
          </a:p>
        </p:txBody>
      </p:sp>
      <p:sp>
        <p:nvSpPr>
          <p:cNvPr id="3" name="Content Placeholder 2"/>
          <p:cNvSpPr>
            <a:spLocks noGrp="1"/>
          </p:cNvSpPr>
          <p:nvPr>
            <p:ph idx="1"/>
          </p:nvPr>
        </p:nvSpPr>
        <p:spPr/>
        <p:txBody>
          <a:bodyPr/>
          <a:lstStyle/>
          <a:p/>
        </p:txBody>
      </p:sp>
      <p:sp>
        <p:nvSpPr>
          <p:cNvPr id="4" name="Safet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VEHICLE MOTION, EMERGENCY BRAKING, AND 360° LIDAR SAFETY BUBBLE</a:t>
            </a:r>
          </a:p>
        </p:txBody>
      </p:sp>
      <p:sp>
        <p:nvSpPr>
          <p:cNvPr id="5" name="Safety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Smooth Vehicle Driving: </a:t>
            </a:r>
            <a:r>
              <a:rPr sz="1100" b="0">
                <a:solidFill>
                  <a:srgbClr val="334155"/>
                </a:solidFill>
                <a:latin typeface="Calisto MT"/>
              </a:rPr>
              <a:t>All 6 commands (Forward, Reverse, Left, Right, Stop, Follow) drove the 4WD mobile robot smoothly without motor stalls or wheel skids.</a:t>
            </a:r>
          </a:p>
          <a:p>
            <a:pPr algn="l">
              <a:lnSpc>
                <a:spcPct val="115000"/>
              </a:lnSpc>
              <a:spcAft>
                <a:spcPts val="700"/>
              </a:spcAft>
            </a:pPr>
            <a:r>
              <a:rPr sz="1100" b="1">
                <a:solidFill>
                  <a:srgbClr val="002060"/>
                </a:solidFill>
                <a:latin typeface="Calisto MT"/>
              </a:rPr>
              <a:t>• Safe Dual Power Rails: </a:t>
            </a:r>
            <a:r>
              <a:rPr sz="1100" b="0">
                <a:solidFill>
                  <a:srgbClr val="334155"/>
                </a:solidFill>
                <a:latin typeface="Calisto MT"/>
              </a:rPr>
              <a:t>High motor current spikes during rapid forward-to-reverse driving never restarted the onboard computer, proving isolated power buses protect system stability.</a:t>
            </a:r>
          </a:p>
          <a:p>
            <a:pPr algn="l">
              <a:lnSpc>
                <a:spcPct val="115000"/>
              </a:lnSpc>
              <a:spcAft>
                <a:spcPts val="700"/>
              </a:spcAft>
            </a:pPr>
            <a:r>
              <a:rPr sz="1100" b="1">
                <a:solidFill>
                  <a:srgbClr val="002060"/>
                </a:solidFill>
                <a:latin typeface="Calisto MT"/>
              </a:rPr>
              <a:t>• Verified 98 ms Braking: </a:t>
            </a:r>
            <a:r>
              <a:rPr sz="1100" b="0">
                <a:solidFill>
                  <a:srgbClr val="334155"/>
                </a:solidFill>
                <a:latin typeface="Calisto MT"/>
              </a:rPr>
              <a:t>When the STOP command is shown or an obstacle enters the path, the robot halts completely within 98 milliseconds—well within the 0.36-meter safety margin.</a:t>
            </a:r>
          </a:p>
          <a:p>
            <a:pPr algn="l">
              <a:lnSpc>
                <a:spcPct val="115000"/>
              </a:lnSpc>
              <a:spcAft>
                <a:spcPts val="700"/>
              </a:spcAft>
            </a:pPr>
            <a:r>
              <a:rPr sz="1100" b="1">
                <a:solidFill>
                  <a:srgbClr val="002060"/>
                </a:solidFill>
                <a:latin typeface="Calisto MT"/>
              </a:rPr>
              <a:t>• Smart Hallway Safety Corridor: </a:t>
            </a:r>
            <a:r>
              <a:rPr sz="1100" b="0">
                <a:solidFill>
                  <a:srgbClr val="334155"/>
                </a:solidFill>
                <a:latin typeface="Calisto MT"/>
              </a:rPr>
              <a:t>Replaced the wide sensor cone with a rectangular corridor (|y| &lt;= 0.18 m) that only reacts to obstacles directly ahead, eliminating false alarms from side chairs and tables.</a:t>
            </a:r>
          </a:p>
          <a:p>
            <a:pPr algn="l">
              <a:lnSpc>
                <a:spcPct val="115000"/>
              </a:lnSpc>
              <a:spcAft>
                <a:spcPts val="700"/>
              </a:spcAft>
            </a:pPr>
            <a:r>
              <a:rPr sz="1100" b="1">
                <a:solidFill>
                  <a:srgbClr val="002060"/>
                </a:solidFill>
                <a:latin typeface="Calisto MT"/>
              </a:rPr>
              <a:t>• Rear Collision Guard: </a:t>
            </a:r>
            <a:r>
              <a:rPr sz="1100" b="0">
                <a:solidFill>
                  <a:srgbClr val="334155"/>
                </a:solidFill>
                <a:latin typeface="Calisto MT"/>
              </a:rPr>
              <a:t>Before backing away from a frontal obstacle, the robot checks behind itself; if an object is within 0.25 meters, it stops immediately instead of backing up blindly.</a:t>
            </a:r>
          </a:p>
          <a:p>
            <a:pPr algn="l">
              <a:lnSpc>
                <a:spcPct val="115000"/>
              </a:lnSpc>
              <a:spcAft>
                <a:spcPts val="0"/>
              </a:spcAft>
            </a:pPr>
            <a:r>
              <a:rPr sz="1100" b="1">
                <a:solidFill>
                  <a:srgbClr val="002060"/>
                </a:solidFill>
                <a:latin typeface="Calisto MT"/>
              </a:rPr>
              <a:t>• Certified ISO 15066 Safety: </a:t>
            </a:r>
            <a:r>
              <a:rPr sz="1100" b="0">
                <a:solidFill>
                  <a:srgbClr val="334155"/>
                </a:solidFill>
                <a:latin typeface="Calisto MT"/>
              </a:rPr>
              <a:t>Cruising speed is capped at 0.20 m/s with 12.6 scans per second, ensuring the robot is safe to operate around humans in collaborative workspaces.</a:t>
            </a:r>
          </a:p>
        </p:txBody>
      </p:sp>
      <p:pic>
        <p:nvPicPr>
          <p:cNvPr id="6" name="Safety_Lidar_Img" descr="image.png"/>
          <p:cNvPicPr>
            <a:picLocks noChangeAspect="1"/>
          </p:cNvPicPr>
          <p:nvPr/>
        </p:nvPicPr>
        <p:blipFill>
          <a:blip r:embed="rId2"/>
          <a:stretch>
            <a:fillRect/>
          </a:stretch>
        </p:blipFill>
        <p:spPr>
          <a:xfrm>
            <a:off x="6355080" y="1261872"/>
            <a:ext cx="5029200" cy="2743200"/>
          </a:xfrm>
          <a:prstGeom prst="rect">
            <a:avLst/>
          </a:prstGeom>
        </p:spPr>
      </p:pic>
      <p:sp>
        <p:nvSpPr>
          <p:cNvPr id="7" name="Safety_Lidar_Cap"/>
          <p:cNvSpPr txBox="1"/>
          <p:nvPr/>
        </p:nvSpPr>
        <p:spPr>
          <a:xfrm>
            <a:off x="6355080" y="4041648"/>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4.2: Smart Rectangular Safety Corridor vs. Old Cone (Eliminating False Alarms)</a:t>
            </a:r>
          </a:p>
        </p:txBody>
      </p:sp>
      <p:sp>
        <p:nvSpPr>
          <p:cNvPr id="8" name="Safety_Bench_Text"/>
          <p:cNvSpPr txBox="1"/>
          <p:nvPr/>
        </p:nvSpPr>
        <p:spPr>
          <a:xfrm>
            <a:off x="6355080" y="4370832"/>
            <a:ext cx="5029200" cy="11430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VERIFIED PHYSICAL SAFETY &amp; LOCOMOTION METRICS:</a:t>
            </a:r>
          </a:p>
          <a:p>
            <a:pPr algn="l">
              <a:lnSpc>
                <a:spcPct val="112000"/>
              </a:lnSpc>
              <a:spcAft>
                <a:spcPts val="250"/>
              </a:spcAft>
            </a:pPr>
            <a:r>
              <a:rPr sz="880" b="1">
                <a:solidFill>
                  <a:srgbClr val="002060"/>
                </a:solidFill>
                <a:latin typeface="Calisto MT"/>
              </a:rPr>
              <a:t>• Braking Speed: </a:t>
            </a:r>
            <a:r>
              <a:rPr sz="880" b="0">
                <a:solidFill>
                  <a:srgbClr val="334155"/>
                </a:solidFill>
                <a:latin typeface="Calisto MT"/>
              </a:rPr>
              <a:t>98 ms average physical emergency stop from 0.20 m/s cruising speed</a:t>
            </a:r>
          </a:p>
          <a:p>
            <a:pPr algn="l">
              <a:lnSpc>
                <a:spcPct val="112000"/>
              </a:lnSpc>
              <a:spcAft>
                <a:spcPts val="250"/>
              </a:spcAft>
            </a:pPr>
            <a:r>
              <a:rPr sz="880" b="1">
                <a:solidFill>
                  <a:srgbClr val="002060"/>
                </a:solidFill>
                <a:latin typeface="Calisto MT"/>
              </a:rPr>
              <a:t>• Front Safety Zones: </a:t>
            </a:r>
            <a:r>
              <a:rPr sz="880" b="0">
                <a:solidFill>
                  <a:srgbClr val="334155"/>
                </a:solidFill>
                <a:latin typeface="Calisto MT"/>
              </a:rPr>
              <a:t>0.36 m danger halt threshold; 0.55 m caution recovery buffer</a:t>
            </a:r>
          </a:p>
          <a:p>
            <a:pPr algn="l">
              <a:lnSpc>
                <a:spcPct val="112000"/>
              </a:lnSpc>
              <a:spcAft>
                <a:spcPts val="250"/>
              </a:spcAft>
            </a:pPr>
            <a:r>
              <a:rPr sz="880" b="1">
                <a:solidFill>
                  <a:srgbClr val="002060"/>
                </a:solidFill>
                <a:latin typeface="Calisto MT"/>
              </a:rPr>
              <a:t>• Rear Guard Clearance: </a:t>
            </a:r>
            <a:r>
              <a:rPr sz="880" b="0">
                <a:solidFill>
                  <a:srgbClr val="334155"/>
                </a:solidFill>
                <a:latin typeface="Calisto MT"/>
              </a:rPr>
              <a:t>Reversing cancelled immediately if obstacles detected within 0.25 m</a:t>
            </a:r>
          </a:p>
          <a:p>
            <a:pPr algn="l">
              <a:lnSpc>
                <a:spcPct val="112000"/>
              </a:lnSpc>
              <a:spcAft>
                <a:spcPts val="0"/>
              </a:spcAft>
            </a:pPr>
            <a:r>
              <a:rPr sz="880" b="1">
                <a:solidFill>
                  <a:srgbClr val="002060"/>
                </a:solidFill>
                <a:latin typeface="Calisto MT"/>
              </a:rPr>
              <a:t>• Safety Compliance: </a:t>
            </a:r>
            <a:r>
              <a:rPr sz="880" b="0">
                <a:solidFill>
                  <a:srgbClr val="334155"/>
                </a:solidFill>
                <a:latin typeface="Calisto MT"/>
              </a:rPr>
              <a:t>100% compliant with ISO 15066 collaborative robotic safety criteria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CONCLUSION, LIMITATIONS &amp; RECOMMENDATIONS</a:t>
            </a:r>
          </a:p>
        </p:txBody>
      </p:sp>
      <p:sp>
        <p:nvSpPr>
          <p:cNvPr id="3" name="Content Placeholder 2"/>
          <p:cNvSpPr>
            <a:spLocks noGrp="1"/>
          </p:cNvSpPr>
          <p:nvPr>
            <p:ph idx="1"/>
          </p:nvPr>
        </p:nvSpPr>
        <p:spPr/>
        <p:txBody>
          <a:bodyPr/>
          <a:lstStyle/>
          <a:p/>
        </p:txBody>
      </p:sp>
      <p:sp>
        <p:nvSpPr>
          <p:cNvPr id="4" name="Conclu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PROJECT CONTRIBUTIONS, TECHNICAL LIMITATIONS, AND RECOMMENDATIONS FOR FUTURE WORK</a:t>
            </a:r>
          </a:p>
        </p:txBody>
      </p:sp>
      <p:sp>
        <p:nvSpPr>
          <p:cNvPr id="5" name="Conclusion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4000"/>
              </a:lnSpc>
              <a:spcBef>
                <a:spcPts val="0"/>
              </a:spcBef>
              <a:spcAft>
                <a:spcPts val="300"/>
              </a:spcAft>
              <a:defRPr sz="1000" b="1" i="0">
                <a:solidFill>
                  <a:srgbClr val="B8860B"/>
                </a:solidFill>
                <a:latin typeface="Calisto MT"/>
              </a:defRPr>
            </a:pPr>
            <a:r>
              <a:t>KEY RESEARCH CONCLUSIONS:</a:t>
            </a:r>
          </a:p>
          <a:p>
            <a:pPr algn="l">
              <a:lnSpc>
                <a:spcPct val="113000"/>
              </a:lnSpc>
              <a:spcAft>
                <a:spcPts val="500"/>
              </a:spcAft>
            </a:pPr>
            <a:r>
              <a:rPr sz="1000" b="1">
                <a:solidFill>
                  <a:srgbClr val="002060"/>
                </a:solidFill>
                <a:latin typeface="Calisto MT"/>
              </a:rPr>
              <a:t>• Complete Edge Autonomy: </a:t>
            </a:r>
            <a:r>
              <a:rPr sz="1000" b="0">
                <a:solidFill>
                  <a:srgbClr val="334155"/>
                </a:solidFill>
                <a:latin typeface="Calisto MT"/>
              </a:rPr>
              <a:t>AI vision, gesture recognition, human tracking, and SLAM execute 100% onboard the Raspberry Pi 5 without clouds or external GPUs.</a:t>
            </a:r>
          </a:p>
          <a:p>
            <a:pPr algn="l">
              <a:lnSpc>
                <a:spcPct val="113000"/>
              </a:lnSpc>
              <a:spcAft>
                <a:spcPts val="500"/>
              </a:spcAft>
            </a:pPr>
            <a:r>
              <a:rPr sz="1000" b="1">
                <a:solidFill>
                  <a:srgbClr val="002060"/>
                </a:solidFill>
                <a:latin typeface="Calisto MT"/>
              </a:rPr>
              <a:t>• High Real-World Accuracy: </a:t>
            </a:r>
            <a:r>
              <a:rPr sz="1000" b="0">
                <a:solidFill>
                  <a:srgbClr val="334155"/>
                </a:solidFill>
                <a:latin typeface="Calisto MT"/>
              </a:rPr>
              <a:t>Achieved 99.38% lab test accuracy and 96.67% physical driving success across 180 mobile trials in the laboratory.</a:t>
            </a:r>
          </a:p>
          <a:p>
            <a:pPr algn="l">
              <a:lnSpc>
                <a:spcPct val="113000"/>
              </a:lnSpc>
              <a:spcAft>
                <a:spcPts val="500"/>
              </a:spcAft>
            </a:pPr>
            <a:r>
              <a:rPr sz="1000" b="1">
                <a:solidFill>
                  <a:srgbClr val="002060"/>
                </a:solidFill>
                <a:latin typeface="Calisto MT"/>
              </a:rPr>
              <a:t>• Certified Collaborative Safety: </a:t>
            </a:r>
            <a:r>
              <a:rPr sz="1000" b="0">
                <a:solidFill>
                  <a:srgbClr val="334155"/>
                </a:solidFill>
                <a:latin typeface="Calisto MT"/>
              </a:rPr>
              <a:t>132 ms total response time and 98 ms physical braking fully satisfy ISO 15066 safety standards for human-robot shared spaces.</a:t>
            </a:r>
          </a:p>
          <a:p>
            <a:pPr algn="l">
              <a:lnSpc>
                <a:spcPct val="114000"/>
              </a:lnSpc>
              <a:spcBef>
                <a:spcPts val="0"/>
              </a:spcBef>
              <a:spcAft>
                <a:spcPts val="300"/>
              </a:spcAft>
              <a:defRPr sz="1000" b="1" i="0">
                <a:solidFill>
                  <a:srgbClr val="B8860B"/>
                </a:solidFill>
                <a:latin typeface="Calisto MT"/>
              </a:defRPr>
            </a:pPr>
            <a:r>
              <a:t>TECHNICAL LIMITATIONS OF THE STUDY:</a:t>
            </a:r>
          </a:p>
          <a:p>
            <a:pPr algn="l">
              <a:lnSpc>
                <a:spcPct val="113000"/>
              </a:lnSpc>
              <a:spcAft>
                <a:spcPts val="500"/>
              </a:spcAft>
            </a:pPr>
            <a:r>
              <a:rPr sz="1000" b="1">
                <a:solidFill>
                  <a:srgbClr val="002060"/>
                </a:solidFill>
                <a:latin typeface="Calisto MT"/>
              </a:rPr>
              <a:t>• Single Indoor Environment: </a:t>
            </a:r>
            <a:r>
              <a:rPr sz="1000" b="0">
                <a:solidFill>
                  <a:srgbClr val="334155"/>
                </a:solidFill>
                <a:latin typeface="Calisto MT"/>
              </a:rPr>
              <a:t>Evaluated in a single research lab; extreme direct sunlight washout and transparent glass partitions were not tested.</a:t>
            </a:r>
          </a:p>
          <a:p>
            <a:pPr algn="l">
              <a:lnSpc>
                <a:spcPct val="113000"/>
              </a:lnSpc>
              <a:spcAft>
                <a:spcPts val="500"/>
              </a:spcAft>
            </a:pPr>
            <a:r>
              <a:rPr sz="1000" b="1">
                <a:solidFill>
                  <a:srgbClr val="002060"/>
                </a:solidFill>
                <a:latin typeface="Calisto MT"/>
              </a:rPr>
              <a:t>• Edge CPU Compute Headroom: </a:t>
            </a:r>
            <a:r>
              <a:rPr sz="1000" b="0">
                <a:solidFill>
                  <a:srgbClr val="334155"/>
                </a:solidFill>
                <a:latin typeface="Calisto MT"/>
              </a:rPr>
              <a:t>Running continuous facial recognition alongside hand and person tracking saturated the 4-core CPU, requiring face ID to run offline.</a:t>
            </a:r>
          </a:p>
          <a:p>
            <a:pPr algn="l">
              <a:lnSpc>
                <a:spcPct val="113000"/>
              </a:lnSpc>
              <a:spcAft>
                <a:spcPts val="0"/>
              </a:spcAft>
            </a:pPr>
            <a:r>
              <a:rPr sz="1000" b="1">
                <a:solidFill>
                  <a:srgbClr val="002060"/>
                </a:solidFill>
                <a:latin typeface="Calisto MT"/>
              </a:rPr>
              <a:t>• Evaluation Cohort Size: </a:t>
            </a:r>
            <a:r>
              <a:rPr sz="1000" b="0">
                <a:solidFill>
                  <a:srgbClr val="334155"/>
                </a:solidFill>
                <a:latin typeface="Calisto MT"/>
              </a:rPr>
              <a:t>Physical driving trials involved 3 participants across 180 runs; broader demographic testing across diverse hand shapes is recommended.</a:t>
            </a:r>
          </a:p>
        </p:txBody>
      </p:sp>
      <p:pic>
        <p:nvPicPr>
          <p:cNvPr id="6" name="Conclusion_Robot_Img" descr="image.jpg"/>
          <p:cNvPicPr>
            <a:picLocks noChangeAspect="1"/>
          </p:cNvPicPr>
          <p:nvPr/>
        </p:nvPicPr>
        <p:blipFill>
          <a:blip r:embed="rId2"/>
          <a:stretch>
            <a:fillRect/>
          </a:stretch>
        </p:blipFill>
        <p:spPr>
          <a:xfrm>
            <a:off x="6355080" y="1261872"/>
            <a:ext cx="2423160" cy="1874519"/>
          </a:xfrm>
          <a:prstGeom prst="rect">
            <a:avLst/>
          </a:prstGeom>
        </p:spPr>
      </p:pic>
      <p:sp>
        <p:nvSpPr>
          <p:cNvPr id="7" name="Conclusion_Robot_Cap"/>
          <p:cNvSpPr txBox="1"/>
          <p:nvPr/>
        </p:nvSpPr>
        <p:spPr>
          <a:xfrm>
            <a:off x="6355080" y="3163824"/>
            <a:ext cx="2423160" cy="20116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5.1: Fully Integrated Mobile Robot</a:t>
            </a:r>
          </a:p>
        </p:txBody>
      </p:sp>
      <p:sp>
        <p:nvSpPr>
          <p:cNvPr id="8" name="Conclusion_Milestones_Text"/>
          <p:cNvSpPr txBox="1"/>
          <p:nvPr/>
        </p:nvSpPr>
        <p:spPr>
          <a:xfrm>
            <a:off x="8961120" y="1261872"/>
            <a:ext cx="242316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PROJECT IMPACT &amp; REACH:</a:t>
            </a:r>
          </a:p>
          <a:p>
            <a:pPr algn="l">
              <a:lnSpc>
                <a:spcPct val="112000"/>
              </a:lnSpc>
              <a:spcAft>
                <a:spcPts val="400"/>
              </a:spcAft>
            </a:pPr>
            <a:r>
              <a:rPr sz="880" b="1">
                <a:solidFill>
                  <a:srgbClr val="002060"/>
                </a:solidFill>
                <a:latin typeface="Calisto MT"/>
              </a:rPr>
              <a:t>• Zero Cloud Dependency: </a:t>
            </a:r>
            <a:r>
              <a:rPr sz="880" b="0">
                <a:solidFill>
                  <a:srgbClr val="334155"/>
                </a:solidFill>
                <a:latin typeface="Calisto MT"/>
              </a:rPr>
              <a:t>Complete privacy, security, and offline field reliability</a:t>
            </a:r>
          </a:p>
          <a:p>
            <a:pPr algn="l">
              <a:lnSpc>
                <a:spcPct val="112000"/>
              </a:lnSpc>
              <a:spcAft>
                <a:spcPts val="400"/>
              </a:spcAft>
            </a:pPr>
            <a:r>
              <a:rPr sz="880" b="1">
                <a:solidFill>
                  <a:srgbClr val="002060"/>
                </a:solidFill>
                <a:latin typeface="Calisto MT"/>
              </a:rPr>
              <a:t>• Low-Cost Platform: </a:t>
            </a:r>
            <a:r>
              <a:rPr sz="880" b="0">
                <a:solidFill>
                  <a:srgbClr val="334155"/>
                </a:solidFill>
                <a:latin typeface="Calisto MT"/>
              </a:rPr>
              <a:t>Accessible edge robotics under modest computing budgets</a:t>
            </a:r>
          </a:p>
          <a:p>
            <a:pPr algn="l">
              <a:lnSpc>
                <a:spcPct val="112000"/>
              </a:lnSpc>
              <a:spcAft>
                <a:spcPts val="0"/>
              </a:spcAft>
            </a:pPr>
            <a:r>
              <a:rPr sz="880" b="1">
                <a:solidFill>
                  <a:srgbClr val="002060"/>
                </a:solidFill>
                <a:latin typeface="Calisto MT"/>
              </a:rPr>
              <a:t>• Industry Standards: </a:t>
            </a:r>
            <a:r>
              <a:rPr sz="880" b="0">
                <a:solidFill>
                  <a:srgbClr val="334155"/>
                </a:solidFill>
                <a:latin typeface="Calisto MT"/>
              </a:rPr>
              <a:t>100% compliant with ISO 15066 and ROS REP-103/105</a:t>
            </a:r>
          </a:p>
        </p:txBody>
      </p:sp>
      <p:sp>
        <p:nvSpPr>
          <p:cNvPr id="9" name="Conclusion_Demo_Text"/>
          <p:cNvSpPr txBox="1"/>
          <p:nvPr/>
        </p:nvSpPr>
        <p:spPr>
          <a:xfrm>
            <a:off x="6355080" y="3429000"/>
            <a:ext cx="5029200" cy="20574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RECOMMENDATIONS FOR FUTURE WORK:</a:t>
            </a:r>
          </a:p>
          <a:p>
            <a:pPr algn="l">
              <a:lnSpc>
                <a:spcPct val="112000"/>
              </a:lnSpc>
              <a:spcAft>
                <a:spcPts val="250"/>
              </a:spcAft>
            </a:pPr>
            <a:r>
              <a:rPr sz="880" b="1">
                <a:solidFill>
                  <a:srgbClr val="002060"/>
                </a:solidFill>
                <a:latin typeface="Calisto MT"/>
              </a:rPr>
              <a:t>• Edge NPU Acceleration: </a:t>
            </a:r>
            <a:r>
              <a:rPr sz="880" b="0">
                <a:solidFill>
                  <a:srgbClr val="334155"/>
                </a:solidFill>
                <a:latin typeface="Calisto MT"/>
              </a:rPr>
              <a:t>Add an M.2 Neural Processing Unit (Hailo-8) to run face recognition, hand gestures, and body tracking concurrently at 30 FPS.</a:t>
            </a:r>
          </a:p>
          <a:p>
            <a:pPr algn="l">
              <a:lnSpc>
                <a:spcPct val="112000"/>
              </a:lnSpc>
              <a:spcAft>
                <a:spcPts val="250"/>
              </a:spcAft>
            </a:pPr>
            <a:r>
              <a:rPr sz="880" b="1">
                <a:solidFill>
                  <a:srgbClr val="002060"/>
                </a:solidFill>
                <a:latin typeface="Calisto MT"/>
              </a:rPr>
              <a:t>• Dual-Mode Navigation: </a:t>
            </a:r>
            <a:r>
              <a:rPr sz="880" b="0">
                <a:solidFill>
                  <a:srgbClr val="334155"/>
                </a:solidFill>
                <a:latin typeface="Calisto MT"/>
              </a:rPr>
              <a:t>Implement human-led mapping in unknown areas ('Follow-to-Map'), and autonomous semantic waypoint dispatch in mapped spaces.</a:t>
            </a:r>
          </a:p>
          <a:p>
            <a:pPr algn="l">
              <a:lnSpc>
                <a:spcPct val="112000"/>
              </a:lnSpc>
              <a:spcAft>
                <a:spcPts val="250"/>
              </a:spcAft>
            </a:pPr>
            <a:r>
              <a:rPr sz="880" b="1">
                <a:solidFill>
                  <a:srgbClr val="002060"/>
                </a:solidFill>
                <a:latin typeface="Calisto MT"/>
              </a:rPr>
              <a:t>• High-Speed PCIe NVMe Storage: </a:t>
            </a:r>
            <a:r>
              <a:rPr sz="880" b="0">
                <a:solidFill>
                  <a:srgbClr val="334155"/>
                </a:solidFill>
                <a:latin typeface="Calisto MT"/>
              </a:rPr>
              <a:t>Equip the Pi 5 with an NVMe SSD to record full-rate video streams and sensor logs without SD card bottlenecks.</a:t>
            </a:r>
          </a:p>
          <a:p>
            <a:pPr algn="l">
              <a:lnSpc>
                <a:spcPct val="112000"/>
              </a:lnSpc>
              <a:spcAft>
                <a:spcPts val="0"/>
              </a:spcAft>
            </a:pPr>
            <a:r>
              <a:rPr sz="880" b="1">
                <a:solidFill>
                  <a:srgbClr val="002060"/>
                </a:solidFill>
                <a:latin typeface="Calisto MT"/>
              </a:rPr>
              <a:t>• Multi-Sensor Redundancy: </a:t>
            </a:r>
            <a:r>
              <a:rPr sz="880" b="0">
                <a:solidFill>
                  <a:srgbClr val="334155"/>
                </a:solidFill>
                <a:latin typeface="Calisto MT"/>
              </a:rPr>
              <a:t>Add ultrasonic sonar or depth cameras to detect transparent glass walls and low obstacles below the 2D LiDAR plane.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