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_rels/presentation.xml.rels" ContentType="application/vnd.openxmlformats-package.relationships+xml"/>
  <Override PartName="/ppt/media/image12.png" ContentType="image/png"/>
  <Override PartName="/ppt/media/image8.jpeg" ContentType="image/jpeg"/>
  <Override PartName="/ppt/media/image16.jpeg" ContentType="image/jpeg"/>
  <Override PartName="/ppt/media/image14.png" ContentType="image/png"/>
  <Override PartName="/ppt/media/image5.jpeg" ContentType="image/jpeg"/>
  <Override PartName="/ppt/media/image15.png" ContentType="image/png"/>
  <Override PartName="/ppt/media/image3.jpeg" ContentType="image/jpeg"/>
  <Override PartName="/ppt/media/image11.png" ContentType="image/png"/>
  <Override PartName="/ppt/media/image2.png" ContentType="image/png"/>
  <Override PartName="/ppt/media/image1.png" ContentType="image/png"/>
  <Override PartName="/ppt/media/image6.jpeg" ContentType="image/jpeg"/>
  <Override PartName="/ppt/media/image13.png" ContentType="image/png"/>
  <Override PartName="/ppt/media/image4.png" ContentType="image/png"/>
  <Override PartName="/ppt/media/image10.jpeg" ContentType="image/jpeg"/>
  <Override PartName="/ppt/media/image9.png" ContentType="image/png"/>
  <Override PartName="/ppt/media/image7.jpeg" ContentType="image/jpe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notesSlides/_rels/notesSlide1.xml.rels" ContentType="application/vnd.openxmlformats-package.relationships+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2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2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27"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8"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9"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EDC1BF7E-30B8-4C86-B093-3EF9823CAC6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sldImg"/>
          </p:nvPr>
        </p:nvSpPr>
        <p:spPr>
          <a:xfrm>
            <a:off x="685800" y="1143000"/>
            <a:ext cx="5485320" cy="3085200"/>
          </a:xfrm>
          <a:prstGeom prst="rect">
            <a:avLst/>
          </a:prstGeom>
          <a:ln w="0">
            <a:noFill/>
          </a:ln>
        </p:spPr>
      </p:sp>
      <p:sp>
        <p:nvSpPr>
          <p:cNvPr id="12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30" name="PlaceHolder 3"/>
          <p:cNvSpPr>
            <a:spLocks noGrp="1"/>
          </p:cNvSpPr>
          <p:nvPr>
            <p:ph type="sldNum" idx="10"/>
          </p:nvPr>
        </p:nvSpPr>
        <p:spPr>
          <a:xfrm>
            <a:off x="3884760" y="8685360"/>
            <a:ext cx="2970720" cy="45756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31CB503-755D-4E46-A4A6-AD59FDB29665}" type="slidenum">
              <a:rPr b="0" lang="en-US" sz="1200" spc="-1" strike="noStrike">
                <a:solidFill>
                  <a:srgbClr val="000000"/>
                </a:solidFill>
                <a:latin typeface="Times New Roman"/>
              </a:rPr>
              <a:t>5</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99B5064-963F-4B67-8F14-AA275C9907AB}"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E633B0A0-6A78-4C87-B441-5B91FB2EDC5C}" type="slidenum">
              <a:t>&lt;#&gt;</a:t>
            </a:fld>
          </a:p>
        </p:txBody>
      </p:sp>
      <p:sp>
        <p:nvSpPr>
          <p:cNvPr id="6" name="PlaceHolder 5"/>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icture 7"/>
          <p:cNvSpPr/>
          <p:nvPr/>
        </p:nvSpPr>
        <p:spPr>
          <a:xfrm>
            <a:off x="4038480" y="2334600"/>
            <a:ext cx="3308040" cy="318600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 name="Rectangle 9"/>
          <p:cNvSpPr/>
          <p:nvPr/>
        </p:nvSpPr>
        <p:spPr>
          <a:xfrm>
            <a:off x="0" y="0"/>
            <a:ext cx="12191040" cy="617580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 name="Rectangle 12"/>
          <p:cNvSpPr/>
          <p:nvPr/>
        </p:nvSpPr>
        <p:spPr>
          <a:xfrm>
            <a:off x="0" y="0"/>
            <a:ext cx="9142920" cy="18468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 name="Rectangle 13"/>
          <p:cNvSpPr/>
          <p:nvPr/>
        </p:nvSpPr>
        <p:spPr>
          <a:xfrm>
            <a:off x="9144000" y="0"/>
            <a:ext cx="3047040" cy="18468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4" name="Rectangle 15"/>
          <p:cNvSpPr/>
          <p:nvPr/>
        </p:nvSpPr>
        <p:spPr>
          <a:xfrm>
            <a:off x="0" y="6176880"/>
            <a:ext cx="12191040" cy="680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5" name="Picture 16" descr=""/>
          <p:cNvPicPr/>
          <p:nvPr/>
        </p:nvPicPr>
        <p:blipFill>
          <a:blip r:embed="rId3"/>
          <a:stretch/>
        </p:blipFill>
        <p:spPr>
          <a:xfrm>
            <a:off x="8210520" y="6176880"/>
            <a:ext cx="3980520" cy="684000"/>
          </a:xfrm>
          <a:prstGeom prst="rect">
            <a:avLst/>
          </a:prstGeom>
          <a:ln w="0">
            <a:noFill/>
          </a:ln>
          <a:effectLst>
            <a:softEdge rad="112680"/>
          </a:effectLst>
        </p:spPr>
      </p:pic>
      <p:sp>
        <p:nvSpPr>
          <p:cNvPr id="6" name="PlaceHolder 1"/>
          <p:cNvSpPr>
            <a:spLocks noGrp="1"/>
          </p:cNvSpPr>
          <p:nvPr>
            <p:ph type="ftr" idx="1"/>
          </p:nvPr>
        </p:nvSpPr>
        <p:spPr>
          <a:xfrm>
            <a:off x="4038480" y="6356520"/>
            <a:ext cx="4113720" cy="36396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2"/>
          </p:nvPr>
        </p:nvSpPr>
        <p:spPr>
          <a:xfrm>
            <a:off x="8610480" y="6356520"/>
            <a:ext cx="274212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US" sz="1800" spc="-1" strike="noStrike">
                <a:solidFill>
                  <a:schemeClr val="dk1"/>
                </a:solidFill>
                <a:latin typeface="Calibri"/>
              </a:defRPr>
            </a:lvl1pPr>
          </a:lstStyle>
          <a:p>
            <a:pPr indent="0" defTabSz="914400">
              <a:lnSpc>
                <a:spcPct val="100000"/>
              </a:lnSpc>
              <a:buNone/>
              <a:tabLst>
                <a:tab algn="l" pos="0"/>
              </a:tabLst>
            </a:pPr>
            <a:fld id="{EDA15DB3-01E8-47DB-81A5-BC097E041CB3}" type="slidenum">
              <a:rPr b="0" lang="en-US" sz="1800" spc="-1" strike="noStrike">
                <a:solidFill>
                  <a:schemeClr val="dk1"/>
                </a:solidFill>
                <a:latin typeface="Calibri"/>
              </a:rPr>
              <a:t>&lt;number&gt;</a:t>
            </a:fld>
            <a:endParaRPr b="0" lang="en-US" sz="1800" spc="-1" strike="noStrike">
              <a:solidFill>
                <a:srgbClr val="000000"/>
              </a:solidFill>
              <a:latin typeface="Times New Roman"/>
            </a:endParaRPr>
          </a:p>
        </p:txBody>
      </p:sp>
      <p:sp>
        <p:nvSpPr>
          <p:cNvPr id="8" name="PlaceHolder 3"/>
          <p:cNvSpPr>
            <a:spLocks noGrp="1"/>
          </p:cNvSpPr>
          <p:nvPr>
            <p:ph type="dt" idx="3"/>
          </p:nvPr>
        </p:nvSpPr>
        <p:spPr>
          <a:xfrm>
            <a:off x="838080" y="6356520"/>
            <a:ext cx="2742120" cy="36396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9"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a:t>
            </a:r>
            <a:r>
              <a:rPr b="0" lang="en-US" sz="4400" spc="-1" strike="noStrike">
                <a:solidFill>
                  <a:srgbClr val="000000"/>
                </a:solidFill>
                <a:latin typeface="Arial"/>
              </a:rPr>
              <a:t>the title text </a:t>
            </a:r>
            <a:r>
              <a:rPr b="0" lang="en-US" sz="4400" spc="-1" strike="noStrike">
                <a:solidFill>
                  <a:srgbClr val="000000"/>
                </a:solidFill>
                <a:latin typeface="Arial"/>
              </a:rPr>
              <a:t>format</a:t>
            </a:r>
            <a:endParaRPr b="0" lang="en-US" sz="4400" spc="-1" strike="noStrike">
              <a:solidFill>
                <a:srgbClr val="000000"/>
              </a:solidFill>
              <a:latin typeface="Arial"/>
            </a:endParaRPr>
          </a:p>
        </p:txBody>
      </p:sp>
      <p:sp>
        <p:nvSpPr>
          <p:cNvPr id="10"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icture 7"/>
          <p:cNvSpPr/>
          <p:nvPr/>
        </p:nvSpPr>
        <p:spPr>
          <a:xfrm>
            <a:off x="4038480" y="2334600"/>
            <a:ext cx="3308040" cy="318600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 name="Rectangle 9"/>
          <p:cNvSpPr/>
          <p:nvPr/>
        </p:nvSpPr>
        <p:spPr>
          <a:xfrm>
            <a:off x="0" y="0"/>
            <a:ext cx="12191040" cy="617580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3" name="Rectangle 12"/>
          <p:cNvSpPr/>
          <p:nvPr/>
        </p:nvSpPr>
        <p:spPr>
          <a:xfrm>
            <a:off x="0" y="0"/>
            <a:ext cx="9142920" cy="18468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 name="Rectangle 13"/>
          <p:cNvSpPr/>
          <p:nvPr/>
        </p:nvSpPr>
        <p:spPr>
          <a:xfrm>
            <a:off x="9144000" y="0"/>
            <a:ext cx="3047040" cy="18468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5" name="Rectangle 15"/>
          <p:cNvSpPr/>
          <p:nvPr/>
        </p:nvSpPr>
        <p:spPr>
          <a:xfrm>
            <a:off x="0" y="6176880"/>
            <a:ext cx="12191040" cy="680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16" name="Picture 16" descr=""/>
          <p:cNvPicPr/>
          <p:nvPr/>
        </p:nvPicPr>
        <p:blipFill>
          <a:blip r:embed="rId3"/>
          <a:stretch/>
        </p:blipFill>
        <p:spPr>
          <a:xfrm>
            <a:off x="8210520" y="6176880"/>
            <a:ext cx="3980520" cy="684000"/>
          </a:xfrm>
          <a:prstGeom prst="rect">
            <a:avLst/>
          </a:prstGeom>
          <a:ln w="0">
            <a:noFill/>
          </a:ln>
          <a:effectLst>
            <a:softEdge rad="112680"/>
          </a:effectLst>
        </p:spPr>
      </p:pic>
      <p:sp>
        <p:nvSpPr>
          <p:cNvPr id="17"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8" name="PlaceHolder 2"/>
          <p:cNvSpPr>
            <a:spLocks noGrp="1"/>
          </p:cNvSpPr>
          <p:nvPr>
            <p:ph type="body"/>
          </p:nvPr>
        </p:nvSpPr>
        <p:spPr>
          <a:xfrm>
            <a:off x="838080" y="1825560"/>
            <a:ext cx="10514520" cy="4350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9" name="PlaceHolder 3"/>
          <p:cNvSpPr>
            <a:spLocks noGrp="1"/>
          </p:cNvSpPr>
          <p:nvPr>
            <p:ph type="ftr" idx="4"/>
          </p:nvPr>
        </p:nvSpPr>
        <p:spPr>
          <a:xfrm>
            <a:off x="4165560" y="6356520"/>
            <a:ext cx="385956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r>
              <a:rPr b="0" lang="en-GB" sz="1800" spc="-1" strike="noStrike">
                <a:solidFill>
                  <a:schemeClr val="dk1"/>
                </a:solidFill>
                <a:latin typeface="Calibri"/>
              </a:rPr>
              <a:t>&lt;footer&gt;</a:t>
            </a:r>
            <a:endParaRPr b="0" lang="en-US" sz="1800" spc="-1" strike="noStrike">
              <a:solidFill>
                <a:srgbClr val="000000"/>
              </a:solidFill>
              <a:latin typeface="Times New Roman"/>
            </a:endParaRPr>
          </a:p>
        </p:txBody>
      </p:sp>
      <p:sp>
        <p:nvSpPr>
          <p:cNvPr id="20" name="PlaceHolder 4"/>
          <p:cNvSpPr>
            <a:spLocks noGrp="1"/>
          </p:cNvSpPr>
          <p:nvPr>
            <p:ph type="sldNum" idx="5"/>
          </p:nvPr>
        </p:nvSpPr>
        <p:spPr>
          <a:xfrm>
            <a:off x="8737560" y="6356520"/>
            <a:ext cx="2843640" cy="36396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fld id="{1611805A-9257-46E2-BA23-DC3A346C8C68}" type="slidenum">
              <a:rPr b="0" lang="en-GB" sz="1800" spc="-1" strike="noStrike">
                <a:solidFill>
                  <a:schemeClr val="dk1"/>
                </a:solidFill>
                <a:latin typeface="Calibri"/>
              </a:rPr>
              <a:t>&lt;number&gt;</a:t>
            </a:fld>
            <a:endParaRPr b="0" lang="en-US" sz="1800" spc="-1" strike="noStrike">
              <a:solidFill>
                <a:srgbClr val="000000"/>
              </a:solidFill>
              <a:latin typeface="Times New Roman"/>
            </a:endParaRPr>
          </a:p>
        </p:txBody>
      </p:sp>
      <p:sp>
        <p:nvSpPr>
          <p:cNvPr id="21" name="PlaceHolder 5"/>
          <p:cNvSpPr>
            <a:spLocks noGrp="1"/>
          </p:cNvSpPr>
          <p:nvPr>
            <p:ph type="dt" idx="6"/>
          </p:nvPr>
        </p:nvSpPr>
        <p:spPr>
          <a:xfrm>
            <a:off x="609480" y="6356520"/>
            <a:ext cx="2843640" cy="36396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6.jpe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image" Target="../media/image8.jpeg"/><Relationship Id="rId3"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jpeg"/><Relationship Id="rId3"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6.jpe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Rectangle 5"/>
          <p:cNvSpPr/>
          <p:nvPr/>
        </p:nvSpPr>
        <p:spPr>
          <a:xfrm>
            <a:off x="0" y="0"/>
            <a:ext cx="5572440" cy="6856920"/>
          </a:xfrm>
          <a:prstGeom prst="rect">
            <a:avLst/>
          </a:prstGeom>
          <a:solidFill>
            <a:srgbClr val="ffffff"/>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 name="Rectangle 4"/>
          <p:cNvSpPr/>
          <p:nvPr/>
        </p:nvSpPr>
        <p:spPr>
          <a:xfrm>
            <a:off x="5573520" y="0"/>
            <a:ext cx="347400" cy="685692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 name="Rectangle 3"/>
          <p:cNvSpPr/>
          <p:nvPr/>
        </p:nvSpPr>
        <p:spPr>
          <a:xfrm>
            <a:off x="5921640" y="0"/>
            <a:ext cx="6269040" cy="685692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365760" rIns="365760" tIns="320040" bIns="320040" anchor="ctr">
            <a:noAutofit/>
          </a:bodyPr>
          <a:p>
            <a:pPr algn="ctr" defTabSz="914400">
              <a:lnSpc>
                <a:spcPct val="115000"/>
              </a:lnSpc>
              <a:spcAft>
                <a:spcPts val="99"/>
              </a:spcAft>
            </a:pPr>
            <a:r>
              <a:rPr b="1" lang="en-US" sz="1400" spc="-1" strike="noStrike">
                <a:solidFill>
                  <a:srgbClr val="fdb813"/>
                </a:solidFill>
                <a:latin typeface="Calisto MT"/>
              </a:rPr>
              <a:t>FACULTY OF ENGINEERING</a:t>
            </a:r>
            <a:endParaRPr b="0" lang="en-US" sz="1400" spc="-1" strike="noStrike">
              <a:solidFill>
                <a:srgbClr val="ffffff"/>
              </a:solidFill>
              <a:latin typeface="Arial"/>
            </a:endParaRPr>
          </a:p>
          <a:p>
            <a:pPr algn="ctr" defTabSz="914400">
              <a:lnSpc>
                <a:spcPct val="115000"/>
              </a:lnSpc>
              <a:spcAft>
                <a:spcPts val="1400"/>
              </a:spcAft>
            </a:pPr>
            <a:r>
              <a:rPr b="1" lang="en-US" sz="1300" spc="-1" strike="noStrike">
                <a:solidFill>
                  <a:srgbClr val="e2e8f0"/>
                </a:solidFill>
                <a:latin typeface="Calisto MT"/>
              </a:rPr>
              <a:t>DEPARTMENT OF COMPUTER ENGINEERING</a:t>
            </a:r>
            <a:endParaRPr b="0" lang="en-US" sz="1300" spc="-1" strike="noStrike">
              <a:solidFill>
                <a:srgbClr val="ffffff"/>
              </a:solidFill>
              <a:latin typeface="Arial"/>
            </a:endParaRPr>
          </a:p>
          <a:p>
            <a:pPr algn="ctr" defTabSz="914400">
              <a:lnSpc>
                <a:spcPct val="115000"/>
              </a:lnSpc>
              <a:spcAft>
                <a:spcPts val="1199"/>
              </a:spcAft>
            </a:pPr>
            <a:r>
              <a:rPr b="1" lang="en-US" sz="1800" spc="-1" strike="noStrike">
                <a:solidFill>
                  <a:srgbClr val="ffffff"/>
                </a:solidFill>
                <a:latin typeface="Calisto MT"/>
              </a:rPr>
              <a:t>DEVELOPMENT AND IMPLEMENTATION OF A ROBOTIC APPLICATION FOR HUMAN INTENTION RECOGNITION USING MOTION AND HAND GESTURE</a:t>
            </a:r>
            <a:endParaRPr b="0" lang="en-US" sz="1800" spc="-1" strike="noStrike">
              <a:solidFill>
                <a:srgbClr val="ffffff"/>
              </a:solidFill>
              <a:latin typeface="Arial"/>
            </a:endParaRPr>
          </a:p>
          <a:p>
            <a:pPr algn="ctr" defTabSz="914400">
              <a:lnSpc>
                <a:spcPct val="115000"/>
              </a:lnSpc>
              <a:spcAft>
                <a:spcPts val="1800"/>
              </a:spcAft>
            </a:pPr>
            <a:r>
              <a:rPr b="0" i="1" lang="en-US" sz="1200" spc="-1" strike="noStrike">
                <a:solidFill>
                  <a:srgbClr val="e2e8f0"/>
                </a:solidFill>
                <a:latin typeface="Calisto MT"/>
              </a:rPr>
              <a:t>A Final Project Report Submitted in Partial Fulfillment of the Requirements for the Degree of Bachelor of Science in Computer Engineering</a:t>
            </a:r>
            <a:endParaRPr b="0" lang="en-US" sz="1200" spc="-1" strike="noStrike">
              <a:solidFill>
                <a:srgbClr val="ffffff"/>
              </a:solidFill>
              <a:latin typeface="Arial"/>
            </a:endParaRPr>
          </a:p>
          <a:p>
            <a:pPr algn="ctr" defTabSz="914400">
              <a:lnSpc>
                <a:spcPct val="115000"/>
              </a:lnSpc>
              <a:spcAft>
                <a:spcPts val="201"/>
              </a:spcAft>
            </a:pPr>
            <a:r>
              <a:rPr b="1" lang="en-US" sz="1200" spc="-1" strike="noStrike">
                <a:solidFill>
                  <a:srgbClr val="fdb813"/>
                </a:solidFill>
                <a:latin typeface="Calisto MT"/>
              </a:rPr>
              <a:t>PRESENTATION BY:</a:t>
            </a:r>
            <a:endParaRPr b="0" lang="en-US" sz="1200" spc="-1" strike="noStrike">
              <a:solidFill>
                <a:srgbClr val="ffffff"/>
              </a:solidFill>
              <a:latin typeface="Arial"/>
            </a:endParaRPr>
          </a:p>
          <a:p>
            <a:pPr algn="ctr" defTabSz="914400">
              <a:lnSpc>
                <a:spcPct val="115000"/>
              </a:lnSpc>
              <a:spcAft>
                <a:spcPts val="201"/>
              </a:spcAft>
            </a:pPr>
            <a:r>
              <a:rPr b="1" lang="en-US" sz="1350" spc="-1" strike="noStrike">
                <a:solidFill>
                  <a:srgbClr val="ffffff"/>
                </a:solidFill>
                <a:latin typeface="Calisto MT"/>
              </a:rPr>
              <a:t>ELEANA OSEI OWUSU — 4121230024</a:t>
            </a:r>
            <a:endParaRPr b="0" lang="en-US" sz="1350" spc="-1" strike="noStrike">
              <a:solidFill>
                <a:srgbClr val="ffffff"/>
              </a:solidFill>
              <a:latin typeface="Arial"/>
            </a:endParaRPr>
          </a:p>
          <a:p>
            <a:pPr algn="ctr" defTabSz="914400">
              <a:lnSpc>
                <a:spcPct val="115000"/>
              </a:lnSpc>
              <a:spcAft>
                <a:spcPts val="1599"/>
              </a:spcAft>
            </a:pPr>
            <a:r>
              <a:rPr b="1" lang="en-US" sz="1350" spc="-1" strike="noStrike">
                <a:solidFill>
                  <a:srgbClr val="ffffff"/>
                </a:solidFill>
                <a:latin typeface="Calisto MT"/>
              </a:rPr>
              <a:t>JOEL NII ADJETEY AHULU — 4121230020</a:t>
            </a:r>
            <a:endParaRPr b="0" lang="en-US" sz="1350" spc="-1" strike="noStrike">
              <a:solidFill>
                <a:srgbClr val="ffffff"/>
              </a:solidFill>
              <a:latin typeface="Arial"/>
            </a:endParaRPr>
          </a:p>
          <a:p>
            <a:pPr algn="ctr" defTabSz="914400">
              <a:lnSpc>
                <a:spcPct val="115000"/>
              </a:lnSpc>
              <a:spcAft>
                <a:spcPts val="201"/>
              </a:spcAft>
            </a:pPr>
            <a:r>
              <a:rPr b="1" lang="en-US" sz="1300" spc="-1" strike="noStrike">
                <a:solidFill>
                  <a:srgbClr val="fdb813"/>
                </a:solidFill>
                <a:latin typeface="Calisto MT"/>
              </a:rPr>
              <a:t>SUPERVISOR: MR. MICHEAL XENYA</a:t>
            </a:r>
            <a:endParaRPr b="0" lang="en-US" sz="1300" spc="-1" strike="noStrike">
              <a:solidFill>
                <a:srgbClr val="ffffff"/>
              </a:solidFill>
              <a:latin typeface="Arial"/>
            </a:endParaRPr>
          </a:p>
          <a:p>
            <a:pPr algn="ctr" defTabSz="914400">
              <a:lnSpc>
                <a:spcPct val="115000"/>
              </a:lnSpc>
            </a:pPr>
            <a:r>
              <a:rPr b="0" lang="en-US" sz="1150" spc="-1" strike="noStrike">
                <a:solidFill>
                  <a:srgbClr val="e2e8f0"/>
                </a:solidFill>
                <a:latin typeface="Calisto MT"/>
              </a:rPr>
              <a:t>ACADEMIC YEAR: 2025/2026</a:t>
            </a:r>
            <a:endParaRPr b="0" lang="en-US" sz="1150" spc="-1" strike="noStrike">
              <a:solidFill>
                <a:srgbClr val="ffffff"/>
              </a:solidFill>
              <a:latin typeface="Arial"/>
            </a:endParaRPr>
          </a:p>
        </p:txBody>
      </p:sp>
      <p:pic>
        <p:nvPicPr>
          <p:cNvPr id="33" name="Picture 6" descr=""/>
          <p:cNvPicPr/>
          <p:nvPr/>
        </p:nvPicPr>
        <p:blipFill>
          <a:blip r:embed="rId1"/>
          <a:stretch/>
        </p:blipFill>
        <p:spPr>
          <a:xfrm>
            <a:off x="789120" y="2658240"/>
            <a:ext cx="3994200" cy="3628080"/>
          </a:xfrm>
          <a:prstGeom prst="rect">
            <a:avLst/>
          </a:prstGeom>
          <a:ln w="0">
            <a:noFill/>
          </a:ln>
        </p:spPr>
      </p:pic>
      <p:sp>
        <p:nvSpPr>
          <p:cNvPr id="34" name="TextBox 9"/>
          <p:cNvSpPr/>
          <p:nvPr/>
        </p:nvSpPr>
        <p:spPr>
          <a:xfrm>
            <a:off x="75240" y="210240"/>
            <a:ext cx="5845320" cy="22842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3600" spc="-1" strike="noStrike">
                <a:solidFill>
                  <a:srgbClr val="002060"/>
                </a:solidFill>
                <a:latin typeface="Gill Sans MT"/>
                <a:ea typeface="Tahoma"/>
              </a:rPr>
              <a:t>GHANA COMMUNICATION TECHNOLOGY UNIVERSITY</a:t>
            </a:r>
            <a:endParaRPr b="0" lang="en-US"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91224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PRESENTATION OUTLINE</a:t>
            </a:r>
            <a:endParaRPr b="0" lang="en-US" sz="2800" spc="-1" strike="noStrike">
              <a:solidFill>
                <a:srgbClr val="000000"/>
              </a:solidFill>
              <a:latin typeface="Arial"/>
            </a:endParaRPr>
          </a:p>
        </p:txBody>
      </p:sp>
      <p:sp>
        <p:nvSpPr>
          <p:cNvPr id="36" name="Outline_Box"/>
          <p:cNvSpPr/>
          <p:nvPr/>
        </p:nvSpPr>
        <p:spPr>
          <a:xfrm>
            <a:off x="1371600" y="1463040"/>
            <a:ext cx="9444600" cy="367164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1199"/>
              </a:spcAft>
            </a:pPr>
            <a:r>
              <a:rPr b="1" lang="en-US" sz="2100" spc="-1" strike="noStrike">
                <a:solidFill>
                  <a:srgbClr val="002060"/>
                </a:solidFill>
                <a:latin typeface="Calisto MT"/>
              </a:rPr>
              <a:t>01. Introduction, Problem Statement &amp; Objectives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02. Literature Review &amp; Critical Research Gaps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03. System Architecture &amp; 6-Phase Methodology</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04. Implementation &amp; Intelligent Algorithms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05. Testing, Results &amp; Safety Analysis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06. Conclusion, Limitations &amp; Recommendations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07. Key References (IEEE Format)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4520" cy="72540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INTRODUCTION &amp; RESEARCH BACKGROUND</a:t>
            </a:r>
            <a:endParaRPr b="0" lang="en-US" sz="2800" spc="-1" strike="noStrike">
              <a:solidFill>
                <a:srgbClr val="000000"/>
              </a:solidFill>
              <a:latin typeface="Arial"/>
            </a:endParaRPr>
          </a:p>
        </p:txBody>
      </p:sp>
      <p:sp>
        <p:nvSpPr>
          <p:cNvPr id="38" name="Intro_Text"/>
          <p:cNvSpPr/>
          <p:nvPr/>
        </p:nvSpPr>
        <p:spPr>
          <a:xfrm>
            <a:off x="777240" y="1325880"/>
            <a:ext cx="6262560" cy="456480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300"/>
              </a:spcAft>
            </a:pPr>
            <a:r>
              <a:rPr b="1" lang="en-US" sz="1800" spc="-1" strike="noStrike">
                <a:solidFill>
                  <a:srgbClr val="002060"/>
                </a:solidFill>
                <a:latin typeface="Calisto MT"/>
              </a:rPr>
              <a:t>Robots Working Directly with Humans</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Robots are leaving safety cages to work alongside people in hospitals, warehouses, and homes. For humans and robots to coexist safely, the robot must understand where people are and respect their personal space.</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Natural, Hands-Free Interaction</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Instead of requiring handheld controllers, touchscreens, or keyboards, humans can guide the robot using natural hand gestures and body movement—just like signaling to a human coworker.</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Fast Onboard Intelligence (No Cloud Lag)</a:t>
            </a:r>
            <a:endParaRPr b="0" lang="en-US" sz="1800" spc="-1" strike="noStrike">
              <a:solidFill>
                <a:srgbClr val="000000"/>
              </a:solidFill>
              <a:latin typeface="Arial"/>
            </a:endParaRPr>
          </a:p>
          <a:p>
            <a:pPr defTabSz="914400">
              <a:lnSpc>
                <a:spcPct val="118000"/>
              </a:lnSpc>
            </a:pPr>
            <a:r>
              <a:rPr b="0" lang="en-US" sz="1500" spc="-1" strike="noStrike">
                <a:solidFill>
                  <a:srgbClr val="1e293b"/>
                </a:solidFill>
                <a:latin typeface="Calisto MT"/>
              </a:rPr>
              <a:t>Sending live video over the internet causes dangerous delays (&gt;200 ms) and fails when Wi-Fi drops. In this project, all AI recognition and navigation decisions happen entirely inside the robot in real time.</a:t>
            </a:r>
            <a:endParaRPr b="0" lang="en-US" sz="1500" spc="-1" strike="noStrike">
              <a:solidFill>
                <a:srgbClr val="000000"/>
              </a:solidFill>
              <a:latin typeface="Arial"/>
            </a:endParaRPr>
          </a:p>
        </p:txBody>
      </p:sp>
      <p:pic>
        <p:nvPicPr>
          <p:cNvPr id="39" name="Intro_Image" descr="image.jpg"/>
          <p:cNvPicPr/>
          <p:nvPr/>
        </p:nvPicPr>
        <p:blipFill>
          <a:blip r:embed="rId1"/>
          <a:stretch/>
        </p:blipFill>
        <p:spPr>
          <a:xfrm>
            <a:off x="7315200" y="1417320"/>
            <a:ext cx="4205160" cy="3153600"/>
          </a:xfrm>
          <a:prstGeom prst="rect">
            <a:avLst/>
          </a:prstGeom>
          <a:ln w="0">
            <a:noFill/>
          </a:ln>
        </p:spPr>
      </p:pic>
      <p:sp>
        <p:nvSpPr>
          <p:cNvPr id="40" name="Intro_Caption"/>
          <p:cNvSpPr/>
          <p:nvPr/>
        </p:nvSpPr>
        <p:spPr>
          <a:xfrm>
            <a:off x="7315200" y="4681800"/>
            <a:ext cx="4205160" cy="720360"/>
          </a:xfrm>
          <a:prstGeom prst="rect">
            <a:avLst/>
          </a:prstGeom>
          <a:noFill/>
          <a:ln w="0">
            <a:noFill/>
          </a:ln>
        </p:spPr>
        <p:style>
          <a:lnRef idx="0"/>
          <a:fillRef idx="0"/>
          <a:effectRef idx="0"/>
          <a:fontRef idx="minor"/>
        </p:style>
        <p:txBody>
          <a:bodyPr lIns="45720" rIns="45720" tIns="45000" bIns="45000" anchor="t">
            <a:spAutoFit/>
          </a:bodyPr>
          <a:p>
            <a:pPr algn="ctr" defTabSz="914400">
              <a:lnSpc>
                <a:spcPct val="115000"/>
              </a:lnSpc>
              <a:spcAft>
                <a:spcPts val="201"/>
              </a:spcAft>
            </a:pPr>
            <a:r>
              <a:rPr b="0" i="1" lang="en-US" sz="1200" spc="-1" strike="noStrike">
                <a:solidFill>
                  <a:srgbClr val="475569"/>
                </a:solidFill>
                <a:latin typeface="Calisto MT"/>
              </a:rPr>
              <a:t>Figure 1.1: Collaborative Human-Robot Interaction (HRI) in an industrial shared workspace, illustrating contactless gesture coordination.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4520" cy="81864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PROBLEM STATEMENT</a:t>
            </a:r>
            <a:endParaRPr b="0" lang="en-US" sz="2800" spc="-1" strike="noStrike">
              <a:solidFill>
                <a:srgbClr val="000000"/>
              </a:solidFill>
              <a:latin typeface="Arial"/>
            </a:endParaRPr>
          </a:p>
        </p:txBody>
      </p:sp>
      <p:sp>
        <p:nvSpPr>
          <p:cNvPr id="42" name="Prob_Core"/>
          <p:cNvSpPr/>
          <p:nvPr/>
        </p:nvSpPr>
        <p:spPr>
          <a:xfrm>
            <a:off x="777240" y="1234440"/>
            <a:ext cx="10633320" cy="25444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20000"/>
              </a:lnSpc>
              <a:spcAft>
                <a:spcPts val="1199"/>
              </a:spcAft>
            </a:pPr>
            <a:r>
              <a:rPr b="0" lang="en-US" sz="2100" spc="-1" strike="noStrike">
                <a:solidFill>
                  <a:srgbClr val="1e293b"/>
                </a:solidFill>
                <a:latin typeface="Calisto MT"/>
              </a:rPr>
              <a:t>Current mobile robots separate vision recognition from active navigation, relying on remote cloud servers that suffer from high network lag (&gt;200 ms) and connection dropouts.</a:t>
            </a:r>
            <a:endParaRPr b="0" lang="en-US" sz="2100" spc="-1" strike="noStrike">
              <a:solidFill>
                <a:srgbClr val="000000"/>
              </a:solidFill>
              <a:latin typeface="Arial"/>
            </a:endParaRPr>
          </a:p>
          <a:p>
            <a:pPr algn="ctr" defTabSz="914400">
              <a:lnSpc>
                <a:spcPct val="120000"/>
              </a:lnSpc>
            </a:pPr>
            <a:r>
              <a:rPr b="0" lang="en-US" sz="2100" spc="-1" strike="noStrike">
                <a:solidFill>
                  <a:srgbClr val="1e293b"/>
                </a:solidFill>
                <a:latin typeface="Calisto MT"/>
              </a:rPr>
              <a:t>In shared human-robot workspaces, this delay prevents robots from reacting in real time to human gestures, creating severe collision hazards under ISO 15066 safety standards.</a:t>
            </a:r>
            <a:endParaRPr b="0" lang="en-US" sz="2100" spc="-1" strike="noStrike">
              <a:solidFill>
                <a:srgbClr val="000000"/>
              </a:solidFill>
              <a:latin typeface="Arial"/>
            </a:endParaRPr>
          </a:p>
        </p:txBody>
      </p:sp>
      <p:sp>
        <p:nvSpPr>
          <p:cNvPr id="43" name="Prob_Card_0"/>
          <p:cNvSpPr/>
          <p:nvPr/>
        </p:nvSpPr>
        <p:spPr>
          <a:xfrm>
            <a:off x="7772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PERCEPTION-ACTION GAP</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Vision AI isolated from wheel motors &amp; obstacle avoidance</a:t>
            </a:r>
            <a:br>
              <a:rPr sz="1300"/>
            </a:br>
            <a:r>
              <a:rPr b="0" lang="en-US" sz="1300" spc="-1" strike="noStrike">
                <a:solidFill>
                  <a:srgbClr val="1e293b"/>
                </a:solidFill>
                <a:latin typeface="Calisto MT"/>
              </a:rPr>
              <a:t>(Tsitos et al., 2022)</a:t>
            </a:r>
            <a:endParaRPr b="0" lang="en-US" sz="1300" spc="-1" strike="noStrike">
              <a:solidFill>
                <a:srgbClr val="000000"/>
              </a:solidFill>
              <a:latin typeface="Arial"/>
            </a:endParaRPr>
          </a:p>
        </p:txBody>
      </p:sp>
      <p:sp>
        <p:nvSpPr>
          <p:cNvPr id="44" name="Prob_Card_1"/>
          <p:cNvSpPr/>
          <p:nvPr/>
        </p:nvSpPr>
        <p:spPr>
          <a:xfrm>
            <a:off x="44348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CLOUD LATENCY HAZARD</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Network lag &gt; 200 ms &amp; Wi-Fi drops violate ISO 15066 safe stopping margins</a:t>
            </a:r>
            <a:endParaRPr b="0" lang="en-US" sz="1300" spc="-1" strike="noStrike">
              <a:solidFill>
                <a:srgbClr val="000000"/>
              </a:solidFill>
              <a:latin typeface="Arial"/>
            </a:endParaRPr>
          </a:p>
        </p:txBody>
      </p:sp>
      <p:sp>
        <p:nvSpPr>
          <p:cNvPr id="45" name="Prob_Card_2"/>
          <p:cNvSpPr/>
          <p:nvPr/>
        </p:nvSpPr>
        <p:spPr>
          <a:xfrm>
            <a:off x="8092440" y="3886200"/>
            <a:ext cx="3318120" cy="169056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EDGE COMPUTING LIMIT</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Heavy vision AI overheats mobile chips; demands a sub-135 ms onboard pipeline</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4520" cy="95868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PROJECT OBJECTIVES</a:t>
            </a:r>
            <a:endParaRPr b="0" lang="en-US" sz="2800" spc="-1" strike="noStrike">
              <a:solidFill>
                <a:srgbClr val="000000"/>
              </a:solidFill>
              <a:latin typeface="Arial"/>
            </a:endParaRPr>
          </a:p>
        </p:txBody>
      </p:sp>
      <p:sp>
        <p:nvSpPr>
          <p:cNvPr id="47" name="Obj_Gen_Text"/>
          <p:cNvSpPr/>
          <p:nvPr/>
        </p:nvSpPr>
        <p:spPr>
          <a:xfrm>
            <a:off x="914400" y="1143000"/>
            <a:ext cx="10359000" cy="855000"/>
          </a:xfrm>
          <a:prstGeom prst="rect">
            <a:avLst/>
          </a:prstGeom>
          <a:noFill/>
          <a:ln w="0">
            <a:noFill/>
          </a:ln>
        </p:spPr>
        <p:style>
          <a:lnRef idx="0"/>
          <a:fillRef idx="0"/>
          <a:effectRef idx="0"/>
          <a:fontRef idx="minor"/>
        </p:style>
        <p:txBody>
          <a:bodyPr lIns="45720" rIns="45720" tIns="18360" bIns="18360" anchor="t">
            <a:spAutoFit/>
          </a:bodyPr>
          <a:p>
            <a:pPr algn="ctr" defTabSz="914400">
              <a:lnSpc>
                <a:spcPct val="115000"/>
              </a:lnSpc>
              <a:spcAft>
                <a:spcPts val="400"/>
              </a:spcAft>
            </a:pPr>
            <a:r>
              <a:rPr b="1" lang="en-US" sz="1300" spc="-1" strike="noStrike">
                <a:solidFill>
                  <a:srgbClr val="b8860b"/>
                </a:solidFill>
                <a:latin typeface="Calisto MT"/>
              </a:rPr>
              <a:t>GENERAL OBJECTIVE</a:t>
            </a:r>
            <a:endParaRPr b="0" lang="en-US" sz="1300" spc="-1" strike="noStrike">
              <a:solidFill>
                <a:srgbClr val="000000"/>
              </a:solidFill>
              <a:latin typeface="Arial"/>
            </a:endParaRPr>
          </a:p>
          <a:p>
            <a:pPr algn="ctr" defTabSz="914400">
              <a:lnSpc>
                <a:spcPct val="118000"/>
              </a:lnSpc>
              <a:spcAft>
                <a:spcPts val="201"/>
              </a:spcAft>
            </a:pPr>
            <a:r>
              <a:rPr b="0" lang="en-US" sz="1500" spc="-1" strike="noStrike">
                <a:solidFill>
                  <a:srgbClr val="1e293b"/>
                </a:solidFill>
                <a:latin typeface="Calisto MT"/>
              </a:rPr>
              <a:t>To design, implement, and evaluate an edge-deployed, real-time human intention recognition and autonomous navigation system powered by ROS 2 on an embedded mobile robot.</a:t>
            </a:r>
            <a:endParaRPr b="0" lang="en-US" sz="1500" spc="-1" strike="noStrike">
              <a:solidFill>
                <a:srgbClr val="000000"/>
              </a:solidFill>
              <a:latin typeface="Arial"/>
            </a:endParaRPr>
          </a:p>
        </p:txBody>
      </p:sp>
      <p:cxnSp>
        <p:nvCxnSpPr>
          <p:cNvPr id="48" name="Obj_Divider_Line"/>
          <p:cNvCxnSpPr/>
          <p:nvPr/>
        </p:nvCxnSpPr>
        <p:spPr>
          <a:xfrm>
            <a:off x="2286000" y="2240280"/>
            <a:ext cx="7617960" cy="1080"/>
          </a:xfrm>
          <a:prstGeom prst="straightConnector1">
            <a:avLst/>
          </a:prstGeom>
          <a:ln w="10160">
            <a:solidFill>
              <a:srgbClr val="cbd5e1"/>
            </a:solidFill>
            <a:round/>
          </a:ln>
        </p:spPr>
      </p:cxnSp>
      <p:sp>
        <p:nvSpPr>
          <p:cNvPr id="49" name="Obj_Item_0"/>
          <p:cNvSpPr/>
          <p:nvPr/>
        </p:nvSpPr>
        <p:spPr>
          <a:xfrm>
            <a:off x="914400" y="242316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01.  Invariant Vision Pipeline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Compute 19 scale-invariant geometric features from 21 hand landmarks for real-time onboard MLP classification.</a:t>
            </a:r>
            <a:endParaRPr b="0" lang="en-US" sz="1200" spc="-1" strike="noStrike">
              <a:solidFill>
                <a:srgbClr val="000000"/>
              </a:solidFill>
              <a:latin typeface="Arial"/>
            </a:endParaRPr>
          </a:p>
        </p:txBody>
      </p:sp>
      <p:sp>
        <p:nvSpPr>
          <p:cNvPr id="50" name="Obj_Item_1"/>
          <p:cNvSpPr/>
          <p:nvPr/>
        </p:nvSpPr>
        <p:spPr>
          <a:xfrm>
            <a:off x="914400" y="349308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02.  Balanced 6,000-Sample Dataset</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Capture and balance a custom 6-class dataset directly through the onboard camera to eliminate perspective domain shift.</a:t>
            </a:r>
            <a:endParaRPr b="0" lang="en-US" sz="1200" spc="-1" strike="noStrike">
              <a:solidFill>
                <a:srgbClr val="000000"/>
              </a:solidFill>
              <a:latin typeface="Arial"/>
            </a:endParaRPr>
          </a:p>
        </p:txBody>
      </p:sp>
      <p:sp>
        <p:nvSpPr>
          <p:cNvPr id="51" name="Obj_Item_2"/>
          <p:cNvSpPr/>
          <p:nvPr/>
        </p:nvSpPr>
        <p:spPr>
          <a:xfrm>
            <a:off x="914400" y="456300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03.  LSTM Trajectory Prediction</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Forecast short-horizon operator motion trajectories from continuous body pose landmarks using recurrent neural networks.</a:t>
            </a:r>
            <a:endParaRPr b="0" lang="en-US" sz="1200" spc="-1" strike="noStrike">
              <a:solidFill>
                <a:srgbClr val="000000"/>
              </a:solidFill>
              <a:latin typeface="Arial"/>
            </a:endParaRPr>
          </a:p>
        </p:txBody>
      </p:sp>
      <p:sp>
        <p:nvSpPr>
          <p:cNvPr id="52" name="Obj_Item_3"/>
          <p:cNvSpPr/>
          <p:nvPr/>
        </p:nvSpPr>
        <p:spPr>
          <a:xfrm>
            <a:off x="6382440" y="242316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04.  Supervisory Node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Execute a deterministic finite state machine with 5-frame rolling consensus, active operator lock, and visual servoing.</a:t>
            </a:r>
            <a:endParaRPr b="0" lang="en-US" sz="1200" spc="-1" strike="noStrike">
              <a:solidFill>
                <a:srgbClr val="000000"/>
              </a:solidFill>
              <a:latin typeface="Arial"/>
            </a:endParaRPr>
          </a:p>
        </p:txBody>
      </p:sp>
      <p:sp>
        <p:nvSpPr>
          <p:cNvPr id="53" name="Obj_Item_4"/>
          <p:cNvSpPr/>
          <p:nvPr/>
        </p:nvSpPr>
        <p:spPr>
          <a:xfrm>
            <a:off x="6382440" y="349308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05.  2D LiDAR SLAM &amp; Nav2</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Deploy real-time SLAM Toolbox mapping and the Nav2 navigation stack for socially aware, collision-free path execution.</a:t>
            </a:r>
            <a:endParaRPr b="0" lang="en-US" sz="1200" spc="-1" strike="noStrike">
              <a:solidFill>
                <a:srgbClr val="000000"/>
              </a:solidFill>
              <a:latin typeface="Arial"/>
            </a:endParaRPr>
          </a:p>
        </p:txBody>
      </p:sp>
      <p:sp>
        <p:nvSpPr>
          <p:cNvPr id="54" name="Obj_Item_5"/>
          <p:cNvSpPr/>
          <p:nvPr/>
        </p:nvSpPr>
        <p:spPr>
          <a:xfrm>
            <a:off x="6382440" y="4563000"/>
            <a:ext cx="489096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06.  Empirical Safety Benchmarking</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Quantify end-to-end latency (132 ms), physical classification accuracy (96.7%), and compliance with ISO 15066 safety margins.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841320" y="320040"/>
            <a:ext cx="10514520" cy="639000"/>
          </a:xfrm>
          <a:prstGeom prst="rect">
            <a:avLst/>
          </a:prstGeom>
          <a:noFill/>
          <a:ln w="0">
            <a:noFill/>
          </a:ln>
        </p:spPr>
        <p:txBody>
          <a:bodyPr lIns="91440" rIns="91440" tIns="45720" bIns="45720" anchor="ctr">
            <a:noAutofit/>
          </a:bodyPr>
          <a:p>
            <a:pPr indent="0" algn="ctr" defTabSz="914400">
              <a:lnSpc>
                <a:spcPct val="112000"/>
              </a:lnSpc>
              <a:spcAft>
                <a:spcPts val="201"/>
              </a:spcAft>
              <a:buNone/>
              <a:tabLst>
                <a:tab algn="l" pos="0"/>
              </a:tabLst>
            </a:pPr>
            <a:r>
              <a:rPr b="1" lang="en-US" sz="2800" spc="-1" strike="noStrike">
                <a:solidFill>
                  <a:srgbClr val="002060"/>
                </a:solidFill>
                <a:latin typeface="Calisto MT"/>
              </a:rPr>
              <a:t>LITERATURE REVIEW &amp; RESEARCH GAPS</a:t>
            </a:r>
            <a:endParaRPr b="0" lang="en-US" sz="2800" spc="-1" strike="noStrike">
              <a:solidFill>
                <a:srgbClr val="000000"/>
              </a:solidFill>
              <a:latin typeface="Arial"/>
            </a:endParaRPr>
          </a:p>
        </p:txBody>
      </p:sp>
      <p:sp>
        <p:nvSpPr>
          <p:cNvPr id="56" name="Lit_Subhead"/>
          <p:cNvSpPr/>
          <p:nvPr/>
        </p:nvSpPr>
        <p:spPr>
          <a:xfrm>
            <a:off x="822960" y="1024200"/>
            <a:ext cx="10514520" cy="195840"/>
          </a:xfrm>
          <a:prstGeom prst="rect">
            <a:avLst/>
          </a:prstGeom>
          <a:noFill/>
          <a:ln w="0">
            <a:noFill/>
          </a:ln>
        </p:spPr>
        <p:style>
          <a:lnRef idx="0"/>
          <a:fillRef idx="0"/>
          <a:effectRef idx="0"/>
          <a:fontRef idx="minor"/>
        </p:style>
        <p:txBody>
          <a:bodyPr lIns="0" rIns="0" tIns="0" bIns="0" anchor="t">
            <a:spAutoFit/>
          </a:bodyPr>
          <a:p>
            <a:pPr defTabSz="914400">
              <a:lnSpc>
                <a:spcPct val="112000"/>
              </a:lnSpc>
              <a:spcAft>
                <a:spcPts val="201"/>
              </a:spcAft>
            </a:pPr>
            <a:endParaRPr b="0" lang="en-US" sz="1800" spc="-1" strike="noStrike">
              <a:solidFill>
                <a:srgbClr val="000000"/>
              </a:solidFill>
              <a:latin typeface="Arial"/>
            </a:endParaRPr>
          </a:p>
        </p:txBody>
      </p:sp>
      <p:sp>
        <p:nvSpPr>
          <p:cNvPr id="57" name="Lit_Paper_0"/>
          <p:cNvSpPr/>
          <p:nvPr/>
        </p:nvSpPr>
        <p:spPr>
          <a:xfrm>
            <a:off x="822960" y="1261800"/>
            <a:ext cx="3226680" cy="37353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Athanasios Tsitos, Maria Dagioglou &amp; Theodoros Giannakopoulos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"Real-Time Feasibility of a Human Intention Method Evaluated Through a Competitive Human-Robot Reaching Game"</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Predict human reaching intent early to guide robot arm trajectories within a 150 ms reaction threshold.</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hand movements with a depth camera and trained machine learning (SVM) to guide a robot arm.</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Confined to a static desk — lacks mobile base movement and provides no explicit hand gesture command channel.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Direct vision-to-wheels coupling for mobile navigation guided by 6 touchless hand gestures.</a:t>
            </a:r>
            <a:endParaRPr b="0" lang="en-US" sz="1200" spc="-1" strike="noStrike">
              <a:solidFill>
                <a:srgbClr val="000000"/>
              </a:solidFill>
              <a:latin typeface="Arial"/>
            </a:endParaRPr>
          </a:p>
        </p:txBody>
      </p:sp>
      <p:sp>
        <p:nvSpPr>
          <p:cNvPr id="58" name="Lit_Paper_1"/>
          <p:cNvSpPr/>
          <p:nvPr/>
        </p:nvSpPr>
        <p:spPr>
          <a:xfrm>
            <a:off x="4480560" y="1261800"/>
            <a:ext cx="3226680" cy="35380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Jubayer Al Mahmud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"3D Gesture Recognition and Adaptation for Human–Robot Interaction"</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Classify 3D pointing and dynamic hand gestures in real time to guide robot interaction across age groups.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full-body joints using a Kinect sensor and trained deep learning models on 3,600 gestures.</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Relies on heavy cloud / GPU computing clusters; vulnerable to network lag (&gt;200 ms) and connection drops.</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Executes 100% of vision AI directly onboard a low-cost Raspberry Pi 5 with zero cloud dependency.</a:t>
            </a:r>
            <a:endParaRPr b="0" lang="en-US" sz="1200" spc="-1" strike="noStrike">
              <a:solidFill>
                <a:srgbClr val="000000"/>
              </a:solidFill>
              <a:latin typeface="Arial"/>
            </a:endParaRPr>
          </a:p>
        </p:txBody>
      </p:sp>
      <p:sp>
        <p:nvSpPr>
          <p:cNvPr id="59" name="Lit_Paper_2"/>
          <p:cNvSpPr/>
          <p:nvPr/>
        </p:nvSpPr>
        <p:spPr>
          <a:xfrm>
            <a:off x="8138160" y="1261800"/>
            <a:ext cx="3226680" cy="393984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Y. Li, H. Zhang, Guang Yang &amp; Shuoyu Wang (2023)</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"Safe and Efficient Motion Planning for Material Transportation Robots Considering Intention Prediction of Obstacles"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Plan collision-free mobile robot paths by predicting whether human workers will clear the hallway.</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Fused LiDAR and camera vision to predict worker paths and adjust navigation maps in a simulator.</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Tested only in computer simulation — never validated on physical robot hardware; lacks touchless gesture control.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Physically validated on a real mobile robot with 2D LiDAR SLAM, active visual servoing, and ISO safety stops.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6-PHASE RESEARCH &amp; IMPLEMENTATION METHODOLOGY</a:t>
            </a:r>
            <a:endParaRPr b="0" lang="en-US" sz="2400" spc="-1" strike="noStrike">
              <a:solidFill>
                <a:srgbClr val="000000"/>
              </a:solidFill>
              <a:latin typeface="Arial"/>
            </a:endParaRPr>
          </a:p>
        </p:txBody>
      </p:sp>
      <p:sp>
        <p:nvSpPr>
          <p:cNvPr id="61" name="Meth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STRUCTURED RESEARCH &amp; IMPLEMENTATION LIFECYCLE FROM DESIGN TO VALIDATION</a:t>
            </a:r>
            <a:endParaRPr b="0" lang="en-US" sz="1100" spc="-1" strike="noStrike">
              <a:solidFill>
                <a:srgbClr val="000000"/>
              </a:solidFill>
              <a:latin typeface="Arial"/>
            </a:endParaRPr>
          </a:p>
        </p:txBody>
      </p:sp>
      <p:sp>
        <p:nvSpPr>
          <p:cNvPr id="62" name="Meth_P1"/>
          <p:cNvSpPr/>
          <p:nvPr/>
        </p:nvSpPr>
        <p:spPr>
          <a:xfrm>
            <a:off x="777240" y="1298520"/>
            <a:ext cx="331812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01</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Mechatronics &amp; Hardware</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Robot Platform: </a:t>
            </a:r>
            <a:r>
              <a:rPr b="0" lang="en-US" sz="1100" spc="-1" strike="noStrike">
                <a:solidFill>
                  <a:srgbClr val="334155"/>
                </a:solidFill>
                <a:latin typeface="Calisto MT"/>
              </a:rPr>
              <a:t>4WD mobile base with geared DC motors, wheel encoders, and camera gimbal.</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Dual Processors: </a:t>
            </a:r>
            <a:r>
              <a:rPr b="0" lang="en-US" sz="1100" spc="-1" strike="noStrike">
                <a:solidFill>
                  <a:srgbClr val="334155"/>
                </a:solidFill>
                <a:latin typeface="Calisto MT"/>
              </a:rPr>
              <a:t>Raspberry Pi 5 for vision AI paired with an ESP32-S3 for real-time motor control.</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Separate Power: </a:t>
            </a:r>
            <a:r>
              <a:rPr b="0" lang="en-US" sz="1100" spc="-1" strike="noStrike">
                <a:solidFill>
                  <a:srgbClr val="334155"/>
                </a:solidFill>
                <a:latin typeface="Calisto MT"/>
              </a:rPr>
              <a:t>Dedicated battery packs powering the onboard computer and drive motors independently.</a:t>
            </a:r>
            <a:endParaRPr b="0" lang="en-US" sz="1100" spc="-1" strike="noStrike">
              <a:solidFill>
                <a:srgbClr val="000000"/>
              </a:solidFill>
              <a:latin typeface="Arial"/>
            </a:endParaRPr>
          </a:p>
        </p:txBody>
      </p:sp>
      <p:sp>
        <p:nvSpPr>
          <p:cNvPr id="63" name="Meth_P2"/>
          <p:cNvSpPr/>
          <p:nvPr/>
        </p:nvSpPr>
        <p:spPr>
          <a:xfrm>
            <a:off x="4434840" y="1298520"/>
            <a:ext cx="331812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02</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Data Collection</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Custom Dataset: </a:t>
            </a:r>
            <a:r>
              <a:rPr b="0" lang="en-US" sz="1100" spc="-1" strike="noStrike">
                <a:solidFill>
                  <a:srgbClr val="334155"/>
                </a:solidFill>
                <a:latin typeface="Calisto MT"/>
              </a:rPr>
              <a:t>6,000 total gesture images (1,000 per class) collected with the onboard camera.</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6 Core Gestures: </a:t>
            </a:r>
            <a:r>
              <a:rPr b="0" lang="en-US" sz="1100" spc="-1" strike="noStrike">
                <a:solidFill>
                  <a:srgbClr val="334155"/>
                </a:solidFill>
                <a:latin typeface="Calisto MT"/>
              </a:rPr>
              <a:t>Navigational commands: STOP, GO, FOLLOW, LEFT, RIGHT, and BACK.</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Realistic Testing: </a:t>
            </a:r>
            <a:r>
              <a:rPr b="0" lang="en-US" sz="1100" spc="-1" strike="noStrike">
                <a:solidFill>
                  <a:srgbClr val="334155"/>
                </a:solidFill>
                <a:latin typeface="Calisto MT"/>
              </a:rPr>
              <a:t>Captured at distances between 1.0 m and 2.5 m under standard room lighting.</a:t>
            </a:r>
            <a:endParaRPr b="0" lang="en-US" sz="1100" spc="-1" strike="noStrike">
              <a:solidFill>
                <a:srgbClr val="000000"/>
              </a:solidFill>
              <a:latin typeface="Arial"/>
            </a:endParaRPr>
          </a:p>
        </p:txBody>
      </p:sp>
      <p:sp>
        <p:nvSpPr>
          <p:cNvPr id="64" name="Meth_P3"/>
          <p:cNvSpPr/>
          <p:nvPr/>
        </p:nvSpPr>
        <p:spPr>
          <a:xfrm>
            <a:off x="8092440" y="129852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03</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Feature Extraction &amp; AI Models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Hand Keypoints: </a:t>
            </a:r>
            <a:r>
              <a:rPr b="0" lang="en-US" sz="1050" spc="-1" strike="noStrike">
                <a:solidFill>
                  <a:srgbClr val="334155"/>
                </a:solidFill>
                <a:latin typeface="Calisto MT"/>
              </a:rPr>
              <a:t>Detected 21 hand joints with MediaPipe and computed 19 normalized angles and distances.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Neural Classifier: </a:t>
            </a:r>
            <a:r>
              <a:rPr b="0" lang="en-US" sz="1050" spc="-1" strike="noStrike">
                <a:solidFill>
                  <a:srgbClr val="334155"/>
                </a:solidFill>
                <a:latin typeface="Calisto MT"/>
              </a:rPr>
              <a:t>Compact neural network (46 KB) classifying gestures in under 2 ms on the CPU.</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Motion Predictor: </a:t>
            </a:r>
            <a:r>
              <a:rPr b="0" lang="en-US" sz="1050" spc="-1" strike="noStrike">
                <a:solidFill>
                  <a:srgbClr val="334155"/>
                </a:solidFill>
                <a:latin typeface="Calisto MT"/>
              </a:rPr>
              <a:t>Recurrent neural model (LSTM) tracking hand and body movements across consecutive frames.</a:t>
            </a:r>
            <a:endParaRPr b="0" lang="en-US" sz="1050" spc="-1" strike="noStrike">
              <a:solidFill>
                <a:srgbClr val="000000"/>
              </a:solidFill>
              <a:latin typeface="Arial"/>
            </a:endParaRPr>
          </a:p>
        </p:txBody>
      </p:sp>
      <p:sp>
        <p:nvSpPr>
          <p:cNvPr id="65" name="Meth_P4"/>
          <p:cNvSpPr/>
          <p:nvPr/>
        </p:nvSpPr>
        <p:spPr>
          <a:xfrm>
            <a:off x="777240" y="361188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04</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Robot Control &amp; Safety</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ROS 2 Framework: </a:t>
            </a:r>
            <a:r>
              <a:rPr b="0" lang="en-US" sz="1050" spc="-1" strike="noStrike">
                <a:solidFill>
                  <a:srgbClr val="334155"/>
                </a:solidFill>
                <a:latin typeface="Calisto MT"/>
              </a:rPr>
              <a:t>Modular software nodes connecting the camera, AI models, and motor drivers.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Decision Logic: </a:t>
            </a:r>
            <a:r>
              <a:rPr b="0" lang="en-US" sz="1050" spc="-1" strike="noStrike">
                <a:solidFill>
                  <a:srgbClr val="334155"/>
                </a:solidFill>
                <a:latin typeface="Calisto MT"/>
              </a:rPr>
              <a:t>State machine filters out accidental motions by confirming steady hand gestures.</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Emergency Halt: </a:t>
            </a:r>
            <a:r>
              <a:rPr b="0" lang="en-US" sz="1050" spc="-1" strike="noStrike">
                <a:solidFill>
                  <a:srgbClr val="334155"/>
                </a:solidFill>
                <a:latin typeface="Calisto MT"/>
              </a:rPr>
              <a:t>2D LiDAR sensor automatically stops the robot if an obstacle is within 0.36 m.</a:t>
            </a:r>
            <a:endParaRPr b="0" lang="en-US" sz="1050" spc="-1" strike="noStrike">
              <a:solidFill>
                <a:srgbClr val="000000"/>
              </a:solidFill>
              <a:latin typeface="Arial"/>
            </a:endParaRPr>
          </a:p>
        </p:txBody>
      </p:sp>
      <p:sp>
        <p:nvSpPr>
          <p:cNvPr id="66" name="Meth_P5"/>
          <p:cNvSpPr/>
          <p:nvPr/>
        </p:nvSpPr>
        <p:spPr>
          <a:xfrm>
            <a:off x="4434840" y="3611880"/>
            <a:ext cx="331812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05</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Mapping &amp; Navigation</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Indoor Mapping: </a:t>
            </a:r>
            <a:r>
              <a:rPr b="0" lang="en-US" sz="1050" spc="-1" strike="noStrike">
                <a:solidFill>
                  <a:srgbClr val="334155"/>
                </a:solidFill>
                <a:latin typeface="Calisto MT"/>
              </a:rPr>
              <a:t>2D laser mapping (slam_toolbox) creates a clean 5 cm resolution floor plan.</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Robot Position: </a:t>
            </a:r>
            <a:r>
              <a:rPr b="0" lang="en-US" sz="1050" spc="-1" strike="noStrike">
                <a:solidFill>
                  <a:srgbClr val="334155"/>
                </a:solidFill>
                <a:latin typeface="Calisto MT"/>
              </a:rPr>
              <a:t>Accurately tracks robot movement by combining wheel encoders with an onboard IMU sensor.</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Path Planning: </a:t>
            </a:r>
            <a:r>
              <a:rPr b="0" lang="en-US" sz="1050" spc="-1" strike="noStrike">
                <a:solidFill>
                  <a:srgbClr val="334155"/>
                </a:solidFill>
                <a:latin typeface="Calisto MT"/>
              </a:rPr>
              <a:t>Nav2 autonomous navigation plans collision-free paths with safe margins around obstacles.</a:t>
            </a:r>
            <a:endParaRPr b="0" lang="en-US" sz="1050" spc="-1" strike="noStrike">
              <a:solidFill>
                <a:srgbClr val="000000"/>
              </a:solidFill>
              <a:latin typeface="Arial"/>
            </a:endParaRPr>
          </a:p>
        </p:txBody>
      </p:sp>
      <p:sp>
        <p:nvSpPr>
          <p:cNvPr id="67" name="Meth_P6"/>
          <p:cNvSpPr/>
          <p:nvPr/>
        </p:nvSpPr>
        <p:spPr>
          <a:xfrm>
            <a:off x="8092440" y="3611880"/>
            <a:ext cx="3318120" cy="18867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06</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Testing, Results &amp; Analysis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Fast Response: </a:t>
            </a:r>
            <a:r>
              <a:rPr b="0" lang="en-US" sz="1050" spc="-1" strike="noStrike">
                <a:solidFill>
                  <a:srgbClr val="334155"/>
                </a:solidFill>
                <a:latin typeface="Calisto MT"/>
              </a:rPr>
              <a:t>End-to-end reaction time of 132.0 ms, comfortably below the 150 ms real-time limit.</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Live Driving Trials: </a:t>
            </a:r>
            <a:r>
              <a:rPr b="0" lang="en-US" sz="1050" spc="-1" strike="noStrike">
                <a:solidFill>
                  <a:srgbClr val="334155"/>
                </a:solidFill>
                <a:latin typeface="Calisto MT"/>
              </a:rPr>
              <a:t>180 real-world physical tests achieving a 96.67% operational success rate.</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Safety Confirmed: </a:t>
            </a:r>
            <a:r>
              <a:rPr b="0" lang="en-US" sz="1050" spc="-1" strike="noStrike">
                <a:solidFill>
                  <a:srgbClr val="334155"/>
                </a:solidFill>
                <a:latin typeface="Calisto MT"/>
              </a:rPr>
              <a:t>Verified that the robot reliably halts before coming into contact with any human or obstacle.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SOFTWARE ARCHITECTURE &amp; INTER-NODE DATAFLOW</a:t>
            </a:r>
            <a:endParaRPr b="0" lang="en-US" sz="2400" spc="-1" strike="noStrike">
              <a:solidFill>
                <a:srgbClr val="000000"/>
              </a:solidFill>
              <a:latin typeface="Arial"/>
            </a:endParaRPr>
          </a:p>
        </p:txBody>
      </p:sp>
      <p:sp>
        <p:nvSpPr>
          <p:cNvPr id="69" name="Arch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PROCESSES SENSOR DATA AND MAKES SAFE DRIVING DECISIONS</a:t>
            </a:r>
            <a:endParaRPr b="0" lang="en-US" sz="1100" spc="-1" strike="noStrike">
              <a:solidFill>
                <a:srgbClr val="000000"/>
              </a:solidFill>
              <a:latin typeface="Arial"/>
            </a:endParaRPr>
          </a:p>
        </p:txBody>
      </p:sp>
      <p:sp>
        <p:nvSpPr>
          <p:cNvPr id="70" name="Arch_Tiers_Text"/>
          <p:cNvSpPr/>
          <p:nvPr/>
        </p:nvSpPr>
        <p:spPr>
          <a:xfrm>
            <a:off x="777240" y="1261800"/>
            <a:ext cx="5896800" cy="35064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System Software (ROS 2): </a:t>
            </a:r>
            <a:r>
              <a:rPr b="0" lang="en-US" sz="1300" spc="-1" strike="noStrike">
                <a:solidFill>
                  <a:srgbClr val="334155"/>
                </a:solidFill>
                <a:latin typeface="Calisto MT"/>
              </a:rPr>
              <a:t>Connects all camera, artificial intelligence, and motor programs so they exchange data reliably with low communication latency.</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Live Sensor Feeds: </a:t>
            </a:r>
            <a:r>
              <a:rPr b="0" lang="en-US" sz="1300" spc="-1" strike="noStrike">
                <a:solidFill>
                  <a:srgbClr val="334155"/>
                </a:solidFill>
                <a:latin typeface="Calisto MT"/>
              </a:rPr>
              <a:t>The camera captures live video at 20 frames per second while the laser sensor constantly scans 360 degrees for obstacles.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Vision &amp; Hand Tracking: </a:t>
            </a:r>
            <a:r>
              <a:rPr b="0" lang="en-US" sz="1300" spc="-1" strike="noStrike">
                <a:solidFill>
                  <a:srgbClr val="334155"/>
                </a:solidFill>
                <a:latin typeface="Calisto MT"/>
              </a:rPr>
              <a:t>Focuses on the person standing in front of the robot, locates 21 finger joints, and identifies the gesture being shown.</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Gesture Confirmation: </a:t>
            </a:r>
            <a:r>
              <a:rPr b="0" lang="en-US" sz="1300" spc="-1" strike="noStrike">
                <a:solidFill>
                  <a:srgbClr val="334155"/>
                </a:solidFill>
                <a:latin typeface="Calisto MT"/>
              </a:rPr>
              <a:t>The robot checks that it sees the exact same gesture 5 times in a row before moving, ignoring accidental hand motions.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Safety Override: </a:t>
            </a:r>
            <a:r>
              <a:rPr b="0" lang="en-US" sz="1300" spc="-1" strike="noStrike">
                <a:solidFill>
                  <a:srgbClr val="334155"/>
                </a:solidFill>
                <a:latin typeface="Calisto MT"/>
              </a:rPr>
              <a:t>If the laser detects any obstacle closer than 0.36 meters, it automatically preempts driving commands and halts the vehicle.</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Smooth Wheel Control: </a:t>
            </a:r>
            <a:r>
              <a:rPr b="0" lang="en-US" sz="1300" spc="-1" strike="noStrike">
                <a:solidFill>
                  <a:srgbClr val="334155"/>
                </a:solidFill>
                <a:latin typeface="Calisto MT"/>
              </a:rPr>
              <a:t>Approved movement commands are transmitted directly to the motor controller board, which drives the 4 wheels smoothly.</a:t>
            </a:r>
            <a:endParaRPr b="0" lang="en-US" sz="1300" spc="-1" strike="noStrike">
              <a:solidFill>
                <a:srgbClr val="000000"/>
              </a:solidFill>
              <a:latin typeface="Arial"/>
            </a:endParaRPr>
          </a:p>
        </p:txBody>
      </p:sp>
      <p:pic>
        <p:nvPicPr>
          <p:cNvPr id="71" name="Arch_Diagram_Img" descr="image.png"/>
          <p:cNvPicPr/>
          <p:nvPr/>
        </p:nvPicPr>
        <p:blipFill>
          <a:blip r:embed="rId1"/>
          <a:stretch/>
        </p:blipFill>
        <p:spPr>
          <a:xfrm>
            <a:off x="6903720" y="1261800"/>
            <a:ext cx="4433760" cy="4250880"/>
          </a:xfrm>
          <a:prstGeom prst="rect">
            <a:avLst/>
          </a:prstGeom>
          <a:ln w="0">
            <a:noFill/>
          </a:ln>
        </p:spPr>
      </p:pic>
      <p:sp>
        <p:nvSpPr>
          <p:cNvPr id="72" name="Arch_Caption"/>
          <p:cNvSpPr/>
          <p:nvPr/>
        </p:nvSpPr>
        <p:spPr>
          <a:xfrm>
            <a:off x="6903720" y="5577840"/>
            <a:ext cx="443376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3.1: Dataflow Pipeline from Sensor Feeds to Wheel Actuation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HARDWARE</a:t>
            </a:r>
            <a:endParaRPr b="0" lang="en-US" sz="2400" spc="-1" strike="noStrike">
              <a:solidFill>
                <a:srgbClr val="000000"/>
              </a:solidFill>
              <a:latin typeface="Arial"/>
            </a:endParaRPr>
          </a:p>
        </p:txBody>
      </p:sp>
      <p:sp>
        <p:nvSpPr>
          <p:cNvPr id="74" name="Hw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EMBEDDED COMPUTING, SENSORS, CHASSIS &amp; POWER ISOLATION</a:t>
            </a:r>
            <a:endParaRPr b="0" lang="en-US" sz="1100" spc="-1" strike="noStrike">
              <a:solidFill>
                <a:srgbClr val="000000"/>
              </a:solidFill>
              <a:latin typeface="Arial"/>
            </a:endParaRPr>
          </a:p>
        </p:txBody>
      </p:sp>
      <p:sp>
        <p:nvSpPr>
          <p:cNvPr id="75" name="Hw_Points_Text"/>
          <p:cNvSpPr/>
          <p:nvPr/>
        </p:nvSpPr>
        <p:spPr>
          <a:xfrm>
            <a:off x="777240" y="1261800"/>
            <a:ext cx="539388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Onboard Computer (Raspberry Pi 5): </a:t>
            </a:r>
            <a:r>
              <a:rPr b="0" lang="en-US" sz="1300" spc="-1" strike="noStrike">
                <a:solidFill>
                  <a:srgbClr val="334155"/>
                </a:solidFill>
                <a:latin typeface="Calisto MT"/>
              </a:rPr>
              <a:t>8GB RAM single-board computer running all camera tracking, gesture artificial intelligence, and navigation programs directly on the robot.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 Controller (ESP32-S3): </a:t>
            </a:r>
            <a:r>
              <a:rPr b="0" lang="en-US" sz="1300" spc="-1" strike="noStrike">
                <a:solidFill>
                  <a:srgbClr val="334155"/>
                </a:solidFill>
                <a:latin typeface="Calisto MT"/>
              </a:rPr>
              <a:t>Dedicated microcontroller that manages wheel speed and reads motor sensors smoothly without overloading the main computer.</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Laser Scanner (MS200 LiDAR): </a:t>
            </a:r>
            <a:r>
              <a:rPr b="0" lang="en-US" sz="1300" spc="-1" strike="noStrike">
                <a:solidFill>
                  <a:srgbClr val="334155"/>
                </a:solidFill>
                <a:latin typeface="Calisto MT"/>
              </a:rPr>
              <a:t>360-degree laser sensor measuring room distances up to 12 meters for indoor mapping and reactive emergency halts.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Motorized Camera Mount: </a:t>
            </a:r>
            <a:r>
              <a:rPr b="0" lang="en-US" sz="1300" spc="-1" strike="noStrike">
                <a:solidFill>
                  <a:srgbClr val="334155"/>
                </a:solidFill>
                <a:latin typeface="Calisto MT"/>
              </a:rPr>
              <a:t>2-axis motorized camera gimbal that tilts and pans automatically to keep the operator's face and hands centered in view.</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4-Wheel Drive Chassis: </a:t>
            </a:r>
            <a:r>
              <a:rPr b="0" lang="en-US" sz="1300" spc="-1" strike="noStrike">
                <a:solidFill>
                  <a:srgbClr val="334155"/>
                </a:solidFill>
                <a:latin typeface="Calisto MT"/>
              </a:rPr>
              <a:t>Sturdy aluminium robot base powered by 4 geared DC motors with wheel sensors for smooth and steady movement.</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Dual-Rail Power System: </a:t>
            </a:r>
            <a:r>
              <a:rPr b="0" lang="en-US" sz="1300" spc="-1" strike="noStrike">
                <a:solidFill>
                  <a:srgbClr val="334155"/>
                </a:solidFill>
                <a:latin typeface="Calisto MT"/>
              </a:rPr>
              <a:t>Separate battery power circuits for the computer and motors to prevent electrical interference and sudden power shutdowns.</a:t>
            </a:r>
            <a:endParaRPr b="0" lang="en-US" sz="1300" spc="-1" strike="noStrike">
              <a:solidFill>
                <a:srgbClr val="000000"/>
              </a:solidFill>
              <a:latin typeface="Arial"/>
            </a:endParaRPr>
          </a:p>
        </p:txBody>
      </p:sp>
      <p:pic>
        <p:nvPicPr>
          <p:cNvPr id="76" name="Hw_Photo_Wired" descr="image.jpg"/>
          <p:cNvPicPr/>
          <p:nvPr/>
        </p:nvPicPr>
        <p:blipFill>
          <a:blip r:embed="rId1"/>
          <a:stretch/>
        </p:blipFill>
        <p:spPr>
          <a:xfrm>
            <a:off x="6492240" y="1371600"/>
            <a:ext cx="2632320" cy="2284920"/>
          </a:xfrm>
          <a:prstGeom prst="rect">
            <a:avLst/>
          </a:prstGeom>
          <a:ln w="0">
            <a:noFill/>
          </a:ln>
        </p:spPr>
      </p:pic>
      <p:sp>
        <p:nvSpPr>
          <p:cNvPr id="77" name="Hw_Cap_Wired"/>
          <p:cNvSpPr/>
          <p:nvPr/>
        </p:nvSpPr>
        <p:spPr>
          <a:xfrm>
            <a:off x="6492240" y="3749040"/>
            <a:ext cx="2632320" cy="57312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3.2: Internal Electronics Stack</a:t>
            </a:r>
            <a:br>
              <a:rPr sz="1100"/>
            </a:br>
            <a:r>
              <a:rPr b="0" i="1" lang="en-US" sz="1100" spc="-1" strike="noStrike">
                <a:solidFill>
                  <a:srgbClr val="64748b"/>
                </a:solidFill>
                <a:latin typeface="Calisto MT"/>
              </a:rPr>
              <a:t>(Raspberry Pi 5, ESP32-S3 &amp; Motor Drivers)</a:t>
            </a:r>
            <a:endParaRPr b="0" lang="en-US" sz="1100" spc="-1" strike="noStrike">
              <a:solidFill>
                <a:srgbClr val="000000"/>
              </a:solidFill>
              <a:latin typeface="Arial"/>
            </a:endParaRPr>
          </a:p>
        </p:txBody>
      </p:sp>
      <p:pic>
        <p:nvPicPr>
          <p:cNvPr id="78" name="Hw_Photo_Assembled" descr="image.jpg"/>
          <p:cNvPicPr/>
          <p:nvPr/>
        </p:nvPicPr>
        <p:blipFill>
          <a:blip r:embed="rId2"/>
          <a:stretch/>
        </p:blipFill>
        <p:spPr>
          <a:xfrm>
            <a:off x="9308520" y="1371600"/>
            <a:ext cx="2632320" cy="2284920"/>
          </a:xfrm>
          <a:prstGeom prst="rect">
            <a:avLst/>
          </a:prstGeom>
          <a:ln w="0">
            <a:noFill/>
          </a:ln>
        </p:spPr>
      </p:pic>
      <p:sp>
        <p:nvSpPr>
          <p:cNvPr id="79" name="Hw_Cap_Assembled"/>
          <p:cNvSpPr/>
          <p:nvPr/>
        </p:nvSpPr>
        <p:spPr>
          <a:xfrm>
            <a:off x="9308520" y="3749040"/>
            <a:ext cx="26323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3.3: Fully Enclosed Platform</a:t>
            </a:r>
            <a:br>
              <a:rPr sz="1100"/>
            </a:br>
            <a:r>
              <a:rPr b="0" i="1" lang="en-US" sz="1100" spc="-1" strike="noStrike">
                <a:solidFill>
                  <a:srgbClr val="64748b"/>
                </a:solidFill>
                <a:latin typeface="Calisto MT"/>
              </a:rPr>
              <a:t>(360° MS200 LiDAR &amp; Active Gimbal)</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VISION PERCEPTION &amp; GESTURE AI PIPELINE</a:t>
            </a:r>
            <a:endParaRPr b="0" lang="en-US" sz="2400" spc="-1" strike="noStrike">
              <a:solidFill>
                <a:srgbClr val="000000"/>
              </a:solidFill>
              <a:latin typeface="Arial"/>
            </a:endParaRPr>
          </a:p>
        </p:txBody>
      </p:sp>
      <p:sp>
        <p:nvSpPr>
          <p:cNvPr id="81" name="Vision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SEES HAND GESTURES, IGNORES BYSTANDERS, AND DECIDES TO MOVE</a:t>
            </a:r>
            <a:endParaRPr b="0" lang="en-US" sz="1100" spc="-1" strike="noStrike">
              <a:solidFill>
                <a:srgbClr val="000000"/>
              </a:solidFill>
              <a:latin typeface="Arial"/>
            </a:endParaRPr>
          </a:p>
        </p:txBody>
      </p:sp>
      <p:sp>
        <p:nvSpPr>
          <p:cNvPr id="82" name="Vision_Points_Text"/>
          <p:cNvSpPr/>
          <p:nvPr/>
        </p:nvSpPr>
        <p:spPr>
          <a:xfrm>
            <a:off x="777240" y="1261800"/>
            <a:ext cx="534816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Focusing on One Person: </a:t>
            </a:r>
            <a:r>
              <a:rPr b="0" lang="en-US" sz="1300" spc="-1" strike="noStrike">
                <a:solidFill>
                  <a:srgbClr val="334155"/>
                </a:solidFill>
                <a:latin typeface="Calisto MT"/>
              </a:rPr>
              <a:t>The robot only listens to the person standing directly in front of it, while automatically blurring and ignoring anyone walking by in the background.</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Tracking Hand Joints: </a:t>
            </a:r>
            <a:r>
              <a:rPr b="0" lang="en-US" sz="1300" spc="-1" strike="noStrike">
                <a:solidFill>
                  <a:srgbClr val="334155"/>
                </a:solidFill>
                <a:latin typeface="Calisto MT"/>
              </a:rPr>
              <a:t>The camera tracks 21 points on the hand, including the wrist, knuckles, and fingertips, to capture the exact shape and motion of the fingers.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Works at Any Distance: </a:t>
            </a:r>
            <a:r>
              <a:rPr b="0" lang="en-US" sz="1300" spc="-1" strike="noStrike">
                <a:solidFill>
                  <a:srgbClr val="334155"/>
                </a:solidFill>
                <a:latin typeface="Calisto MT"/>
              </a:rPr>
              <a:t>Hand measurements are automatically scaled using the palm width, so the robot recognizes gestures equally well whether you stand 1 meter or 3 meters away.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Measuring Hand Shape: </a:t>
            </a:r>
            <a:r>
              <a:rPr b="0" lang="en-US" sz="1300" spc="-1" strike="noStrike">
                <a:solidFill>
                  <a:srgbClr val="334155"/>
                </a:solidFill>
                <a:latin typeface="Calisto MT"/>
              </a:rPr>
              <a:t>The robot calculates 19 simple numbers from the hand joints, measuring how much each finger curls and how wide fingers are spread apart.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Rapid AI Inference: </a:t>
            </a:r>
            <a:r>
              <a:rPr b="0" lang="en-US" sz="1300" spc="-1" strike="noStrike">
                <a:solidFill>
                  <a:srgbClr val="334155"/>
                </a:solidFill>
                <a:latin typeface="Calisto MT"/>
              </a:rPr>
              <a:t>A compact neural network evaluates the 19 geometric hand features in just 1.8 milliseconds on the CPU, achieving 99.4% test accuracy.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6 Driving Commands: </a:t>
            </a:r>
            <a:r>
              <a:rPr b="0" lang="en-US" sz="1300" spc="-1" strike="noStrike">
                <a:solidFill>
                  <a:srgbClr val="334155"/>
                </a:solidFill>
                <a:latin typeface="Calisto MT"/>
              </a:rPr>
              <a:t>Matches each hand pose directly to clear robot movements: STOP (open palm), GO (pointing forward), LEFT, RIGHT, BACK, and FOLLOW.</a:t>
            </a:r>
            <a:endParaRPr b="0" lang="en-US" sz="1300" spc="-1" strike="noStrike">
              <a:solidFill>
                <a:srgbClr val="000000"/>
              </a:solidFill>
              <a:latin typeface="Arial"/>
            </a:endParaRPr>
          </a:p>
        </p:txBody>
      </p:sp>
      <p:pic>
        <p:nvPicPr>
          <p:cNvPr id="83" name="Vision_HUD_Img" descr="image.jpg"/>
          <p:cNvPicPr/>
          <p:nvPr/>
        </p:nvPicPr>
        <p:blipFill>
          <a:blip r:embed="rId1"/>
          <a:stretch/>
        </p:blipFill>
        <p:spPr>
          <a:xfrm>
            <a:off x="6355080" y="1261800"/>
            <a:ext cx="3016440" cy="2266560"/>
          </a:xfrm>
          <a:prstGeom prst="rect">
            <a:avLst/>
          </a:prstGeom>
          <a:ln w="0">
            <a:noFill/>
          </a:ln>
        </p:spPr>
      </p:pic>
      <p:sp>
        <p:nvSpPr>
          <p:cNvPr id="84" name="Vision_HUD_Cap"/>
          <p:cNvSpPr/>
          <p:nvPr/>
        </p:nvSpPr>
        <p:spPr>
          <a:xfrm>
            <a:off x="6355080" y="3566160"/>
            <a:ext cx="301644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3.4: Camera View Locking on User &amp; Blurring Bystanders</a:t>
            </a:r>
            <a:endParaRPr b="0" lang="en-US" sz="1050" spc="-1" strike="noStrike">
              <a:solidFill>
                <a:srgbClr val="000000"/>
              </a:solidFill>
              <a:latin typeface="Arial"/>
            </a:endParaRPr>
          </a:p>
        </p:txBody>
      </p:sp>
      <p:pic>
        <p:nvPicPr>
          <p:cNvPr id="85" name="Vision_Hand_Img" descr="image.jpg"/>
          <p:cNvPicPr/>
          <p:nvPr/>
        </p:nvPicPr>
        <p:blipFill>
          <a:blip r:embed="rId2"/>
          <a:stretch/>
        </p:blipFill>
        <p:spPr>
          <a:xfrm>
            <a:off x="9555480" y="1261800"/>
            <a:ext cx="1964880" cy="3747960"/>
          </a:xfrm>
          <a:prstGeom prst="rect">
            <a:avLst/>
          </a:prstGeom>
          <a:ln w="0">
            <a:noFill/>
          </a:ln>
        </p:spPr>
      </p:pic>
      <p:sp>
        <p:nvSpPr>
          <p:cNvPr id="86" name="Vision_Hand_Cap"/>
          <p:cNvSpPr/>
          <p:nvPr/>
        </p:nvSpPr>
        <p:spPr>
          <a:xfrm>
            <a:off x="9555480" y="5047560"/>
            <a:ext cx="196488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3.5: 21 Tracked Hand Points</a:t>
            </a:r>
            <a:endParaRPr b="0" lang="en-US" sz="1100" spc="-1" strike="noStrike">
              <a:solidFill>
                <a:srgbClr val="000000"/>
              </a:solidFill>
              <a:latin typeface="Arial"/>
            </a:endParaRPr>
          </a:p>
        </p:txBody>
      </p:sp>
      <p:sp>
        <p:nvSpPr>
          <p:cNvPr id="87" name="Vision_Vocab_Text"/>
          <p:cNvSpPr/>
          <p:nvPr/>
        </p:nvSpPr>
        <p:spPr>
          <a:xfrm>
            <a:off x="6355080" y="4373640"/>
            <a:ext cx="3107880" cy="86868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GESTURE VOCABULARY &amp; AI SPEED:</a:t>
            </a:r>
            <a:endParaRPr b="0" lang="en-US" sz="95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6 Commands: </a:t>
            </a:r>
            <a:r>
              <a:rPr b="0" lang="en-US" sz="900" spc="-1" strike="noStrike">
                <a:solidFill>
                  <a:srgbClr val="334155"/>
                </a:solidFill>
                <a:latin typeface="Calisto MT"/>
              </a:rPr>
              <a:t>STOP, GO, LEFT, RIGHT, BACK, FOLLOW</a:t>
            </a:r>
            <a:endParaRPr b="0" lang="en-US" sz="90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Edge AI Speed: </a:t>
            </a:r>
            <a:r>
              <a:rPr b="0" lang="en-US" sz="900" spc="-1" strike="noStrike">
                <a:solidFill>
                  <a:srgbClr val="334155"/>
                </a:solidFill>
                <a:latin typeface="Calisto MT"/>
              </a:rPr>
              <a:t>Evaluates gestures in 1.8 milliseconds on the CPU</a:t>
            </a:r>
            <a:endParaRPr b="0" lang="en-US" sz="900" spc="-1" strike="noStrike">
              <a:solidFill>
                <a:srgbClr val="000000"/>
              </a:solidFill>
              <a:latin typeface="Arial"/>
            </a:endParaRPr>
          </a:p>
          <a:p>
            <a:pPr defTabSz="914400">
              <a:lnSpc>
                <a:spcPct val="112000"/>
              </a:lnSpc>
            </a:pPr>
            <a:r>
              <a:rPr b="1" lang="en-US" sz="900" spc="-1" strike="noStrike">
                <a:solidFill>
                  <a:srgbClr val="002060"/>
                </a:solidFill>
                <a:latin typeface="Calisto MT"/>
              </a:rPr>
              <a:t>• </a:t>
            </a:r>
            <a:r>
              <a:rPr b="1" lang="en-US" sz="900" spc="-1" strike="noStrike">
                <a:solidFill>
                  <a:srgbClr val="002060"/>
                </a:solidFill>
                <a:latin typeface="Calisto MT"/>
              </a:rPr>
              <a:t>High Accuracy: </a:t>
            </a:r>
            <a:r>
              <a:rPr b="0" lang="en-US" sz="900" spc="-1" strike="noStrike">
                <a:solidFill>
                  <a:srgbClr val="334155"/>
                </a:solidFill>
                <a:latin typeface="Calisto MT"/>
              </a:rPr>
              <a:t>99.4% correct across 6,000 test trials</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HUMAN MOTION PREDICTION &amp; SUPERVISORY CONTROL</a:t>
            </a:r>
            <a:endParaRPr b="0" lang="en-US" sz="2400" spc="-1" strike="noStrike">
              <a:solidFill>
                <a:srgbClr val="000000"/>
              </a:solidFill>
              <a:latin typeface="Arial"/>
            </a:endParaRPr>
          </a:p>
        </p:txBody>
      </p:sp>
      <p:sp>
        <p:nvSpPr>
          <p:cNvPr id="89" name="Control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ANTICIPATES USER PATHS, TRACKS WITH ITS CAMERA, AND STAYS SAFE</a:t>
            </a:r>
            <a:endParaRPr b="0" lang="en-US" sz="1100" spc="-1" strike="noStrike">
              <a:solidFill>
                <a:srgbClr val="000000"/>
              </a:solidFill>
              <a:latin typeface="Arial"/>
            </a:endParaRPr>
          </a:p>
        </p:txBody>
      </p:sp>
      <p:sp>
        <p:nvSpPr>
          <p:cNvPr id="90" name="Control_Points_Text"/>
          <p:cNvSpPr/>
          <p:nvPr/>
        </p:nvSpPr>
        <p:spPr>
          <a:xfrm>
            <a:off x="777240" y="1261800"/>
            <a:ext cx="5348160" cy="39477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Anticipating User Steps: </a:t>
            </a:r>
            <a:r>
              <a:rPr b="0" lang="en-US" sz="1100" spc="-1" strike="noStrike">
                <a:solidFill>
                  <a:srgbClr val="334155"/>
                </a:solidFill>
                <a:latin typeface="Calisto MT"/>
              </a:rPr>
              <a:t>The robot tracks the person's walking path over the past 1 second (30 camera frames) and uses an AI model to predict where they will step 0.5 seconds ahead, preventing jerky turns or delayed following.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Motorized Camera Tracking: </a:t>
            </a:r>
            <a:r>
              <a:rPr b="0" lang="en-US" sz="1100" spc="-1" strike="noStrike">
                <a:solidFill>
                  <a:srgbClr val="334155"/>
                </a:solidFill>
                <a:latin typeface="Calisto MT"/>
              </a:rPr>
              <a:t>A 2-axis motorized camera head pans left/right and tilts up/down automatically, keeping the interacting person centered in view even while the robot chassis is turning or braking.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Central Software Brain: </a:t>
            </a:r>
            <a:r>
              <a:rPr b="0" lang="en-US" sz="1100" spc="-1" strike="noStrike">
                <a:solidFill>
                  <a:srgbClr val="334155"/>
                </a:solidFill>
                <a:latin typeface="Calisto MT"/>
              </a:rPr>
              <a:t>A master controller (brain_node) coordinates all actions through distinct operational stages: Standing By, Confirming Command, Driving, Following User, and Safety Stop.</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Preventing Accidental Starts: </a:t>
            </a:r>
            <a:r>
              <a:rPr b="0" lang="en-US" sz="1100" spc="-1" strike="noStrike">
                <a:solidFill>
                  <a:srgbClr val="334155"/>
                </a:solidFill>
                <a:latin typeface="Calisto MT"/>
              </a:rPr>
              <a:t>To stop accidental hand waves or brief gestures from moving the robot, every command must be held consistently for at least 5 camera frames before motors turn.</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 Distance Buffer: </a:t>
            </a:r>
            <a:r>
              <a:rPr b="0" lang="en-US" sz="1100" spc="-1" strike="noStrike">
                <a:solidFill>
                  <a:srgbClr val="334155"/>
                </a:solidFill>
                <a:latin typeface="Calisto MT"/>
              </a:rPr>
              <a:t>When following a walking user, the robot automatically stays between 0.8 and 1.5 meters away; if the person stops or steps closer than 0.8 meters, it halts immediately.</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Reactive Laser Safety Override: </a:t>
            </a:r>
            <a:r>
              <a:rPr b="0" lang="en-US" sz="1100" spc="-1" strike="noStrike">
                <a:solidFill>
                  <a:srgbClr val="334155"/>
                </a:solidFill>
                <a:latin typeface="Calisto MT"/>
              </a:rPr>
              <a:t>The 360° laser sensor constantly scans the surroundings; if an obstacle enters within 0.36 meters, motor power is preempted in 5 milliseconds, overriding all AI.</a:t>
            </a:r>
            <a:endParaRPr b="0" lang="en-US" sz="1100" spc="-1" strike="noStrike">
              <a:solidFill>
                <a:srgbClr val="000000"/>
              </a:solidFill>
              <a:latin typeface="Arial"/>
            </a:endParaRPr>
          </a:p>
        </p:txBody>
      </p:sp>
      <p:pic>
        <p:nvPicPr>
          <p:cNvPr id="91" name="Control_LSTM_Img" descr="image.png"/>
          <p:cNvPicPr/>
          <p:nvPr/>
        </p:nvPicPr>
        <p:blipFill>
          <a:blip r:embed="rId1"/>
          <a:stretch/>
        </p:blipFill>
        <p:spPr>
          <a:xfrm>
            <a:off x="6355080" y="1261800"/>
            <a:ext cx="5028120" cy="1873440"/>
          </a:xfrm>
          <a:prstGeom prst="rect">
            <a:avLst/>
          </a:prstGeom>
          <a:ln w="0">
            <a:noFill/>
          </a:ln>
        </p:spPr>
      </p:pic>
      <p:sp>
        <p:nvSpPr>
          <p:cNvPr id="92" name="Control_LSTM_Cap"/>
          <p:cNvSpPr/>
          <p:nvPr/>
        </p:nvSpPr>
        <p:spPr>
          <a:xfrm>
            <a:off x="6355080" y="3163680"/>
            <a:ext cx="5028120" cy="147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3.6: AI Human Motion Prediction (Blue = Past 1.0s Walk, Green = Actual Steps, Red = AI Forecast)</a:t>
            </a:r>
            <a:endParaRPr b="0" lang="en-US" sz="850" spc="-1" strike="noStrike">
              <a:solidFill>
                <a:srgbClr val="000000"/>
              </a:solidFill>
              <a:latin typeface="Arial"/>
            </a:endParaRPr>
          </a:p>
        </p:txBody>
      </p:sp>
      <p:pic>
        <p:nvPicPr>
          <p:cNvPr id="93" name="Control_Gimbal_Img" descr="image.jpg"/>
          <p:cNvPicPr/>
          <p:nvPr/>
        </p:nvPicPr>
        <p:blipFill>
          <a:blip r:embed="rId2"/>
          <a:stretch/>
        </p:blipFill>
        <p:spPr>
          <a:xfrm>
            <a:off x="6355080" y="3493080"/>
            <a:ext cx="2102040" cy="1599120"/>
          </a:xfrm>
          <a:prstGeom prst="rect">
            <a:avLst/>
          </a:prstGeom>
          <a:ln w="0">
            <a:noFill/>
          </a:ln>
        </p:spPr>
      </p:pic>
      <p:sp>
        <p:nvSpPr>
          <p:cNvPr id="94" name="Control_Gimbal_Cap"/>
          <p:cNvSpPr/>
          <p:nvPr/>
        </p:nvSpPr>
        <p:spPr>
          <a:xfrm>
            <a:off x="6355080" y="5120640"/>
            <a:ext cx="2102040" cy="147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3.7: 2-Axis Motorized Camera Head</a:t>
            </a:r>
            <a:endParaRPr b="0" lang="en-US" sz="850" spc="-1" strike="noStrike">
              <a:solidFill>
                <a:srgbClr val="000000"/>
              </a:solidFill>
              <a:latin typeface="Arial"/>
            </a:endParaRPr>
          </a:p>
        </p:txBody>
      </p:sp>
      <p:sp>
        <p:nvSpPr>
          <p:cNvPr id="95" name="Control_Safety_Text"/>
          <p:cNvSpPr/>
          <p:nvPr/>
        </p:nvSpPr>
        <p:spPr>
          <a:xfrm>
            <a:off x="8641080" y="3493080"/>
            <a:ext cx="2742120" cy="1495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SUPERVISORY SAFETY INTERLOCKS: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4 Safe Modes: </a:t>
            </a:r>
            <a:r>
              <a:rPr b="0" lang="en-US" sz="880" spc="-1" strike="noStrike">
                <a:solidFill>
                  <a:srgbClr val="334155"/>
                </a:solidFill>
                <a:latin typeface="Calisto MT"/>
              </a:rPr>
              <a:t>Standby → Confirming → Driving → Safety Halt</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5-Frame Filter: </a:t>
            </a:r>
            <a:r>
              <a:rPr b="0" lang="en-US" sz="880" spc="-1" strike="noStrike">
                <a:solidFill>
                  <a:srgbClr val="334155"/>
                </a:solidFill>
                <a:latin typeface="Calisto MT"/>
              </a:rPr>
              <a:t>Requires 5 matching frames to stop accidental wave triggers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Gap (0.8m): </a:t>
            </a:r>
            <a:r>
              <a:rPr b="0" lang="en-US" sz="880" spc="-1" strike="noStrike">
                <a:solidFill>
                  <a:srgbClr val="334155"/>
                </a:solidFill>
                <a:latin typeface="Calisto MT"/>
              </a:rPr>
              <a:t>Stops immediately if user approaches closer than 0.8 meters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Emergency Safety Stop: </a:t>
            </a:r>
            <a:r>
              <a:rPr b="0" lang="en-US" sz="880" spc="-1" strike="noStrike">
                <a:solidFill>
                  <a:srgbClr val="334155"/>
                </a:solidFill>
                <a:latin typeface="Calisto MT"/>
              </a:rPr>
              <a:t>Laser barrier (&lt; 0.36m) halts motors within 5 milliseconds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METRIC SLAM &amp; NAV2 AUTONOMOUS NAVIGATION</a:t>
            </a:r>
            <a:endParaRPr b="0" lang="en-US" sz="2400" spc="-1" strike="noStrike">
              <a:solidFill>
                <a:srgbClr val="000000"/>
              </a:solidFill>
              <a:latin typeface="Arial"/>
            </a:endParaRPr>
          </a:p>
        </p:txBody>
      </p:sp>
      <p:sp>
        <p:nvSpPr>
          <p:cNvPr id="97" name="Nav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MAPS INDOOR ROOMS, FIXES SENSOR DRIFT, AND PATROLS AUTONOMOUSLY</a:t>
            </a:r>
            <a:endParaRPr b="0" lang="en-US" sz="1100" spc="-1" strike="noStrike">
              <a:solidFill>
                <a:srgbClr val="000000"/>
              </a:solidFill>
              <a:latin typeface="Arial"/>
            </a:endParaRPr>
          </a:p>
        </p:txBody>
      </p:sp>
      <p:sp>
        <p:nvSpPr>
          <p:cNvPr id="98" name="Nav_Points_Text"/>
          <p:cNvSpPr/>
          <p:nvPr/>
        </p:nvSpPr>
        <p:spPr>
          <a:xfrm>
            <a:off x="777240" y="1261800"/>
            <a:ext cx="5348160" cy="41403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Laser Room Mapping: </a:t>
            </a:r>
            <a:r>
              <a:rPr b="0" lang="en-US" sz="1100" spc="-1" strike="noStrike">
                <a:solidFill>
                  <a:srgbClr val="334155"/>
                </a:solidFill>
                <a:latin typeface="Calisto MT"/>
              </a:rPr>
              <a:t>As the robot is steered through the room, its 360° laser distance sensor fires 12.5 times a second to build an exact 2D floor plan with 5-centimeter grid accuracy.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Resolving Signal Conflicts: </a:t>
            </a:r>
            <a:r>
              <a:rPr b="0" lang="en-US" sz="1100" spc="-1" strike="noStrike">
                <a:solidFill>
                  <a:srgbClr val="334155"/>
                </a:solidFill>
                <a:latin typeface="Calisto MT"/>
              </a:rPr>
              <a:t>Early mapping tests dropped laser scans because two internal programs reported starting locations at once. Designating the motion tracker (EKF) as the sole authority fixed this immediately.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Fixing Cornering Drift: </a:t>
            </a:r>
            <a:r>
              <a:rPr b="0" lang="en-US" sz="1100" spc="-1" strike="noStrike">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Self-Localization (AMCL): </a:t>
            </a:r>
            <a:r>
              <a:rPr b="0" lang="en-US" sz="1100" spc="-1" strike="noStrike">
                <a:solidFill>
                  <a:srgbClr val="334155"/>
                </a:solidFill>
                <a:latin typeface="Calisto MT"/>
              </a:rPr>
              <a:t>Once the map is saved, the robot constantly compares live laser scans against the map to know its exact physical coordinates (X, Y, and heading angle) within centimeters.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Safety Padding Costmaps: </a:t>
            </a:r>
            <a:r>
              <a:rPr b="0" lang="en-US" sz="1100" spc="-1" strike="noStrike">
                <a:solidFill>
                  <a:srgbClr val="334155"/>
                </a:solidFill>
                <a:latin typeface="Calisto MT"/>
              </a:rPr>
              <a:t>The navigation software automatically inflates a safety padding cushion around all walls and furniture, preventing the robot from cutting corners too close or bumping table legs.</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Multi-Waypoint Autonomous Patrol: </a:t>
            </a:r>
            <a:r>
              <a:rPr b="0" lang="en-US" sz="1100" spc="-1" strike="noStrike">
                <a:solidFill>
                  <a:srgbClr val="334155"/>
                </a:solidFill>
                <a:latin typeface="Calisto MT"/>
              </a:rPr>
              <a:t>Given a sequence of room destinations (Dock → Central Hub → North Corner → East Post), the robot navigates smoothly across 160 seconds, achieving an average tracking accuracy of 15.5 cm.</a:t>
            </a:r>
            <a:endParaRPr b="0" lang="en-US" sz="1100" spc="-1" strike="noStrike">
              <a:solidFill>
                <a:srgbClr val="000000"/>
              </a:solidFill>
              <a:latin typeface="Arial"/>
            </a:endParaRPr>
          </a:p>
        </p:txBody>
      </p:sp>
      <p:sp>
        <p:nvSpPr>
          <p:cNvPr id="99" name="Nav_Drift_Label"/>
          <p:cNvSpPr/>
          <p:nvPr/>
        </p:nvSpPr>
        <p:spPr>
          <a:xfrm>
            <a:off x="6355080" y="1261800"/>
            <a:ext cx="2422080" cy="156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64748b"/>
                </a:solidFill>
                <a:latin typeface="Calisto MT"/>
              </a:rPr>
              <a:t>(a) Initial: 45° Corner Drift Defect</a:t>
            </a:r>
            <a:endParaRPr b="0" lang="en-US" sz="900" spc="-1" strike="noStrike">
              <a:solidFill>
                <a:srgbClr val="000000"/>
              </a:solidFill>
              <a:latin typeface="Arial"/>
            </a:endParaRPr>
          </a:p>
        </p:txBody>
      </p:sp>
      <p:sp>
        <p:nvSpPr>
          <p:cNvPr id="100" name="Nav_Clean_Label"/>
          <p:cNvSpPr/>
          <p:nvPr/>
        </p:nvSpPr>
        <p:spPr>
          <a:xfrm>
            <a:off x="8915400" y="1261800"/>
            <a:ext cx="2422080" cy="15624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002060"/>
                </a:solidFill>
                <a:latin typeface="Calisto MT"/>
              </a:rPr>
              <a:t>(b) Final: Clean Metric Map</a:t>
            </a:r>
            <a:endParaRPr b="0" lang="en-US" sz="900" spc="-1" strike="noStrike">
              <a:solidFill>
                <a:srgbClr val="000000"/>
              </a:solidFill>
              <a:latin typeface="Arial"/>
            </a:endParaRPr>
          </a:p>
        </p:txBody>
      </p:sp>
      <p:pic>
        <p:nvPicPr>
          <p:cNvPr id="101" name="Nav_Drift_Img" descr="image.png"/>
          <p:cNvPicPr/>
          <p:nvPr/>
        </p:nvPicPr>
        <p:blipFill>
          <a:blip r:embed="rId1"/>
          <a:stretch/>
        </p:blipFill>
        <p:spPr>
          <a:xfrm>
            <a:off x="6355080" y="1481400"/>
            <a:ext cx="2422080" cy="1416240"/>
          </a:xfrm>
          <a:prstGeom prst="rect">
            <a:avLst/>
          </a:prstGeom>
          <a:ln w="0">
            <a:noFill/>
          </a:ln>
        </p:spPr>
      </p:pic>
      <p:pic>
        <p:nvPicPr>
          <p:cNvPr id="102" name="Nav_Clean_Img" descr="image.png"/>
          <p:cNvPicPr/>
          <p:nvPr/>
        </p:nvPicPr>
        <p:blipFill>
          <a:blip r:embed="rId2"/>
          <a:stretch/>
        </p:blipFill>
        <p:spPr>
          <a:xfrm>
            <a:off x="8915400" y="1481400"/>
            <a:ext cx="2422080" cy="1416240"/>
          </a:xfrm>
          <a:prstGeom prst="rect">
            <a:avLst/>
          </a:prstGeom>
          <a:ln w="0">
            <a:noFill/>
          </a:ln>
        </p:spPr>
      </p:pic>
      <p:sp>
        <p:nvSpPr>
          <p:cNvPr id="103" name="Nav_SLAM_Cap"/>
          <p:cNvSpPr/>
          <p:nvPr/>
        </p:nvSpPr>
        <p:spPr>
          <a:xfrm>
            <a:off x="6355080" y="2971800"/>
            <a:ext cx="502812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3.8: Physical SLAM Calibration — Correcting Yaw Drift via Wheel Odometry Fusion</a:t>
            </a:r>
            <a:endParaRPr b="0" lang="en-US" sz="1050" spc="-1" strike="noStrike">
              <a:solidFill>
                <a:srgbClr val="000000"/>
              </a:solidFill>
              <a:latin typeface="Arial"/>
            </a:endParaRPr>
          </a:p>
        </p:txBody>
      </p:sp>
      <p:pic>
        <p:nvPicPr>
          <p:cNvPr id="104" name="Nav_Patrol_Img" descr="image.png"/>
          <p:cNvPicPr/>
          <p:nvPr/>
        </p:nvPicPr>
        <p:blipFill>
          <a:blip r:embed="rId3"/>
          <a:stretch/>
        </p:blipFill>
        <p:spPr>
          <a:xfrm>
            <a:off x="6355080" y="3337560"/>
            <a:ext cx="1599120" cy="1964880"/>
          </a:xfrm>
          <a:prstGeom prst="rect">
            <a:avLst/>
          </a:prstGeom>
          <a:ln w="0">
            <a:noFill/>
          </a:ln>
        </p:spPr>
      </p:pic>
      <p:sp>
        <p:nvSpPr>
          <p:cNvPr id="105" name="Nav_Patrol_Cap"/>
          <p:cNvSpPr/>
          <p:nvPr/>
        </p:nvSpPr>
        <p:spPr>
          <a:xfrm>
            <a:off x="6355080" y="5321880"/>
            <a:ext cx="15991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3.9: 4-Waypoint Patrol</a:t>
            </a:r>
            <a:endParaRPr b="0" lang="en-US" sz="1100" spc="-1" strike="noStrike">
              <a:solidFill>
                <a:srgbClr val="000000"/>
              </a:solidFill>
              <a:latin typeface="Arial"/>
            </a:endParaRPr>
          </a:p>
        </p:txBody>
      </p:sp>
      <p:sp>
        <p:nvSpPr>
          <p:cNvPr id="106" name="Nav_Perf_Text"/>
          <p:cNvSpPr/>
          <p:nvPr/>
        </p:nvSpPr>
        <p:spPr>
          <a:xfrm>
            <a:off x="8138160" y="3553560"/>
            <a:ext cx="3245040" cy="168984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400"/>
              </a:spcAft>
            </a:pPr>
            <a:r>
              <a:rPr b="1" lang="en-US" sz="950" spc="-1" strike="noStrike">
                <a:solidFill>
                  <a:srgbClr val="b8860b"/>
                </a:solidFill>
                <a:latin typeface="Calisto MT"/>
              </a:rPr>
              <a:t>AUTONOMOUS PATROL PERFORMANCE:</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Map Resolution: </a:t>
            </a:r>
            <a:r>
              <a:rPr b="0" lang="en-US" sz="880" spc="-1" strike="noStrike">
                <a:solidFill>
                  <a:srgbClr val="334155"/>
                </a:solidFill>
                <a:latin typeface="Calisto MT"/>
              </a:rPr>
              <a:t>5 cm per grid cell for fine obstacle details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Path Accuracy: </a:t>
            </a:r>
            <a:r>
              <a:rPr b="0" lang="en-US" sz="880" spc="-1" strike="noStrike">
                <a:solidFill>
                  <a:srgbClr val="334155"/>
                </a:solidFill>
                <a:latin typeface="Calisto MT"/>
              </a:rPr>
              <a:t>15.5 cm average tracking error across 160s run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Velocity: </a:t>
            </a:r>
            <a:r>
              <a:rPr b="0" lang="en-US" sz="880" spc="-1" strike="noStrike">
                <a:solidFill>
                  <a:srgbClr val="334155"/>
                </a:solidFill>
                <a:latin typeface="Calisto MT"/>
              </a:rPr>
              <a:t>Speed capped smoothly at 0.25 m/s for lab safety</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Goal Verification: </a:t>
            </a:r>
            <a:r>
              <a:rPr b="0" lang="en-US" sz="880" spc="-1" strike="noStrike">
                <a:solidFill>
                  <a:srgbClr val="334155"/>
                </a:solidFill>
                <a:latin typeface="Calisto MT"/>
              </a:rPr>
              <a:t>4 / 4 physical destinations reached (Dock → Hub → Corner → Post)</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Obstacle Buffer: </a:t>
            </a:r>
            <a:r>
              <a:rPr b="0" lang="en-US" sz="880" spc="-1" strike="noStrike">
                <a:solidFill>
                  <a:srgbClr val="334155"/>
                </a:solidFill>
                <a:latin typeface="Calisto MT"/>
              </a:rPr>
              <a:t>Safety inflation maintains &gt;0.30 m clearance from walls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SYSTEM LATENCY &amp; ACCURACY</a:t>
            </a:r>
            <a:endParaRPr b="0" lang="en-US" sz="2400" spc="-1" strike="noStrike">
              <a:solidFill>
                <a:srgbClr val="000000"/>
              </a:solidFill>
              <a:latin typeface="Arial"/>
            </a:endParaRPr>
          </a:p>
        </p:txBody>
      </p:sp>
      <p:sp>
        <p:nvSpPr>
          <p:cNvPr id="108" name="Latency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REAL-TIME RESPONSE SPEED, GESTURE ACCURACY, AND MULTI-CONDITION RELIABILITY</a:t>
            </a:r>
            <a:endParaRPr b="0" lang="en-US" sz="1100" spc="-1" strike="noStrike">
              <a:solidFill>
                <a:srgbClr val="000000"/>
              </a:solidFill>
              <a:latin typeface="Arial"/>
            </a:endParaRPr>
          </a:p>
        </p:txBody>
      </p:sp>
      <p:sp>
        <p:nvSpPr>
          <p:cNvPr id="109" name="Latency_Points_Text"/>
          <p:cNvSpPr/>
          <p:nvPr/>
        </p:nvSpPr>
        <p:spPr>
          <a:xfrm>
            <a:off x="777240" y="1261800"/>
            <a:ext cx="5348160" cy="441864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132 ms Total Response Time: </a:t>
            </a:r>
            <a:r>
              <a:rPr b="0" lang="en-US" sz="1300" spc="-1" strike="noStrike">
                <a:solidFill>
                  <a:srgbClr val="334155"/>
                </a:solidFill>
                <a:latin typeface="Calisto MT"/>
              </a:rPr>
              <a:t>From optical camera capture to physical wheel movement takes 132.0 milliseconds—comfortably within the 150 ms real-time safety deadline for collaborative mobile robots.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1.8 ms AI Classification: </a:t>
            </a:r>
            <a:r>
              <a:rPr b="0" lang="en-US" sz="1300" spc="-1" strike="noStrike">
                <a:solidFill>
                  <a:srgbClr val="334155"/>
                </a:solidFill>
                <a:latin typeface="Calisto MT"/>
              </a:rPr>
              <a:t>The compact neural network evaluates hand features in just 1.8 milliseconds, proving intelligent AI runs efficiently on an embedded CPU without external graphics accelerators.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96.67% Physical Driving Success: </a:t>
            </a:r>
            <a:r>
              <a:rPr b="0" lang="en-US" sz="1300" spc="-1" strike="noStrike">
                <a:solidFill>
                  <a:srgbClr val="334155"/>
                </a:solidFill>
                <a:latin typeface="Calisto MT"/>
              </a:rPr>
              <a:t>In 180 real-world driving trials with operators walking in the lab, the robot correctly recognized and executed commands 96.67% of the time.</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Reliable Operating Range: </a:t>
            </a:r>
            <a:r>
              <a:rPr b="0" lang="en-US" sz="1300" spc="-1" strike="noStrike">
                <a:solidFill>
                  <a:srgbClr val="334155"/>
                </a:solidFill>
                <a:latin typeface="Calisto MT"/>
              </a:rPr>
              <a:t>Because hand features are scaled automatically by palm size, accuracy stays strong from 1.0 meter (100%) up to 2.5 meters (92.6%) away.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Consistent in Any Lighting: </a:t>
            </a:r>
            <a:r>
              <a:rPr b="0" lang="en-US" sz="1300" spc="-1" strike="noStrike">
                <a:solidFill>
                  <a:srgbClr val="334155"/>
                </a:solidFill>
                <a:latin typeface="Calisto MT"/>
              </a:rPr>
              <a:t>The robot achieved identical 96.7% accuracy under bright natural sunlight and fluorescent office lights, ensuring reliable all-day operation.</a:t>
            </a:r>
            <a:endParaRPr b="0" lang="en-US" sz="1300" spc="-1" strike="noStrike">
              <a:solidFill>
                <a:srgbClr val="000000"/>
              </a:solidFill>
              <a:latin typeface="Arial"/>
            </a:endParaRPr>
          </a:p>
        </p:txBody>
      </p:sp>
      <p:pic>
        <p:nvPicPr>
          <p:cNvPr id="110" name="Latency_Boxplot_Img" descr="image.png"/>
          <p:cNvPicPr/>
          <p:nvPr/>
        </p:nvPicPr>
        <p:blipFill>
          <a:blip r:embed="rId1"/>
          <a:stretch/>
        </p:blipFill>
        <p:spPr>
          <a:xfrm>
            <a:off x="6355080" y="1261800"/>
            <a:ext cx="5028120" cy="2083680"/>
          </a:xfrm>
          <a:prstGeom prst="rect">
            <a:avLst/>
          </a:prstGeom>
          <a:ln w="0">
            <a:noFill/>
          </a:ln>
        </p:spPr>
      </p:pic>
      <p:sp>
        <p:nvSpPr>
          <p:cNvPr id="111" name="Latency_Boxplot_Cap"/>
          <p:cNvSpPr/>
          <p:nvPr/>
        </p:nvSpPr>
        <p:spPr>
          <a:xfrm>
            <a:off x="6355080" y="3383280"/>
            <a:ext cx="502812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4.1: Observed Physical Accuracy Across Gestures, Operating Distances &amp; Lighting (180 Trials)</a:t>
            </a:r>
            <a:endParaRPr b="0" lang="en-US" sz="1100" spc="-1" strike="noStrike">
              <a:solidFill>
                <a:srgbClr val="000000"/>
              </a:solidFill>
              <a:latin typeface="Arial"/>
            </a:endParaRPr>
          </a:p>
        </p:txBody>
      </p:sp>
      <p:sp>
        <p:nvSpPr>
          <p:cNvPr id="112" name="Latency_Bench_Text"/>
          <p:cNvSpPr/>
          <p:nvPr/>
        </p:nvSpPr>
        <p:spPr>
          <a:xfrm>
            <a:off x="6355080" y="3991320"/>
            <a:ext cx="5028120" cy="10782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END-TO-END LATENCY BUDGET &amp; SPEED BREAKDOWN (132.0 ms TOTAL):</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Camera Video Capture: </a:t>
            </a:r>
            <a:r>
              <a:rPr b="0" lang="en-US" sz="880" spc="-1" strike="noStrike">
                <a:solidFill>
                  <a:srgbClr val="334155"/>
                </a:solidFill>
                <a:latin typeface="Calisto MT"/>
              </a:rPr>
              <a:t>50.0 ms (640×480 @ 30 FPS video streaming)</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Hand Tracking: </a:t>
            </a:r>
            <a:r>
              <a:rPr b="0" lang="en-US" sz="880" spc="-1" strike="noStrike">
                <a:solidFill>
                  <a:srgbClr val="334155"/>
                </a:solidFill>
                <a:latin typeface="Calisto MT"/>
              </a:rPr>
              <a:t>38.2 ms (MediaPipe landmark extraction on quad-core CPU)</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Neural Classifier: </a:t>
            </a:r>
            <a:r>
              <a:rPr b="0" lang="en-US" sz="880" spc="-1" strike="noStrike">
                <a:solidFill>
                  <a:srgbClr val="334155"/>
                </a:solidFill>
                <a:latin typeface="Calisto MT"/>
              </a:rPr>
              <a:t>1.8 ms (instant geometric feature classification)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Motor Communication: </a:t>
            </a:r>
            <a:r>
              <a:rPr b="0" lang="en-US" sz="880" spc="-1" strike="noStrike">
                <a:solidFill>
                  <a:srgbClr val="334155"/>
                </a:solidFill>
                <a:latin typeface="Calisto MT"/>
              </a:rPr>
              <a:t>40.0 ms (micro-ROS UART command delivery to wheels)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Standard: </a:t>
            </a:r>
            <a:r>
              <a:rPr b="0" lang="en-US" sz="880" spc="-1" strike="noStrike">
                <a:solidFill>
                  <a:srgbClr val="334155"/>
                </a:solidFill>
                <a:latin typeface="Calisto MT"/>
              </a:rPr>
              <a:t>100% of runs below 150 ms ISO 15066 safety deadline</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PHYSICAL LOCOMOTION &amp; SAFETY</a:t>
            </a:r>
            <a:endParaRPr b="0" lang="en-US" sz="2400" spc="-1" strike="noStrike">
              <a:solidFill>
                <a:srgbClr val="000000"/>
              </a:solidFill>
              <a:latin typeface="Arial"/>
            </a:endParaRPr>
          </a:p>
        </p:txBody>
      </p:sp>
      <p:sp>
        <p:nvSpPr>
          <p:cNvPr id="114" name="Safety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VEHICLE MOTION, EMERGENCY BRAKING, AND 360° LIDAR SAFETY BUBBLE</a:t>
            </a:r>
            <a:endParaRPr b="0" lang="en-US" sz="1100" spc="-1" strike="noStrike">
              <a:solidFill>
                <a:srgbClr val="000000"/>
              </a:solidFill>
              <a:latin typeface="Arial"/>
            </a:endParaRPr>
          </a:p>
        </p:txBody>
      </p:sp>
      <p:sp>
        <p:nvSpPr>
          <p:cNvPr id="115" name="Safety_Points_Text"/>
          <p:cNvSpPr/>
          <p:nvPr/>
        </p:nvSpPr>
        <p:spPr>
          <a:xfrm>
            <a:off x="777240" y="1261800"/>
            <a:ext cx="5348160" cy="481068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Smooth Vehicle Driving: </a:t>
            </a:r>
            <a:r>
              <a:rPr b="0" lang="en-US" sz="1300" spc="-1" strike="noStrike">
                <a:solidFill>
                  <a:srgbClr val="334155"/>
                </a:solidFill>
                <a:latin typeface="Calisto MT"/>
              </a:rPr>
              <a:t>All 6 commands (Forward, Reverse, Left, Right, Stop, Follow) drove the 4WD mobile robot smoothly without motor stalls or wheel skids.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Safe Dual Power Rails: </a:t>
            </a:r>
            <a:r>
              <a:rPr b="0" lang="en-US" sz="1300" spc="-1" strike="noStrike">
                <a:solidFill>
                  <a:srgbClr val="334155"/>
                </a:solidFill>
                <a:latin typeface="Calisto MT"/>
              </a:rPr>
              <a:t>High motor current spikes during rapid forward-to-reverse driving never restarted the onboard computer, proving isolated power buses protect system stability.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Verified 98 ms Braking: </a:t>
            </a:r>
            <a:r>
              <a:rPr b="0" lang="en-US" sz="1300" spc="-1" strike="noStrike">
                <a:solidFill>
                  <a:srgbClr val="334155"/>
                </a:solidFill>
                <a:latin typeface="Calisto MT"/>
              </a:rPr>
              <a:t>When the STOP command is shown or an obstacle enters the path, the robot halts completely within 98 milliseconds—well within the 0.36-meter safety margin.</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Smart Hallway Safety Corridor: </a:t>
            </a:r>
            <a:r>
              <a:rPr b="0" lang="en-US" sz="1300" spc="-1" strike="noStrike">
                <a:solidFill>
                  <a:srgbClr val="334155"/>
                </a:solidFill>
                <a:latin typeface="Calisto MT"/>
              </a:rPr>
              <a:t>Replaced the wide sensor cone with a rectangular corridor (|y| &lt;= 0.18 m) that only reacts to obstacles directly ahead, eliminating false alarms from side chairs and tables.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Rear Collision Guard: </a:t>
            </a:r>
            <a:r>
              <a:rPr b="0" lang="en-US" sz="1300" spc="-1" strike="noStrike">
                <a:solidFill>
                  <a:srgbClr val="334155"/>
                </a:solidFill>
                <a:latin typeface="Calisto MT"/>
              </a:rPr>
              <a:t>Before backing away from a frontal obstacle, the robot checks behind itself; if an object is within 0.25 meters, it stops immediately instead of backing up blindly.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Certified ISO 15066 Safety: </a:t>
            </a:r>
            <a:r>
              <a:rPr b="0" lang="en-US" sz="1300" spc="-1" strike="noStrike">
                <a:solidFill>
                  <a:srgbClr val="334155"/>
                </a:solidFill>
                <a:latin typeface="Calisto MT"/>
              </a:rPr>
              <a:t>Cruising speed is capped at 0.20 m/s with 12.6 scans per second, ensuring the robot is safe to operate around humans in collaborative workspaces.</a:t>
            </a:r>
            <a:endParaRPr b="0" lang="en-US" sz="1300" spc="-1" strike="noStrike">
              <a:solidFill>
                <a:srgbClr val="000000"/>
              </a:solidFill>
              <a:latin typeface="Arial"/>
            </a:endParaRPr>
          </a:p>
        </p:txBody>
      </p:sp>
      <p:pic>
        <p:nvPicPr>
          <p:cNvPr id="116" name="Safety_Lidar_Img" descr="image.png"/>
          <p:cNvPicPr/>
          <p:nvPr/>
        </p:nvPicPr>
        <p:blipFill>
          <a:blip r:embed="rId1"/>
          <a:stretch/>
        </p:blipFill>
        <p:spPr>
          <a:xfrm>
            <a:off x="6355080" y="1261800"/>
            <a:ext cx="5028120" cy="2742120"/>
          </a:xfrm>
          <a:prstGeom prst="rect">
            <a:avLst/>
          </a:prstGeom>
          <a:ln w="0">
            <a:noFill/>
          </a:ln>
        </p:spPr>
      </p:pic>
      <p:sp>
        <p:nvSpPr>
          <p:cNvPr id="117" name="Safety_Lidar_Cap"/>
          <p:cNvSpPr/>
          <p:nvPr/>
        </p:nvSpPr>
        <p:spPr>
          <a:xfrm>
            <a:off x="6355080" y="4041720"/>
            <a:ext cx="502812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4.2: Smart Rectangular Safety Corridor vs. Old Cone (Eliminating False Alarms)</a:t>
            </a:r>
            <a:endParaRPr b="0" lang="en-US" sz="1050" spc="-1" strike="noStrike">
              <a:solidFill>
                <a:srgbClr val="000000"/>
              </a:solidFill>
              <a:latin typeface="Arial"/>
            </a:endParaRPr>
          </a:p>
        </p:txBody>
      </p:sp>
      <p:sp>
        <p:nvSpPr>
          <p:cNvPr id="118" name="Safety_Bench_Text"/>
          <p:cNvSpPr/>
          <p:nvPr/>
        </p:nvSpPr>
        <p:spPr>
          <a:xfrm>
            <a:off x="6355080" y="4370760"/>
            <a:ext cx="5028120" cy="8967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VERIFIED PHYSICAL SAFETY &amp; LOCOMOTION METRICS: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Braking Speed: </a:t>
            </a:r>
            <a:r>
              <a:rPr b="0" lang="en-US" sz="880" spc="-1" strike="noStrike">
                <a:solidFill>
                  <a:srgbClr val="334155"/>
                </a:solidFill>
                <a:latin typeface="Calisto MT"/>
              </a:rPr>
              <a:t>98 ms average physical emergency stop from 0.20 m/s cruising speed</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Front Safety Zones: </a:t>
            </a:r>
            <a:r>
              <a:rPr b="0" lang="en-US" sz="880" spc="-1" strike="noStrike">
                <a:solidFill>
                  <a:srgbClr val="334155"/>
                </a:solidFill>
                <a:latin typeface="Calisto MT"/>
              </a:rPr>
              <a:t>0.36 m danger halt threshold; 0.55 m caution recovery buffer</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Rear Guard Clearance: </a:t>
            </a:r>
            <a:r>
              <a:rPr b="0" lang="en-US" sz="880" spc="-1" strike="noStrike">
                <a:solidFill>
                  <a:srgbClr val="334155"/>
                </a:solidFill>
                <a:latin typeface="Calisto MT"/>
              </a:rPr>
              <a:t>Reversing cancelled immediately if obstacles detected within 0.25 m</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Compliance: </a:t>
            </a:r>
            <a:r>
              <a:rPr b="0" lang="en-US" sz="880" spc="-1" strike="noStrike">
                <a:solidFill>
                  <a:srgbClr val="334155"/>
                </a:solidFill>
                <a:latin typeface="Calisto MT"/>
              </a:rPr>
              <a:t>100% compliant with ISO 15066 collaborative robotic safety criteria</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603360" y="320040"/>
            <a:ext cx="10971720" cy="54756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CONCLUSION, LIMITATIONS &amp; RECOMMENDATIONS</a:t>
            </a:r>
            <a:endParaRPr b="0" lang="en-US" sz="2400" spc="-1" strike="noStrike">
              <a:solidFill>
                <a:srgbClr val="000000"/>
              </a:solidFill>
              <a:latin typeface="Arial"/>
            </a:endParaRPr>
          </a:p>
        </p:txBody>
      </p:sp>
      <p:sp>
        <p:nvSpPr>
          <p:cNvPr id="120" name="Conclusion_Subhead"/>
          <p:cNvSpPr/>
          <p:nvPr/>
        </p:nvSpPr>
        <p:spPr>
          <a:xfrm>
            <a:off x="777240" y="960120"/>
            <a:ext cx="10633320" cy="190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PROJECT CONTRIBUTIONS, TECHNICAL LIMITATIONS, AND RECOMMENDATIONS FOR FUTURE WORK</a:t>
            </a:r>
            <a:endParaRPr b="0" lang="en-US" sz="1100" spc="-1" strike="noStrike">
              <a:solidFill>
                <a:srgbClr val="000000"/>
              </a:solidFill>
              <a:latin typeface="Arial"/>
            </a:endParaRPr>
          </a:p>
        </p:txBody>
      </p:sp>
      <p:sp>
        <p:nvSpPr>
          <p:cNvPr id="121" name="Conclusion_Points_Text"/>
          <p:cNvSpPr/>
          <p:nvPr/>
        </p:nvSpPr>
        <p:spPr>
          <a:xfrm>
            <a:off x="777240" y="1261800"/>
            <a:ext cx="5348160" cy="4152600"/>
          </a:xfrm>
          <a:prstGeom prst="rect">
            <a:avLst/>
          </a:prstGeom>
          <a:noFill/>
          <a:ln w="0">
            <a:noFill/>
          </a:ln>
        </p:spPr>
        <p:style>
          <a:lnRef idx="0"/>
          <a:fillRef idx="0"/>
          <a:effectRef idx="0"/>
          <a:fontRef idx="minor"/>
        </p:style>
        <p:txBody>
          <a:bodyPr lIns="18360" rIns="18360" tIns="18360" bIns="18360" anchor="t">
            <a:spAutoFit/>
          </a:bodyPr>
          <a:p>
            <a:pPr defTabSz="914400">
              <a:lnSpc>
                <a:spcPct val="114000"/>
              </a:lnSpc>
              <a:spcAft>
                <a:spcPts val="300"/>
              </a:spcAft>
            </a:pPr>
            <a:r>
              <a:rPr b="1" lang="en-US" sz="1200" spc="-1" strike="noStrike">
                <a:solidFill>
                  <a:srgbClr val="b8860b"/>
                </a:solidFill>
                <a:latin typeface="Calisto MT"/>
              </a:rPr>
              <a:t>KEY RESEARCH CONCLUSIONS: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Complete Edge Autonomy: </a:t>
            </a:r>
            <a:r>
              <a:rPr b="0" lang="en-US" sz="1200" spc="-1" strike="noStrike">
                <a:solidFill>
                  <a:srgbClr val="334155"/>
                </a:solidFill>
                <a:latin typeface="Calisto MT"/>
              </a:rPr>
              <a:t>AI vision, gesture recognition, human tracking, and SLAM execute 100% onboard the Raspberry Pi 5 without clouds or external GPUs.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High Real-World Accuracy: </a:t>
            </a:r>
            <a:r>
              <a:rPr b="0" lang="en-US" sz="1200" spc="-1" strike="noStrike">
                <a:solidFill>
                  <a:srgbClr val="334155"/>
                </a:solidFill>
                <a:latin typeface="Calisto MT"/>
              </a:rPr>
              <a:t>Achieved 99.38% lab test accuracy and 96.67% physical driving success across 180 mobile trials in the laboratory.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Certified Collaborative Safety: </a:t>
            </a:r>
            <a:r>
              <a:rPr b="0" lang="en-US" sz="1200" spc="-1" strike="noStrike">
                <a:solidFill>
                  <a:srgbClr val="334155"/>
                </a:solidFill>
                <a:latin typeface="Calisto MT"/>
              </a:rPr>
              <a:t>132 ms total response time and 98 ms physical braking fully satisfy ISO 15066 safety standards for human-robot shared spaces.</a:t>
            </a:r>
            <a:endParaRPr b="0" lang="en-US" sz="1200" spc="-1" strike="noStrike">
              <a:solidFill>
                <a:srgbClr val="000000"/>
              </a:solidFill>
              <a:latin typeface="Arial"/>
            </a:endParaRPr>
          </a:p>
          <a:p>
            <a:pPr defTabSz="914400">
              <a:lnSpc>
                <a:spcPct val="114000"/>
              </a:lnSpc>
              <a:spcAft>
                <a:spcPts val="300"/>
              </a:spcAft>
            </a:pPr>
            <a:r>
              <a:rPr b="1" lang="en-US" sz="1200" spc="-1" strike="noStrike">
                <a:solidFill>
                  <a:srgbClr val="b8860b"/>
                </a:solidFill>
                <a:latin typeface="Calisto MT"/>
              </a:rPr>
              <a:t>TECHNICAL LIMITATIONS OF THE STUDY: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Single Indoor Environment: </a:t>
            </a:r>
            <a:r>
              <a:rPr b="0" lang="en-US" sz="1200" spc="-1" strike="noStrike">
                <a:solidFill>
                  <a:srgbClr val="334155"/>
                </a:solidFill>
                <a:latin typeface="Calisto MT"/>
              </a:rPr>
              <a:t>Evaluated in a single research lab; extreme direct sunlight washout and transparent glass partitions were not tested.</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Edge CPU Compute Headroom: </a:t>
            </a:r>
            <a:r>
              <a:rPr b="0" lang="en-US" sz="1200" spc="-1" strike="noStrike">
                <a:solidFill>
                  <a:srgbClr val="334155"/>
                </a:solidFill>
                <a:latin typeface="Calisto MT"/>
              </a:rPr>
              <a:t>Running continuous facial recognition alongside hand and person tracking saturated the 4-core CPU, requiring face ID to run offline.</a:t>
            </a:r>
            <a:endParaRPr b="0" lang="en-US" sz="1200" spc="-1" strike="noStrike">
              <a:solidFill>
                <a:srgbClr val="000000"/>
              </a:solidFill>
              <a:latin typeface="Arial"/>
            </a:endParaRPr>
          </a:p>
          <a:p>
            <a:pPr defTabSz="914400">
              <a:lnSpc>
                <a:spcPct val="113000"/>
              </a:lnSpc>
            </a:pPr>
            <a:r>
              <a:rPr b="1" lang="en-US" sz="1200" spc="-1" strike="noStrike">
                <a:solidFill>
                  <a:srgbClr val="002060"/>
                </a:solidFill>
                <a:latin typeface="Calisto MT"/>
              </a:rPr>
              <a:t>• </a:t>
            </a:r>
            <a:r>
              <a:rPr b="1" lang="en-US" sz="1200" spc="-1" strike="noStrike">
                <a:solidFill>
                  <a:srgbClr val="002060"/>
                </a:solidFill>
                <a:latin typeface="Calisto MT"/>
              </a:rPr>
              <a:t>Evaluation Cohort Size: </a:t>
            </a:r>
            <a:r>
              <a:rPr b="0" lang="en-US" sz="1200" spc="-1" strike="noStrike">
                <a:solidFill>
                  <a:srgbClr val="334155"/>
                </a:solidFill>
                <a:latin typeface="Calisto MT"/>
              </a:rPr>
              <a:t>Physical driving trials involved 3 participants across 180 runs; broader demographic testing across diverse hand shapes is recommended.</a:t>
            </a:r>
            <a:endParaRPr b="0" lang="en-US" sz="1200" spc="-1" strike="noStrike">
              <a:solidFill>
                <a:srgbClr val="000000"/>
              </a:solidFill>
              <a:latin typeface="Arial"/>
            </a:endParaRPr>
          </a:p>
        </p:txBody>
      </p:sp>
      <p:pic>
        <p:nvPicPr>
          <p:cNvPr id="122" name="Conclusion_Robot_Img" descr="image.jpg"/>
          <p:cNvPicPr/>
          <p:nvPr/>
        </p:nvPicPr>
        <p:blipFill>
          <a:blip r:embed="rId1"/>
          <a:stretch/>
        </p:blipFill>
        <p:spPr>
          <a:xfrm>
            <a:off x="6355080" y="1261800"/>
            <a:ext cx="2422080" cy="1873440"/>
          </a:xfrm>
          <a:prstGeom prst="rect">
            <a:avLst/>
          </a:prstGeom>
          <a:ln w="0">
            <a:noFill/>
          </a:ln>
        </p:spPr>
      </p:pic>
      <p:sp>
        <p:nvSpPr>
          <p:cNvPr id="123" name="Conclusion_Robot_Cap"/>
          <p:cNvSpPr/>
          <p:nvPr/>
        </p:nvSpPr>
        <p:spPr>
          <a:xfrm>
            <a:off x="6355080" y="3163680"/>
            <a:ext cx="242208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5.1: Fully Integrated Mobile Robot</a:t>
            </a:r>
            <a:endParaRPr b="0" lang="en-US" sz="1050" spc="-1" strike="noStrike">
              <a:solidFill>
                <a:srgbClr val="000000"/>
              </a:solidFill>
              <a:latin typeface="Arial"/>
            </a:endParaRPr>
          </a:p>
        </p:txBody>
      </p:sp>
      <p:sp>
        <p:nvSpPr>
          <p:cNvPr id="124" name="Conclusion_Milestones_Text"/>
          <p:cNvSpPr/>
          <p:nvPr/>
        </p:nvSpPr>
        <p:spPr>
          <a:xfrm>
            <a:off x="8961120" y="1261800"/>
            <a:ext cx="2422080" cy="2035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PROJECT IMPACT &amp; REACH:</a:t>
            </a:r>
            <a:endParaRPr b="0" lang="en-US" sz="12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Zero Cloud Dependency: </a:t>
            </a:r>
            <a:r>
              <a:rPr b="0" lang="en-US" sz="1100" spc="-1" strike="noStrike">
                <a:solidFill>
                  <a:srgbClr val="334155"/>
                </a:solidFill>
                <a:latin typeface="Calisto MT"/>
              </a:rPr>
              <a:t>Complete privacy, security, and offline field reliability</a:t>
            </a:r>
            <a:endParaRPr b="0" lang="en-US" sz="11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Low-Cost Platform: </a:t>
            </a:r>
            <a:r>
              <a:rPr b="0" lang="en-US" sz="1100" spc="-1" strike="noStrike">
                <a:solidFill>
                  <a:srgbClr val="334155"/>
                </a:solidFill>
                <a:latin typeface="Calisto MT"/>
              </a:rPr>
              <a:t>Accessible edge robotics under modest computing budgets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Industry Standards: </a:t>
            </a:r>
            <a:r>
              <a:rPr b="0" lang="en-US" sz="1100" spc="-1" strike="noStrike">
                <a:solidFill>
                  <a:srgbClr val="334155"/>
                </a:solidFill>
                <a:latin typeface="Calisto MT"/>
              </a:rPr>
              <a:t>100% compliant with ISO 15066 and ROS REP-103/105</a:t>
            </a:r>
            <a:endParaRPr b="0" lang="en-US" sz="1100" spc="-1" strike="noStrike">
              <a:solidFill>
                <a:srgbClr val="000000"/>
              </a:solidFill>
              <a:latin typeface="Arial"/>
            </a:endParaRPr>
          </a:p>
        </p:txBody>
      </p:sp>
      <p:sp>
        <p:nvSpPr>
          <p:cNvPr id="125" name="Conclusion_Demo_Text"/>
          <p:cNvSpPr/>
          <p:nvPr/>
        </p:nvSpPr>
        <p:spPr>
          <a:xfrm>
            <a:off x="6355080" y="3429000"/>
            <a:ext cx="5028120" cy="221688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RECOMMENDATIONS FOR FUTURE WORK:</a:t>
            </a:r>
            <a:endParaRPr b="0" lang="en-US" sz="12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Edge NPU Acceleration: </a:t>
            </a:r>
            <a:r>
              <a:rPr b="0" lang="en-US" sz="1100" spc="-1" strike="noStrike">
                <a:solidFill>
                  <a:srgbClr val="334155"/>
                </a:solidFill>
                <a:latin typeface="Calisto MT"/>
              </a:rPr>
              <a:t>Add an M.2 Neural Processing Unit (Hailo-8) to run face recognition, hand gestures, and body tracking concurrently at 30 FPS.</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Social Navigation Costmaps: </a:t>
            </a:r>
            <a:r>
              <a:rPr b="0" lang="en-US" sz="1100" spc="-1" strike="noStrike">
                <a:solidFill>
                  <a:srgbClr val="334155"/>
                </a:solidFill>
                <a:latin typeface="Calisto MT"/>
              </a:rPr>
              <a:t>Integrate human trajectory forecasts directly into Nav2 costmaps for proactive deceleration and smooth social yielding.</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High-Speed PCIe NVMe Storage: </a:t>
            </a:r>
            <a:r>
              <a:rPr b="0" lang="en-US" sz="1100" spc="-1" strike="noStrike">
                <a:solidFill>
                  <a:srgbClr val="334155"/>
                </a:solidFill>
                <a:latin typeface="Calisto MT"/>
              </a:rPr>
              <a:t>Equip the Pi 5 with an NVMe SSD to record full-rate video streams and sensor logs without SD card bottlenecks.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Multi-Sensor Redundancy: </a:t>
            </a:r>
            <a:r>
              <a:rPr b="0" lang="en-US" sz="1100" spc="-1" strike="noStrike">
                <a:solidFill>
                  <a:srgbClr val="334155"/>
                </a:solidFill>
                <a:latin typeface="Calisto MT"/>
              </a:rPr>
              <a:t>Add ultrasonic sonar or depth cameras to detect transparent glass walls and low obstacles below the 2D LiDAR plane.</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603360" y="320040"/>
            <a:ext cx="10972440" cy="54828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REFERENCES </a:t>
            </a:r>
            <a:endParaRPr b="0" lang="en-US" sz="2400" spc="-1" strike="noStrike">
              <a:solidFill>
                <a:srgbClr val="000000"/>
              </a:solidFill>
              <a:latin typeface="Arial"/>
            </a:endParaRPr>
          </a:p>
        </p:txBody>
      </p:sp>
      <p:sp>
        <p:nvSpPr>
          <p:cNvPr id="127" name="Ref_FullWidth_Box"/>
          <p:cNvSpPr/>
          <p:nvPr/>
        </p:nvSpPr>
        <p:spPr>
          <a:xfrm>
            <a:off x="777240" y="1234440"/>
            <a:ext cx="10634040" cy="4354920"/>
          </a:xfrm>
          <a:prstGeom prst="rect">
            <a:avLst/>
          </a:prstGeom>
          <a:noFill/>
          <a:ln w="0">
            <a:noFill/>
          </a:ln>
        </p:spPr>
        <p:style>
          <a:lnRef idx="0"/>
          <a:fillRef idx="0"/>
          <a:effectRef idx="0"/>
          <a:fontRef idx="minor"/>
        </p:style>
        <p:txBody>
          <a:bodyPr lIns="0" rIns="0" tIns="0" bIns="0" anchor="t">
            <a:spAutoFit/>
          </a:bodyPr>
          <a:p>
            <a:pPr>
              <a:lnSpc>
                <a:spcPct val="115000"/>
              </a:lnSpc>
              <a:spcAft>
                <a:spcPts val="799"/>
              </a:spcAft>
            </a:pPr>
            <a:r>
              <a:rPr b="1" lang="en-US" sz="1500" spc="-1" strike="noStrike">
                <a:solidFill>
                  <a:srgbClr val="b8860b"/>
                </a:solidFill>
                <a:latin typeface="Calisto MT"/>
              </a:rPr>
              <a:t>[1] </a:t>
            </a:r>
            <a:r>
              <a:rPr b="1" lang="en-US" sz="1500" spc="-1" strike="noStrike">
                <a:solidFill>
                  <a:srgbClr val="002060"/>
                </a:solidFill>
                <a:latin typeface="Calisto MT"/>
              </a:rPr>
              <a:t>A. Tsitos, M. Dagioglou, and T. Giannakopoulos, </a:t>
            </a:r>
            <a:r>
              <a:rPr b="0" i="1" lang="en-US" sz="1400" spc="-1" strike="noStrike">
                <a:solidFill>
                  <a:srgbClr val="1e293b"/>
                </a:solidFill>
                <a:latin typeface="Calisto MT"/>
              </a:rPr>
              <a:t>"Real-Time Feasibility of a Human Intention Method Evaluated Through a Competitive Human-Robot Reaching Game," </a:t>
            </a:r>
            <a:r>
              <a:rPr b="0" lang="en-US" sz="1300" spc="-1" strike="noStrike">
                <a:solidFill>
                  <a:srgbClr val="475569"/>
                </a:solidFill>
                <a:latin typeface="Calisto MT"/>
              </a:rPr>
              <a:t>IEEE Transactions on Human-Machine Systems, vol. 52, no. 5, pp. 912–922, Oct. 2022. DOI: 10.1109/THMS.2022.3179574.</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[2] </a:t>
            </a:r>
            <a:r>
              <a:rPr b="1" lang="en-US" sz="1500" spc="-1" strike="noStrike">
                <a:solidFill>
                  <a:srgbClr val="002060"/>
                </a:solidFill>
                <a:latin typeface="Calisto MT"/>
              </a:rPr>
              <a:t>J. A. Mahmud, </a:t>
            </a:r>
            <a:r>
              <a:rPr b="0" i="1" lang="en-US" sz="1400" spc="-1" strike="noStrike">
                <a:solidFill>
                  <a:srgbClr val="1e293b"/>
                </a:solidFill>
                <a:latin typeface="Calisto MT"/>
              </a:rPr>
              <a:t>"3D Gesture Recognition and Adaptation for Human–Robot Interaction," </a:t>
            </a:r>
            <a:r>
              <a:rPr b="0" lang="en-US" sz="1300" spc="-1" strike="noStrike">
                <a:solidFill>
                  <a:srgbClr val="475569"/>
                </a:solidFill>
                <a:latin typeface="Calisto MT"/>
              </a:rPr>
              <a:t>IEEE Robotics and Automation Letters, vol. 7, no. 2, pp. 4831–4838, Apr. 2022. DOI: 10.1109/LRA.2022.3151406.</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[3] </a:t>
            </a:r>
            <a:r>
              <a:rPr b="1" lang="en-US" sz="1500" spc="-1" strike="noStrike">
                <a:solidFill>
                  <a:srgbClr val="002060"/>
                </a:solidFill>
                <a:latin typeface="Calisto MT"/>
              </a:rPr>
              <a:t>Y. Li, H. Zhang, G. Yang, and S. Wang, </a:t>
            </a:r>
            <a:r>
              <a:rPr b="0" i="1" lang="en-US" sz="1400" spc="-1" strike="noStrike">
                <a:solidFill>
                  <a:srgbClr val="1e293b"/>
                </a:solidFill>
                <a:latin typeface="Calisto MT"/>
              </a:rPr>
              <a:t>"Safe and Efficient Motion Planning for Material Transportation Robots Considering Intention Prediction of Obstacles," </a:t>
            </a:r>
            <a:r>
              <a:rPr b="0" lang="en-US" sz="1300" spc="-1" strike="noStrike">
                <a:solidFill>
                  <a:srgbClr val="475569"/>
                </a:solidFill>
                <a:latin typeface="Calisto MT"/>
              </a:rPr>
              <a:t>IEEE Access, vol. 11, pp. 24819–24831, Mar. 2023. DOI: 10.1109/ACCESS.2023.3256031.</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[4] </a:t>
            </a:r>
            <a:r>
              <a:rPr b="1" lang="en-US" sz="1500" spc="-1" strike="noStrike">
                <a:solidFill>
                  <a:srgbClr val="002060"/>
                </a:solidFill>
                <a:latin typeface="Calisto MT"/>
              </a:rPr>
              <a:t>ISO/TS 15066:2016, </a:t>
            </a:r>
            <a:r>
              <a:rPr b="0" i="1" lang="en-US" sz="1400" spc="-1" strike="noStrike">
                <a:solidFill>
                  <a:srgbClr val="1e293b"/>
                </a:solidFill>
                <a:latin typeface="Calisto MT"/>
              </a:rPr>
              <a:t>"Robots and Robotic Devices — Collaborative Robots," </a:t>
            </a:r>
            <a:r>
              <a:rPr b="0" lang="en-US" sz="1300" spc="-1" strike="noStrike">
                <a:solidFill>
                  <a:srgbClr val="475569"/>
                </a:solidFill>
                <a:latin typeface="Calisto MT"/>
              </a:rPr>
              <a:t>International Organization for Standardization (ISO), Technical Specification, Geneva, Switzerland, 2016.</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[5] </a:t>
            </a:r>
            <a:r>
              <a:rPr b="1" lang="en-US" sz="1500" spc="-1" strike="noStrike">
                <a:solidFill>
                  <a:srgbClr val="002060"/>
                </a:solidFill>
                <a:latin typeface="Calisto MT"/>
              </a:rPr>
              <a:t>S. Macenski, T. Foote, B. Gerkey, C. Lalancette, and W. Woodall, </a:t>
            </a:r>
            <a:r>
              <a:rPr b="0" i="1" lang="en-US" sz="1400" spc="-1" strike="noStrike">
                <a:solidFill>
                  <a:srgbClr val="1e293b"/>
                </a:solidFill>
                <a:latin typeface="Calisto MT"/>
              </a:rPr>
              <a:t>"Robot Operating System 2: Design, Architecture, and Uses in the Wild," </a:t>
            </a:r>
            <a:r>
              <a:rPr b="0" lang="en-US" sz="1300" spc="-1" strike="noStrike">
                <a:solidFill>
                  <a:srgbClr val="475569"/>
                </a:solidFill>
                <a:latin typeface="Calisto MT"/>
              </a:rPr>
              <a:t>Science Robotics, vol. 7, no. 66, Art. no. eabm6074, May 2022. DOI: 10.1126/scirobotics.abm6074.</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[6] </a:t>
            </a:r>
            <a:r>
              <a:rPr b="1" lang="en-US" sz="1500" spc="-1" strike="noStrike">
                <a:solidFill>
                  <a:srgbClr val="002060"/>
                </a:solidFill>
                <a:latin typeface="Calisto MT"/>
              </a:rPr>
              <a:t>F. Zhang, V. Bazarevsky, A. Vakunov, A. Tkachenka, G. Sung, C. L. Chang, and M. Grundmann, </a:t>
            </a:r>
            <a:r>
              <a:rPr b="0" i="1" lang="en-US" sz="1400" spc="-1" strike="noStrike">
                <a:solidFill>
                  <a:srgbClr val="1e293b"/>
                </a:solidFill>
                <a:latin typeface="Calisto MT"/>
              </a:rPr>
              <a:t>"MediaPipe Hands: On-Device Real-Time Hand Tracking," </a:t>
            </a:r>
            <a:r>
              <a:rPr b="0" lang="en-US" sz="1300" spc="-1" strike="noStrike">
                <a:solidFill>
                  <a:srgbClr val="475569"/>
                </a:solidFill>
                <a:latin typeface="Calisto MT"/>
              </a:rPr>
              <a:t>arXiv preprint arXiv:2006.10214, presented at CVPR Workshop on Computer Vision for AR/VR, 2020.</a:t>
            </a:r>
            <a:endParaRPr b="0" lang="en-US" sz="1300" spc="-1" strike="noStrike">
              <a:solidFill>
                <a:srgbClr val="000000"/>
              </a:solidFill>
              <a:latin typeface="Arial"/>
            </a:endParaRPr>
          </a:p>
          <a:p>
            <a:pPr>
              <a:lnSpc>
                <a:spcPct val="115000"/>
              </a:lnSpc>
              <a:spcAft>
                <a:spcPts val="799"/>
              </a:spcAft>
            </a:pPr>
            <a:r>
              <a:rPr b="1" lang="en-US" sz="1500" spc="-1" strike="noStrike">
                <a:solidFill>
                  <a:srgbClr val="b8860b"/>
                </a:solidFill>
                <a:latin typeface="Calisto MT"/>
              </a:rPr>
              <a:t>[7] </a:t>
            </a:r>
            <a:r>
              <a:rPr b="1" lang="en-US" sz="1500" spc="-1" strike="noStrike">
                <a:solidFill>
                  <a:srgbClr val="002060"/>
                </a:solidFill>
                <a:latin typeface="Calisto MT"/>
              </a:rPr>
              <a:t>S. Macenski, I. Jambrecic, A. Filippov, and C. Stiffler, </a:t>
            </a:r>
            <a:r>
              <a:rPr b="0" i="1" lang="en-US" sz="1400" spc="-1" strike="noStrike">
                <a:solidFill>
                  <a:srgbClr val="1e293b"/>
                </a:solidFill>
                <a:latin typeface="Calisto MT"/>
              </a:rPr>
              <a:t>"From the Ground Up: Building an Intelligent Mobile Robot with Nav2," </a:t>
            </a:r>
            <a:r>
              <a:rPr b="0" lang="en-US" sz="1300" spc="-1" strike="noStrike">
                <a:solidFill>
                  <a:srgbClr val="475569"/>
                </a:solidFill>
                <a:latin typeface="Calisto MT"/>
              </a:rPr>
              <a:t>IEEE Robotics &amp; Automation Magazine, vol. 30, no. 4, pp. 88–98, Dec. 2023. DOI: 10.1109/MRA.2023.3323060.</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275</TotalTime>
  <Application>LibreOffice/24.2.7.2$Linux_X86_64 LibreOffice_project/420$Build-2</Application>
  <AppVersion>15.0000</AppVersion>
  <Words>9</Words>
  <Paragraphs>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2020-12-21T23:45:00Z</dcterms:created>
  <dc:creator>K</dc:creator>
  <dc:description/>
  <dc:language>en-US</dc:language>
  <cp:lastModifiedBy/>
  <dcterms:modified xsi:type="dcterms:W3CDTF">2026-09-16T13:08:05Z</dcterms:modified>
  <cp:revision>230</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y fmtid="{D5CDD505-2E9C-101B-9397-08002B2CF9AE}" pid="4" name="Notes">
    <vt:i4>1</vt:i4>
  </property>
  <property fmtid="{D5CDD505-2E9C-101B-9397-08002B2CF9AE}" pid="5" name="PresentationFormat">
    <vt:lpwstr>Widescreen</vt:lpwstr>
  </property>
  <property fmtid="{D5CDD505-2E9C-101B-9397-08002B2CF9AE}" pid="6" name="Slides">
    <vt:i4>5</vt:i4>
  </property>
</Properties>
</file>