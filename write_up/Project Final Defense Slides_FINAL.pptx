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65760"/>
            <a:ext cx="10515600" cy="685800"/>
          </a:xfrm>
        </p:spPr>
        <p:txBody>
          <a:bodyPr/>
          <a:lstStyle/>
          <a:p>
            <a:pPr algn="ctr">
              <a:lnSpc>
                <a:spcPct val="115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Bench_Label"/>
          <p:cNvSpPr txBox="1"/>
          <p:nvPr/>
        </p:nvSpPr>
        <p:spPr>
          <a:xfrm>
            <a:off x="914400" y="1097280"/>
            <a:ext cx="4114800" cy="256032"/>
          </a:xfrm>
          <a:prstGeom prst="rect">
            <a:avLst/>
          </a:prstGeom>
          <a:noFill/>
        </p:spPr>
        <p:txBody>
          <a:bodyPr wrap="square" lIns="0" rIns="0" tIns="0" bIns="0">
            <a:spAutoFit/>
          </a:bodyPr>
          <a:lstStyle/>
          <a:p>
            <a:pPr algn="l">
              <a:lnSpc>
                <a:spcPct val="115000"/>
              </a:lnSpc>
              <a:spcBef>
                <a:spcPts val="0"/>
              </a:spcBef>
              <a:spcAft>
                <a:spcPts val="200"/>
              </a:spcAft>
              <a:defRPr sz="1200" b="1" i="0">
                <a:solidFill>
                  <a:srgbClr val="B8860B"/>
                </a:solidFill>
                <a:latin typeface="Calisto MT"/>
              </a:defRPr>
            </a:pPr>
            <a:r>
              <a:t>BENCHMARK LITERATURE EVALUATION</a:t>
            </a:r>
          </a:p>
        </p:txBody>
      </p:sp>
      <p:sp>
        <p:nvSpPr>
          <p:cNvPr id="5" name="Lit_Study_0"/>
          <p:cNvSpPr txBox="1"/>
          <p:nvPr/>
        </p:nvSpPr>
        <p:spPr>
          <a:xfrm>
            <a:off x="914400" y="1371600"/>
            <a:ext cx="3227832" cy="169164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Tsitos et al. (2022)</a:t>
            </a:r>
          </a:p>
          <a:p>
            <a:pPr algn="l">
              <a:lnSpc>
                <a:spcPct val="115000"/>
              </a:lnSpc>
              <a:spcBef>
                <a:spcPts val="0"/>
              </a:spcBef>
              <a:spcAft>
                <a:spcPts val="400"/>
              </a:spcAft>
              <a:defRPr sz="1100" b="0" i="1">
                <a:solidFill>
                  <a:srgbClr val="64748B"/>
                </a:solidFill>
                <a:latin typeface="Calisto MT"/>
              </a:defRPr>
            </a:pPr>
            <a:r>
              <a:t>Kinematic Intention on Robotic Arm</a:t>
            </a:r>
          </a:p>
          <a:p>
            <a:pPr algn="l">
              <a:lnSpc>
                <a:spcPct val="112000"/>
              </a:lnSpc>
              <a:spcBef>
                <a:spcPts val="0"/>
              </a:spcBef>
              <a:spcAft>
                <a:spcPts val="300"/>
              </a:spcAft>
              <a:defRPr sz="1100" b="0" i="0">
                <a:solidFill>
                  <a:srgbClr val="15803D"/>
                </a:solidFill>
                <a:latin typeface="Calisto MT"/>
              </a:defRPr>
            </a:pPr>
            <a:r>
              <a:t>[+] Proved sub-150 ms latency threshold on industrial UR3 manipulator.</a:t>
            </a:r>
          </a:p>
          <a:p>
            <a:pPr algn="l">
              <a:lnSpc>
                <a:spcPct val="112000"/>
              </a:lnSpc>
              <a:spcBef>
                <a:spcPts val="0"/>
              </a:spcBef>
              <a:spcAft>
                <a:spcPts val="0"/>
              </a:spcAft>
              <a:defRPr sz="1100" b="0" i="0">
                <a:solidFill>
                  <a:srgbClr val="B91C1C"/>
                </a:solidFill>
                <a:latin typeface="Calisto MT"/>
              </a:defRPr>
            </a:pPr>
            <a:r>
              <a:t>[-] Confined to stationary tabletop; zero mobile navigation or explicit gestures.</a:t>
            </a:r>
          </a:p>
        </p:txBody>
      </p:sp>
      <p:sp>
        <p:nvSpPr>
          <p:cNvPr id="6" name="Lit_Study_1"/>
          <p:cNvSpPr txBox="1"/>
          <p:nvPr/>
        </p:nvSpPr>
        <p:spPr>
          <a:xfrm>
            <a:off x="4480560" y="1371600"/>
            <a:ext cx="3227832" cy="169164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Mahmud et al. (2023)</a:t>
            </a:r>
          </a:p>
          <a:p>
            <a:pPr algn="l">
              <a:lnSpc>
                <a:spcPct val="115000"/>
              </a:lnSpc>
              <a:spcBef>
                <a:spcPts val="0"/>
              </a:spcBef>
              <a:spcAft>
                <a:spcPts val="400"/>
              </a:spcAft>
              <a:defRPr sz="1100" b="0" i="1">
                <a:solidFill>
                  <a:srgbClr val="64748B"/>
                </a:solidFill>
                <a:latin typeface="Calisto MT"/>
              </a:defRPr>
            </a:pPr>
            <a:r>
              <a:t>3D Skeletal Tracking &amp; Gesture AI</a:t>
            </a:r>
          </a:p>
          <a:p>
            <a:pPr algn="l">
              <a:lnSpc>
                <a:spcPct val="112000"/>
              </a:lnSpc>
              <a:spcBef>
                <a:spcPts val="0"/>
              </a:spcBef>
              <a:spcAft>
                <a:spcPts val="300"/>
              </a:spcAft>
              <a:defRPr sz="1100" b="0" i="0">
                <a:solidFill>
                  <a:srgbClr val="15803D"/>
                </a:solidFill>
                <a:latin typeface="Calisto MT"/>
              </a:defRPr>
            </a:pPr>
            <a:r>
              <a:t>[+] High multi-gesture classification accuracy using deep vision models.</a:t>
            </a:r>
          </a:p>
          <a:p>
            <a:pPr algn="l">
              <a:lnSpc>
                <a:spcPct val="112000"/>
              </a:lnSpc>
              <a:spcBef>
                <a:spcPts val="0"/>
              </a:spcBef>
              <a:spcAft>
                <a:spcPts val="0"/>
              </a:spcAft>
              <a:defRPr sz="1100" b="0" i="0">
                <a:solidFill>
                  <a:srgbClr val="B91C1C"/>
                </a:solidFill>
                <a:latin typeface="Calisto MT"/>
              </a:defRPr>
            </a:pPr>
            <a:r>
              <a:t>[-] Relies on heavy GPU / cloud servers; vulnerable to network lag &amp; dropouts.</a:t>
            </a:r>
          </a:p>
        </p:txBody>
      </p:sp>
      <p:sp>
        <p:nvSpPr>
          <p:cNvPr id="7" name="Lit_Study_2"/>
          <p:cNvSpPr txBox="1"/>
          <p:nvPr/>
        </p:nvSpPr>
        <p:spPr>
          <a:xfrm>
            <a:off x="8046720" y="1371600"/>
            <a:ext cx="3227832" cy="1691640"/>
          </a:xfrm>
          <a:prstGeom prst="rect">
            <a:avLst/>
          </a:prstGeom>
          <a:noFill/>
        </p:spPr>
        <p:txBody>
          <a:bodyPr wrap="square" lIns="36576" rIns="36576" tIns="36576" bIns="36576">
            <a:spAutoFit/>
          </a:bodyPr>
          <a:lstStyle/>
          <a:p>
            <a:pPr algn="l">
              <a:lnSpc>
                <a:spcPct val="115000"/>
              </a:lnSpc>
              <a:spcBef>
                <a:spcPts val="0"/>
              </a:spcBef>
              <a:spcAft>
                <a:spcPts val="100"/>
              </a:spcAft>
              <a:defRPr sz="1400" b="1" i="0">
                <a:solidFill>
                  <a:srgbClr val="002060"/>
                </a:solidFill>
                <a:latin typeface="Calisto MT"/>
              </a:defRPr>
            </a:pPr>
            <a:r>
              <a:t>Li et al. (2024)</a:t>
            </a:r>
          </a:p>
          <a:p>
            <a:pPr algn="l">
              <a:lnSpc>
                <a:spcPct val="115000"/>
              </a:lnSpc>
              <a:spcBef>
                <a:spcPts val="0"/>
              </a:spcBef>
              <a:spcAft>
                <a:spcPts val="400"/>
              </a:spcAft>
              <a:defRPr sz="1100" b="0" i="1">
                <a:solidFill>
                  <a:srgbClr val="64748B"/>
                </a:solidFill>
                <a:latin typeface="Calisto MT"/>
              </a:defRPr>
            </a:pPr>
            <a:r>
              <a:t>Predictive Costmaps &amp; ROS 2 Nav2</a:t>
            </a:r>
          </a:p>
          <a:p>
            <a:pPr algn="l">
              <a:lnSpc>
                <a:spcPct val="112000"/>
              </a:lnSpc>
              <a:spcBef>
                <a:spcPts val="0"/>
              </a:spcBef>
              <a:spcAft>
                <a:spcPts val="300"/>
              </a:spcAft>
              <a:defRPr sz="1100" b="0" i="0">
                <a:solidFill>
                  <a:srgbClr val="15803D"/>
                </a:solidFill>
                <a:latin typeface="Calisto MT"/>
              </a:defRPr>
            </a:pPr>
            <a:r>
              <a:t>[+] Adapted ROS 2 costmaps dynamically based on obstacle movement.</a:t>
            </a:r>
          </a:p>
          <a:p>
            <a:pPr algn="l">
              <a:lnSpc>
                <a:spcPct val="112000"/>
              </a:lnSpc>
              <a:spcBef>
                <a:spcPts val="0"/>
              </a:spcBef>
              <a:spcAft>
                <a:spcPts val="0"/>
              </a:spcAft>
              <a:defRPr sz="1100" b="0" i="0">
                <a:solidFill>
                  <a:srgbClr val="B91C1C"/>
                </a:solidFill>
                <a:latin typeface="Calisto MT"/>
              </a:defRPr>
            </a:pPr>
            <a:r>
              <a:t>[-] Simulation-only (Isaac Sim); unverified on physical embedded edge hardware.</a:t>
            </a:r>
          </a:p>
        </p:txBody>
      </p:sp>
      <p:cxnSp>
        <p:nvCxnSpPr>
          <p:cNvPr id="8" name="Lit_Divider_Line"/>
          <p:cNvCxnSpPr/>
          <p:nvPr/>
        </p:nvCxnSpPr>
        <p:spPr>
          <a:xfrm>
            <a:off x="914400" y="3246120"/>
            <a:ext cx="103601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9" name="Lit_Gap_Label"/>
          <p:cNvSpPr txBox="1"/>
          <p:nvPr/>
        </p:nvSpPr>
        <p:spPr>
          <a:xfrm>
            <a:off x="914400" y="3429000"/>
            <a:ext cx="5029200" cy="256032"/>
          </a:xfrm>
          <a:prstGeom prst="rect">
            <a:avLst/>
          </a:prstGeom>
          <a:noFill/>
        </p:spPr>
        <p:txBody>
          <a:bodyPr wrap="square" lIns="0" rIns="0" tIns="0" bIns="0">
            <a:spAutoFit/>
          </a:bodyPr>
          <a:lstStyle/>
          <a:p>
            <a:pPr algn="l">
              <a:lnSpc>
                <a:spcPct val="115000"/>
              </a:lnSpc>
              <a:spcBef>
                <a:spcPts val="0"/>
              </a:spcBef>
              <a:spcAft>
                <a:spcPts val="200"/>
              </a:spcAft>
              <a:defRPr sz="1200" b="1" i="0">
                <a:solidFill>
                  <a:srgbClr val="B8860B"/>
                </a:solidFill>
                <a:latin typeface="Calisto MT"/>
              </a:defRPr>
            </a:pPr>
            <a:r>
              <a:t>CRITICAL RESEARCH GAPS RESOLVED IN THIS WORK</a:t>
            </a:r>
          </a:p>
        </p:txBody>
      </p:sp>
      <p:sp>
        <p:nvSpPr>
          <p:cNvPr id="10" name="Lit_Gap_0"/>
          <p:cNvSpPr txBox="1"/>
          <p:nvPr/>
        </p:nvSpPr>
        <p:spPr>
          <a:xfrm>
            <a:off x="91440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01.  Edge-Native Processing</a:t>
            </a:r>
          </a:p>
          <a:p>
            <a:pPr algn="l">
              <a:lnSpc>
                <a:spcPct val="115000"/>
              </a:lnSpc>
              <a:spcBef>
                <a:spcPts val="0"/>
              </a:spcBef>
              <a:spcAft>
                <a:spcPts val="200"/>
              </a:spcAft>
              <a:defRPr sz="1150" b="0" i="0">
                <a:solidFill>
                  <a:srgbClr val="334155"/>
                </a:solidFill>
                <a:latin typeface="Calisto MT"/>
              </a:defRPr>
            </a:pPr>
            <a:r>
              <a:t>Eliminates remote cloud latency (&gt;200 ms) and connection dropouts by executing the entire vision pipeline onboard an embedded Raspberry Pi 5.</a:t>
            </a:r>
          </a:p>
        </p:txBody>
      </p:sp>
      <p:sp>
        <p:nvSpPr>
          <p:cNvPr id="11" name="Lit_Gap_1"/>
          <p:cNvSpPr txBox="1"/>
          <p:nvPr/>
        </p:nvSpPr>
        <p:spPr>
          <a:xfrm>
            <a:off x="448056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02.  Perception-Action Coupling</a:t>
            </a:r>
          </a:p>
          <a:p>
            <a:pPr algn="l">
              <a:lnSpc>
                <a:spcPct val="115000"/>
              </a:lnSpc>
              <a:spcBef>
                <a:spcPts val="0"/>
              </a:spcBef>
              <a:spcAft>
                <a:spcPts val="200"/>
              </a:spcAft>
              <a:defRPr sz="1150" b="0" i="0">
                <a:solidFill>
                  <a:srgbClr val="334155"/>
                </a:solidFill>
                <a:latin typeface="Calisto MT"/>
              </a:defRPr>
            </a:pPr>
            <a:r>
              <a:t>Bridges isolated vision AI to real-time wheel actuation via ROS 2 DDS middleware, active visual servoing, and a 5-frame rolling consensus FSM.</a:t>
            </a:r>
          </a:p>
        </p:txBody>
      </p:sp>
      <p:sp>
        <p:nvSpPr>
          <p:cNvPr id="12" name="Lit_Gap_2"/>
          <p:cNvSpPr txBox="1"/>
          <p:nvPr/>
        </p:nvSpPr>
        <p:spPr>
          <a:xfrm>
            <a:off x="8046720" y="3730752"/>
            <a:ext cx="3227832" cy="1783080"/>
          </a:xfrm>
          <a:prstGeom prst="rect">
            <a:avLst/>
          </a:prstGeom>
          <a:noFill/>
        </p:spPr>
        <p:txBody>
          <a:bodyPr wrap="square" lIns="36576" rIns="36576" tIns="36576" bIns="36576">
            <a:spAutoFit/>
          </a:bodyPr>
          <a:lstStyle/>
          <a:p>
            <a:pPr algn="l">
              <a:spcAft>
                <a:spcPts val="300"/>
              </a:spcAft>
              <a:defRPr sz="1350" b="1">
                <a:solidFill>
                  <a:srgbClr val="002060"/>
                </a:solidFill>
                <a:latin typeface="Calisto MT"/>
              </a:defRPr>
            </a:pPr>
            <a:r>
              <a:t>03.  Dual-Modality HRI &amp; Safety</a:t>
            </a:r>
          </a:p>
          <a:p>
            <a:pPr algn="l">
              <a:lnSpc>
                <a:spcPct val="115000"/>
              </a:lnSpc>
              <a:spcBef>
                <a:spcPts val="0"/>
              </a:spcBef>
              <a:spcAft>
                <a:spcPts val="200"/>
              </a:spcAft>
              <a:defRPr sz="1150" b="0" i="0">
                <a:solidFill>
                  <a:srgbClr val="334155"/>
                </a:solidFill>
                <a:latin typeface="Calisto MT"/>
              </a:defRPr>
            </a:pPr>
            <a:r>
              <a:t>Unifies discrete hand gestures with continuous LSTM trajectory prediction and 2D LiDAR SLAM, strictly complying with ISO 15066 safety stopping margins.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